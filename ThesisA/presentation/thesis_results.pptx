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DRHE (predict from m−L)</c:v>
                </c:pt>
              </c:strCache>
            </c:strRef>
          </c:tx>
          <c:spPr>
            <a:solidFill>
              <a:srgbClr val="007FA3"/>
            </a:solidFill>
            <a:ln w="25400" cap="flat">
              <a:solidFill>
                <a:srgbClr val="007F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7FA3"/>
              </a:solidFill>
              <a:ln w="9525" cap="flat">
                <a:solidFill>
                  <a:srgbClr val="007FA3"/>
                </a:solidFill>
                <a:prstDash val="solid"/>
                <a:round/>
              </a:ln>
              <a:effectLst/>
            </c:spPr>
          </c:marker>
          <c:cat>
            <c:multiLvlStrRef>
              <c:f>Sheet1!$A$2:$A$37</c:f>
              <c:multiLvlStrCache>
                <c:ptCount val="36"/>
                <c:lvl>
                  <c:pt idx="0">
                    <c:v>1</c:v>
                  </c:pt>
                  <c:pt idx="1">
                    <c:v> </c:v>
                  </c:pt>
                  <c:pt idx="2">
                    <c:v> </c:v>
                  </c:pt>
                  <c:pt idx="3">
                    <c:v> </c:v>
                  </c:pt>
                  <c:pt idx="4">
                    <c:v> </c:v>
                  </c:pt>
                  <c:pt idx="5">
                    <c:v>6</c:v>
                  </c:pt>
                  <c:pt idx="6">
                    <c:v> </c:v>
                  </c:pt>
                  <c:pt idx="7">
                    <c:v> </c:v>
                  </c:pt>
                  <c:pt idx="8">
                    <c:v> </c:v>
                  </c:pt>
                  <c:pt idx="9">
                    <c:v> </c:v>
                  </c:pt>
                  <c:pt idx="10">
                    <c:v> </c:v>
                  </c:pt>
                  <c:pt idx="11">
                    <c:v>12</c:v>
                  </c:pt>
                  <c:pt idx="12">
                    <c:v> </c:v>
                  </c:pt>
                  <c:pt idx="13">
                    <c:v> </c:v>
                  </c:pt>
                  <c:pt idx="14">
                    <c:v> </c:v>
                  </c:pt>
                  <c:pt idx="15">
                    <c:v> </c:v>
                  </c:pt>
                  <c:pt idx="16">
                    <c:v> </c:v>
                  </c:pt>
                  <c:pt idx="17">
                    <c:v>18</c:v>
                  </c:pt>
                  <c:pt idx="18">
                    <c:v> </c:v>
                  </c:pt>
                  <c:pt idx="19">
                    <c:v> </c:v>
                  </c:pt>
                  <c:pt idx="20">
                    <c:v> </c:v>
                  </c:pt>
                  <c:pt idx="21">
                    <c:v> </c:v>
                  </c:pt>
                  <c:pt idx="22">
                    <c:v> </c:v>
                  </c:pt>
                  <c:pt idx="23">
                    <c:v>24</c:v>
                  </c:pt>
                  <c:pt idx="24">
                    <c:v> </c:v>
                  </c:pt>
                  <c:pt idx="25">
                    <c:v> </c:v>
                  </c:pt>
                  <c:pt idx="26">
                    <c:v> </c:v>
                  </c:pt>
                  <c:pt idx="27">
                    <c:v> </c:v>
                  </c:pt>
                  <c:pt idx="28">
                    <c:v> </c:v>
                  </c:pt>
                  <c:pt idx="29">
                    <c:v>30</c:v>
                  </c:pt>
                  <c:pt idx="30">
                    <c:v> </c:v>
                  </c:pt>
                  <c:pt idx="31">
                    <c:v> </c:v>
                  </c:pt>
                  <c:pt idx="32">
                    <c:v> </c:v>
                  </c:pt>
                  <c:pt idx="33">
                    <c:v> </c:v>
                  </c:pt>
                  <c:pt idx="34">
                    <c:v> </c:v>
                  </c:pt>
                  <c:pt idx="35">
                    <c:v>36</c:v>
                  </c:pt>
                </c:lvl>
              </c:multiLvlStrCache>
            </c:multiLvlStrRef>
          </c:cat>
          <c:val>
            <c:numRef>
              <c:f>Sheet1!$B$2:$B$37</c:f>
              <c:numCache>
                <c:formatCode>General</c:formatCode>
                <c:ptCount val="36"/>
                <c:pt idx="0">
                  <c:v>3.3098671156017274</c:v>
                </c:pt>
                <c:pt idx="1">
                  <c:v>3.2783009468919495</c:v>
                </c:pt>
                <c:pt idx="2">
                  <c:v>3.271648093712303</c:v>
                </c:pt>
                <c:pt idx="3">
                  <c:v>3.287760439792389</c:v>
                </c:pt>
                <c:pt idx="4">
                  <c:v>3.273980055342287</c:v>
                </c:pt>
                <c:pt idx="5">
                  <c:v>3.3225827356853506</c:v>
                </c:pt>
                <c:pt idx="6">
                  <c:v>3.281894590512373</c:v>
                </c:pt>
                <c:pt idx="7">
                  <c:v>3.2966252311121593</c:v>
                </c:pt>
                <c:pt idx="8">
                  <c:v>3.287165385337906</c:v>
                </c:pt>
                <c:pt idx="9">
                  <c:v>3.2981600153786967</c:v>
                </c:pt>
                <c:pt idx="10">
                  <c:v>3.334293292934803</c:v>
                </c:pt>
                <c:pt idx="11">
                  <c:v>3.750816271509043</c:v>
                </c:pt>
                <c:pt idx="12">
                  <c:v>3.3458843835929857</c:v>
                </c:pt>
                <c:pt idx="13">
                  <c:v>3.315173213976467</c:v>
                </c:pt>
                <c:pt idx="14">
                  <c:v>3.3089705046139484</c:v>
                </c:pt>
                <c:pt idx="15">
                  <c:v>3.320843498438498</c:v>
                </c:pt>
                <c:pt idx="16">
                  <c:v>3.313262257753808</c:v>
                </c:pt>
                <c:pt idx="17">
                  <c:v>3.348353643168012</c:v>
                </c:pt>
                <c:pt idx="18">
                  <c:v>3.31954353301841</c:v>
                </c:pt>
                <c:pt idx="19">
                  <c:v>3.3296227959131697</c:v>
                </c:pt>
                <c:pt idx="20">
                  <c:v>3.3231960281875303</c:v>
                </c:pt>
                <c:pt idx="21">
                  <c:v>3.3354733674613426</c:v>
                </c:pt>
                <c:pt idx="22">
                  <c:v>3.3681336508041277</c:v>
                </c:pt>
                <c:pt idx="23">
                  <c:v>3.6332868685648196</c:v>
                </c:pt>
                <c:pt idx="24">
                  <c:v>3.38058027583631</c:v>
                </c:pt>
                <c:pt idx="25">
                  <c:v>3.3508404531413123</c:v>
                </c:pt>
                <c:pt idx="26">
                  <c:v>3.34429029726321</c:v>
                </c:pt>
                <c:pt idx="27">
                  <c:v>3.3525155054011613</c:v>
                </c:pt>
                <c:pt idx="28">
                  <c:v>3.3495879947080716</c:v>
                </c:pt>
                <c:pt idx="29">
                  <c:v>3.3741941323533196</c:v>
                </c:pt>
                <c:pt idx="30">
                  <c:v>3.3540262491474975</c:v>
                </c:pt>
                <c:pt idx="31">
                  <c:v>3.36094455297094</c:v>
                </c:pt>
                <c:pt idx="32">
                  <c:v>3.3562143511051943</c:v>
                </c:pt>
                <c:pt idx="33">
                  <c:v>3.3670170836867106</c:v>
                </c:pt>
                <c:pt idx="34">
                  <c:v>3.396853354576258</c:v>
                </c:pt>
                <c:pt idx="35">
                  <c:v>3.569508275613499</c:v>
                </c:pt>
              </c:numCache>
            </c:numRef>
          </c:val>
          <c:smooth val="0"/>
        </c:ser>
        <c:ser>
          <c:idx val="1"/>
          <c:order val="1"/>
          <c:tx>
            <c:strRef>
              <c:f>Sheet1!$C$1</c:f>
              <c:strCache>
                <c:ptCount val="1"/>
                <c:pt idx="0">
                  <c:v>LPC (predict from m−L, m−2L)</c:v>
                </c:pt>
              </c:strCache>
            </c:strRef>
          </c:tx>
          <c:spPr>
            <a:solidFill>
              <a:srgbClr val="C96A12"/>
            </a:solidFill>
            <a:ln w="25400" cap="flat">
              <a:solidFill>
                <a:srgbClr val="C96A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96A12"/>
              </a:solidFill>
              <a:ln w="9525" cap="flat">
                <a:solidFill>
                  <a:srgbClr val="C96A12"/>
                </a:solidFill>
                <a:prstDash val="solid"/>
                <a:round/>
              </a:ln>
              <a:effectLst/>
            </c:spPr>
          </c:marker>
          <c:cat>
            <c:multiLvlStrRef>
              <c:f>Sheet1!$A$2:$A$37</c:f>
              <c:multiLvlStrCache>
                <c:ptCount val="36"/>
                <c:lvl>
                  <c:pt idx="0">
                    <c:v>1</c:v>
                  </c:pt>
                  <c:pt idx="1">
                    <c:v> </c:v>
                  </c:pt>
                  <c:pt idx="2">
                    <c:v> </c:v>
                  </c:pt>
                  <c:pt idx="3">
                    <c:v> </c:v>
                  </c:pt>
                  <c:pt idx="4">
                    <c:v> </c:v>
                  </c:pt>
                  <c:pt idx="5">
                    <c:v>6</c:v>
                  </c:pt>
                  <c:pt idx="6">
                    <c:v> </c:v>
                  </c:pt>
                  <c:pt idx="7">
                    <c:v> </c:v>
                  </c:pt>
                  <c:pt idx="8">
                    <c:v> </c:v>
                  </c:pt>
                  <c:pt idx="9">
                    <c:v> </c:v>
                  </c:pt>
                  <c:pt idx="10">
                    <c:v> </c:v>
                  </c:pt>
                  <c:pt idx="11">
                    <c:v>12</c:v>
                  </c:pt>
                  <c:pt idx="12">
                    <c:v> </c:v>
                  </c:pt>
                  <c:pt idx="13">
                    <c:v> </c:v>
                  </c:pt>
                  <c:pt idx="14">
                    <c:v> </c:v>
                  </c:pt>
                  <c:pt idx="15">
                    <c:v> </c:v>
                  </c:pt>
                  <c:pt idx="16">
                    <c:v> </c:v>
                  </c:pt>
                  <c:pt idx="17">
                    <c:v>18</c:v>
                  </c:pt>
                  <c:pt idx="18">
                    <c:v> </c:v>
                  </c:pt>
                  <c:pt idx="19">
                    <c:v> </c:v>
                  </c:pt>
                  <c:pt idx="20">
                    <c:v> </c:v>
                  </c:pt>
                  <c:pt idx="21">
                    <c:v> </c:v>
                  </c:pt>
                  <c:pt idx="22">
                    <c:v> </c:v>
                  </c:pt>
                  <c:pt idx="23">
                    <c:v>24</c:v>
                  </c:pt>
                  <c:pt idx="24">
                    <c:v> </c:v>
                  </c:pt>
                  <c:pt idx="25">
                    <c:v> </c:v>
                  </c:pt>
                  <c:pt idx="26">
                    <c:v> </c:v>
                  </c:pt>
                  <c:pt idx="27">
                    <c:v> </c:v>
                  </c:pt>
                  <c:pt idx="28">
                    <c:v> </c:v>
                  </c:pt>
                  <c:pt idx="29">
                    <c:v>30</c:v>
                  </c:pt>
                  <c:pt idx="30">
                    <c:v> </c:v>
                  </c:pt>
                  <c:pt idx="31">
                    <c:v> </c:v>
                  </c:pt>
                  <c:pt idx="32">
                    <c:v> </c:v>
                  </c:pt>
                  <c:pt idx="33">
                    <c:v> </c:v>
                  </c:pt>
                  <c:pt idx="34">
                    <c:v> </c:v>
                  </c:pt>
                  <c:pt idx="35">
                    <c:v>36</c:v>
                  </c:pt>
                </c:lvl>
              </c:multiLvlStrCache>
            </c:multiLvlStrRef>
          </c:cat>
          <c:val>
            <c:numRef>
              <c:f>Sheet1!$C$2:$C$37</c:f>
              <c:numCache>
                <c:formatCode>General</c:formatCode>
                <c:ptCount val="36"/>
                <c:pt idx="0">
                  <c:v>3.384973780709478</c:v>
                </c:pt>
                <c:pt idx="1">
                  <c:v>3.3766017486471696</c:v>
                </c:pt>
                <c:pt idx="2">
                  <c:v>3.3815146618348075</c:v>
                </c:pt>
                <c:pt idx="3">
                  <c:v>3.3706642854929743</c:v>
                </c:pt>
                <c:pt idx="4">
                  <c:v>3.3734380308486407</c:v>
                </c:pt>
                <c:pt idx="5">
                  <c:v>3.6142056450247235</c:v>
                </c:pt>
                <c:pt idx="6">
                  <c:v>3.3747335565760563</c:v>
                </c:pt>
                <c:pt idx="7">
                  <c:v>3.3701417789646326</c:v>
                </c:pt>
                <c:pt idx="8">
                  <c:v>3.3720293812523163</c:v>
                </c:pt>
                <c:pt idx="9">
                  <c:v>3.370321900418079</c:v>
                </c:pt>
                <c:pt idx="10">
                  <c:v>3.382555638789705</c:v>
                </c:pt>
                <c:pt idx="11">
                  <c:v>3.696812797995156</c:v>
                </c:pt>
                <c:pt idx="12">
                  <c:v>3.3853008235822553</c:v>
                </c:pt>
                <c:pt idx="13">
                  <c:v>3.3753428543616093</c:v>
                </c:pt>
                <c:pt idx="14">
                  <c:v>3.3772866840448335</c:v>
                </c:pt>
                <c:pt idx="15">
                  <c:v>3.3704094287410733</c:v>
                </c:pt>
                <c:pt idx="16">
                  <c:v>3.3717161650721788</c:v>
                </c:pt>
                <c:pt idx="17">
                  <c:v>3.543571091238638</c:v>
                </c:pt>
                <c:pt idx="18">
                  <c:v>3.373315054130519</c:v>
                </c:pt>
                <c:pt idx="19">
                  <c:v>3.3684308233562716</c:v>
                </c:pt>
                <c:pt idx="20">
                  <c:v>3.3708045309705326</c:v>
                </c:pt>
                <c:pt idx="21">
                  <c:v>3.3700120034503613</c:v>
                </c:pt>
                <c:pt idx="22">
                  <c:v>3.379744151255738</c:v>
                </c:pt>
                <c:pt idx="23">
                  <c:v>3.628831716200746</c:v>
                </c:pt>
                <c:pt idx="24">
                  <c:v>3.37908536891038</c:v>
                </c:pt>
                <c:pt idx="25">
                  <c:v>3.3739121174030333</c:v>
                </c:pt>
                <c:pt idx="26">
                  <c:v>3.374745256409754</c:v>
                </c:pt>
                <c:pt idx="27">
                  <c:v>3.368249519852093</c:v>
                </c:pt>
                <c:pt idx="28">
                  <c:v>3.3697146758475043</c:v>
                </c:pt>
                <c:pt idx="29">
                  <c:v>3.4814344460142705</c:v>
                </c:pt>
                <c:pt idx="30">
                  <c:v>3.370983340040169</c:v>
                </c:pt>
                <c:pt idx="31">
                  <c:v>3.366759223800712</c:v>
                </c:pt>
                <c:pt idx="32">
                  <c:v>3.368316506057576</c:v>
                </c:pt>
                <c:pt idx="33">
                  <c:v>3.3673913046093196</c:v>
                </c:pt>
                <c:pt idx="34">
                  <c:v>3.3761063693960796</c:v>
                </c:pt>
                <c:pt idx="35">
                  <c:v>3.5674695625500736</c:v>
                </c:pt>
              </c:numCache>
            </c:numRef>
          </c:val>
          <c:smooth val="0"/>
        </c:ser>
        <c:ser>
          <c:idx val="2"/>
          <c:order val="2"/>
          <c:tx>
            <c:strRef>
              <c:f>Sheet1!$D$1</c:f>
              <c:strCache>
                <c:ptCount val="1"/>
                <c:pt idx="0">
                  <c:v>No prediction</c:v>
                </c:pt>
              </c:strCache>
            </c:strRef>
          </c:tx>
          <c:spPr>
            <a:solidFill>
              <a:srgbClr val="8C95A3"/>
            </a:solidFill>
            <a:ln w="25400" cap="flat">
              <a:solidFill>
                <a:srgbClr val="8C95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C95A3"/>
              </a:solidFill>
              <a:ln w="9525" cap="flat">
                <a:solidFill>
                  <a:srgbClr val="8C95A3"/>
                </a:solidFill>
                <a:prstDash val="solid"/>
                <a:round/>
              </a:ln>
              <a:effectLst/>
            </c:spPr>
          </c:marker>
          <c:cat>
            <c:multiLvlStrRef>
              <c:f>Sheet1!$A$2:$A$37</c:f>
              <c:multiLvlStrCache>
                <c:ptCount val="36"/>
                <c:lvl>
                  <c:pt idx="0">
                    <c:v>1</c:v>
                  </c:pt>
                  <c:pt idx="1">
                    <c:v> </c:v>
                  </c:pt>
                  <c:pt idx="2">
                    <c:v> </c:v>
                  </c:pt>
                  <c:pt idx="3">
                    <c:v> </c:v>
                  </c:pt>
                  <c:pt idx="4">
                    <c:v> </c:v>
                  </c:pt>
                  <c:pt idx="5">
                    <c:v>6</c:v>
                  </c:pt>
                  <c:pt idx="6">
                    <c:v> </c:v>
                  </c:pt>
                  <c:pt idx="7">
                    <c:v> </c:v>
                  </c:pt>
                  <c:pt idx="8">
                    <c:v> </c:v>
                  </c:pt>
                  <c:pt idx="9">
                    <c:v> </c:v>
                  </c:pt>
                  <c:pt idx="10">
                    <c:v> </c:v>
                  </c:pt>
                  <c:pt idx="11">
                    <c:v>12</c:v>
                  </c:pt>
                  <c:pt idx="12">
                    <c:v> </c:v>
                  </c:pt>
                  <c:pt idx="13">
                    <c:v> </c:v>
                  </c:pt>
                  <c:pt idx="14">
                    <c:v> </c:v>
                  </c:pt>
                  <c:pt idx="15">
                    <c:v> </c:v>
                  </c:pt>
                  <c:pt idx="16">
                    <c:v> </c:v>
                  </c:pt>
                  <c:pt idx="17">
                    <c:v>18</c:v>
                  </c:pt>
                  <c:pt idx="18">
                    <c:v> </c:v>
                  </c:pt>
                  <c:pt idx="19">
                    <c:v> </c:v>
                  </c:pt>
                  <c:pt idx="20">
                    <c:v> </c:v>
                  </c:pt>
                  <c:pt idx="21">
                    <c:v> </c:v>
                  </c:pt>
                  <c:pt idx="22">
                    <c:v> </c:v>
                  </c:pt>
                  <c:pt idx="23">
                    <c:v>24</c:v>
                  </c:pt>
                  <c:pt idx="24">
                    <c:v> </c:v>
                  </c:pt>
                  <c:pt idx="25">
                    <c:v> </c:v>
                  </c:pt>
                  <c:pt idx="26">
                    <c:v> </c:v>
                  </c:pt>
                  <c:pt idx="27">
                    <c:v> </c:v>
                  </c:pt>
                  <c:pt idx="28">
                    <c:v> </c:v>
                  </c:pt>
                  <c:pt idx="29">
                    <c:v>30</c:v>
                  </c:pt>
                  <c:pt idx="30">
                    <c:v> </c:v>
                  </c:pt>
                  <c:pt idx="31">
                    <c:v> </c:v>
                  </c:pt>
                  <c:pt idx="32">
                    <c:v> </c:v>
                  </c:pt>
                  <c:pt idx="33">
                    <c:v> </c:v>
                  </c:pt>
                  <c:pt idx="34">
                    <c:v> </c:v>
                  </c:pt>
                  <c:pt idx="35">
                    <c:v>36</c:v>
                  </c:pt>
                </c:lvl>
              </c:multiLvlStrCache>
            </c:multiLvlStrRef>
          </c:cat>
          <c:val>
            <c:numRef>
              <c:f>Sheet1!$D$2:$D$37</c:f>
              <c:numCache>
                <c:formatCode>General</c:formatCode>
                <c:ptCount val="36"/>
                <c:pt idx="0">
                  <c:v>3.478759305287143</c:v>
                </c:pt>
                <c:pt idx="1">
                  <c:v>3.478759305287143</c:v>
                </c:pt>
                <c:pt idx="2">
                  <c:v>3.478759305287143</c:v>
                </c:pt>
                <c:pt idx="3">
                  <c:v>3.478759305287143</c:v>
                </c:pt>
                <c:pt idx="4">
                  <c:v>3.478759305287143</c:v>
                </c:pt>
                <c:pt idx="5">
                  <c:v>3.478759305287143</c:v>
                </c:pt>
                <c:pt idx="6">
                  <c:v>3.478759305287143</c:v>
                </c:pt>
                <c:pt idx="7">
                  <c:v>3.478759305287143</c:v>
                </c:pt>
                <c:pt idx="8">
                  <c:v>3.478759305287143</c:v>
                </c:pt>
                <c:pt idx="9">
                  <c:v>3.478759305287143</c:v>
                </c:pt>
                <c:pt idx="10">
                  <c:v>3.478759305287143</c:v>
                </c:pt>
                <c:pt idx="11">
                  <c:v>3.478759305287143</c:v>
                </c:pt>
                <c:pt idx="12">
                  <c:v>3.478759305287143</c:v>
                </c:pt>
                <c:pt idx="13">
                  <c:v>3.478759305287143</c:v>
                </c:pt>
                <c:pt idx="14">
                  <c:v>3.478759305287143</c:v>
                </c:pt>
                <c:pt idx="15">
                  <c:v>3.478759305287143</c:v>
                </c:pt>
                <c:pt idx="16">
                  <c:v>3.478759305287143</c:v>
                </c:pt>
                <c:pt idx="17">
                  <c:v>3.478759305287143</c:v>
                </c:pt>
                <c:pt idx="18">
                  <c:v>3.478759305287143</c:v>
                </c:pt>
                <c:pt idx="19">
                  <c:v>3.478759305287143</c:v>
                </c:pt>
                <c:pt idx="20">
                  <c:v>3.478759305287143</c:v>
                </c:pt>
                <c:pt idx="21">
                  <c:v>3.478759305287143</c:v>
                </c:pt>
                <c:pt idx="22">
                  <c:v>3.478759305287143</c:v>
                </c:pt>
                <c:pt idx="23">
                  <c:v>3.478759305287143</c:v>
                </c:pt>
                <c:pt idx="24">
                  <c:v>3.478759305287143</c:v>
                </c:pt>
                <c:pt idx="25">
                  <c:v>3.478759305287143</c:v>
                </c:pt>
                <c:pt idx="26">
                  <c:v>3.478759305287143</c:v>
                </c:pt>
                <c:pt idx="27">
                  <c:v>3.478759305287143</c:v>
                </c:pt>
                <c:pt idx="28">
                  <c:v>3.478759305287143</c:v>
                </c:pt>
                <c:pt idx="29">
                  <c:v>3.478759305287143</c:v>
                </c:pt>
                <c:pt idx="30">
                  <c:v>3.478759305287143</c:v>
                </c:pt>
                <c:pt idx="31">
                  <c:v>3.478759305287143</c:v>
                </c:pt>
                <c:pt idx="32">
                  <c:v>3.478759305287143</c:v>
                </c:pt>
                <c:pt idx="33">
                  <c:v>3.478759305287143</c:v>
                </c:pt>
                <c:pt idx="34">
                  <c:v>3.478759305287143</c:v>
                </c:pt>
                <c:pt idx="35">
                  <c:v>3.478759305287143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675"/>
                    </a:solidFill>
                    <a:latin typeface="Arial"/>
                  </a:defRPr>
                </a:pPr>
                <a:r>
                  <a:rPr sz="1000" b="0" i="0" u="none" strike="noStrike">
                    <a:solidFill>
                      <a:srgbClr val="5B6675"/>
                    </a:solidFill>
                    <a:latin typeface="Arial"/>
                  </a:rPr>
                  <a:t>prediction lag L (ramps)</a:t>
                </a:r>
              </a:p>
            </c:rich>
          </c:tx>
          <c:layout/>
          <c:overlay val="0"/>
        </c:title>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tickLblSkip val="1"/>
      </c:catAx>
      <c:valAx>
        <c:axId val="2094734552"/>
        <c:scaling>
          <c:orientation val="minMax"/>
          <c:max val="3.8"/>
          <c:min val="3.2"/>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compression ratio</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0.1"/>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 prediction</c:v>
                </c:pt>
              </c:strCache>
            </c:strRef>
          </c:tx>
          <c:spPr>
            <a:solidFill>
              <a:srgbClr val="8C95A3"/>
            </a:solidFill>
            <a:effectLst/>
          </c:spPr>
          <c:invertIfNegative val="0"/>
          <c:dLbls>
            <c:numFmt formatCode="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As built (lag 1)</c:v>
                  </c:pt>
                  <c:pt idx="1">
                    <c:v>Corrected (lag nTx)</c:v>
                  </c:pt>
                </c:lvl>
              </c:multiLvlStrCache>
            </c:multiLvlStrRef>
          </c:cat>
          <c:val>
            <c:numRef>
              <c:f>Sheet1!$B$2:$B$3</c:f>
              <c:numCache>
                <c:formatCode>General</c:formatCode>
                <c:ptCount val="2"/>
                <c:pt idx="0">
                  <c:v>3.479</c:v>
                </c:pt>
                <c:pt idx="1">
                  <c:v>3.479</c:v>
                </c:pt>
              </c:numCache>
            </c:numRef>
          </c:val>
        </c:ser>
        <c:ser>
          <c:idx val="1"/>
          <c:order val="1"/>
          <c:tx>
            <c:strRef>
              <c:f>Sheet1!$C$1</c:f>
              <c:strCache>
                <c:ptCount val="1"/>
                <c:pt idx="0">
                  <c:v>DRHE</c:v>
                </c:pt>
              </c:strCache>
            </c:strRef>
          </c:tx>
          <c:spPr>
            <a:solidFill>
              <a:srgbClr val="007FA3"/>
            </a:solidFill>
            <a:effectLst/>
          </c:spPr>
          <c:invertIfNegative val="0"/>
          <c:dLbls>
            <c:numFmt formatCode="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As built (lag 1)</c:v>
                  </c:pt>
                  <c:pt idx="1">
                    <c:v>Corrected (lag nTx)</c:v>
                  </c:pt>
                </c:lvl>
              </c:multiLvlStrCache>
            </c:multiLvlStrRef>
          </c:cat>
          <c:val>
            <c:numRef>
              <c:f>Sheet1!$C$2:$C$3</c:f>
              <c:numCache>
                <c:formatCode>General</c:formatCode>
                <c:ptCount val="2"/>
                <c:pt idx="0">
                  <c:v>3.31</c:v>
                </c:pt>
                <c:pt idx="1">
                  <c:v>3.751</c:v>
                </c:pt>
              </c:numCache>
            </c:numRef>
          </c:val>
        </c:ser>
        <c:ser>
          <c:idx val="2"/>
          <c:order val="2"/>
          <c:tx>
            <c:strRef>
              <c:f>Sheet1!$D$1</c:f>
              <c:strCache>
                <c:ptCount val="1"/>
                <c:pt idx="0">
                  <c:v>LPC</c:v>
                </c:pt>
              </c:strCache>
            </c:strRef>
          </c:tx>
          <c:spPr>
            <a:solidFill>
              <a:srgbClr val="C96A12"/>
            </a:solidFill>
            <a:effectLst/>
          </c:spPr>
          <c:invertIfNegative val="0"/>
          <c:dLbls>
            <c:numFmt formatCode="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As built (lag 1)</c:v>
                  </c:pt>
                  <c:pt idx="1">
                    <c:v>Corrected (lag nTx)</c:v>
                  </c:pt>
                </c:lvl>
              </c:multiLvlStrCache>
            </c:multiLvlStrRef>
          </c:cat>
          <c:val>
            <c:numRef>
              <c:f>Sheet1!$D$2:$D$3</c:f>
              <c:numCache>
                <c:formatCode>General</c:formatCode>
                <c:ptCount val="2"/>
                <c:pt idx="0">
                  <c:v>3.385</c:v>
                </c:pt>
                <c:pt idx="1">
                  <c:v>3.697</c:v>
                </c:pt>
              </c:numCache>
            </c:numRef>
          </c:val>
        </c:ser>
        <c:dLbls>
          <c:numFmt formatCode="0.000" sourceLinked="0"/>
          <c:txPr>
            <a:bodyPr/>
            <a:lstStyle/>
            <a:p>
              <a:pPr>
                <a:defRPr b="0" i="0" strike="noStrike" sz="1000" u="none">
                  <a:solidFill>
                    <a:srgbClr val="1F2A37"/>
                  </a:solidFill>
                  <a:latin typeface="Calibri"/>
                </a:defRPr>
              </a:pPr>
            </a:p>
          </c:txPr>
          <c:showLegendKey val="0"/>
          <c:showVal val="1"/>
          <c:showCatName val="0"/>
          <c:showSerName val="0"/>
          <c:showPercent val="0"/>
          <c:showBubbleSize val="0"/>
          <c:showLeaderLines val="0"/>
        </c:dLbls>
        <c:gapWidth val="6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compression ratio (50 frames)</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675"/>
                </a:solidFill>
                <a:latin typeface="Calibri"/>
              </a:defRPr>
            </a:pPr>
            <a:r>
              <a:rPr sz="1100" b="0" i="0" u="none" strike="noStrike">
                <a:solidFill>
                  <a:srgbClr val="5B6675"/>
                </a:solidFill>
                <a:latin typeface="Calibri"/>
              </a:rPr>
              <a:t>99th percentile of |residual| (FX16 codes, smaller is better)</a:t>
            </a:r>
          </a:p>
        </c:rich>
      </c:tx>
      <c:layout/>
      <c:overlay val="0"/>
    </c:title>
    <c:autoTitleDeleted val="0"/>
    <c:plotArea>
      <c:layout/>
      <c:barChart>
        <c:barDir val="bar"/>
        <c:grouping val="clustered"/>
        <c:varyColors val="0"/>
        <c:ser>
          <c:idx val="0"/>
          <c:order val="0"/>
          <c:tx>
            <c:strRef>
              <c:f>Sheet1!$B$1</c:f>
              <c:strCache>
                <c:ptCount val="1"/>
                <c:pt idx="0">
                  <c:v>99th percentile |residual|</c:v>
                </c:pt>
              </c:strCache>
            </c:strRef>
          </c:tx>
          <c:spPr>
            <a:solidFill>
              <a:srgbClr val="3D5A73"/>
            </a:solidFill>
            <a:effectLst/>
          </c:spPr>
          <c:invertIfNegative val="0"/>
          <c:dLbls>
            <c:numFmt formatCode="0.0" sourceLinked="0"/>
            <c:txPr>
              <a:bodyPr/>
              <a:lstStyle/>
              <a:p>
                <a:pPr>
                  <a:defRPr b="0" i="0" strike="noStrike" sz="1100" u="none">
                    <a:solidFill>
                      <a:srgbClr val="1F2A37"/>
                    </a:solidFill>
                    <a:latin typeface="Arial"/>
                  </a:defRPr>
                </a:pPr>
              </a:p>
            </c:txPr>
            <c:showLegendKey val="0"/>
            <c:showVal val="1"/>
            <c:showCatName val="0"/>
            <c:showSerName val="0"/>
            <c:showPercent val="0"/>
            <c:showBubbleSize val="0"/>
            <c:showLeaderLines val="0"/>
          </c:dLbls>
          <c:cat>
            <c:multiLvlStrRef>
              <c:f>Sheet1!$A$2:$A$6</c:f>
              <c:multiLvlStrCache>
                <c:ptCount val="5"/>
                <c:lvl>
                  <c:pt idx="0">
                    <c:v>No prediction</c:v>
                  </c:pt>
                  <c:pt idx="1">
                    <c:v>DRHE, lag 1</c:v>
                  </c:pt>
                  <c:pt idx="2">
                    <c:v>LPC, lags 1, 2</c:v>
                  </c:pt>
                  <c:pt idx="3">
                    <c:v>DRHE, lag 12</c:v>
                  </c:pt>
                  <c:pt idx="4">
                    <c:v>LPC, lags 12, 24</c:v>
                  </c:pt>
                </c:lvl>
              </c:multiLvlStrCache>
            </c:multiLvlStrRef>
          </c:cat>
          <c:val>
            <c:numRef>
              <c:f>Sheet1!$B$2:$B$6</c:f>
              <c:numCache>
                <c:formatCode>General</c:formatCode>
                <c:ptCount val="5"/>
                <c:pt idx="0">
                  <c:v>80.6</c:v>
                </c:pt>
                <c:pt idx="1">
                  <c:v>102.4</c:v>
                </c:pt>
                <c:pt idx="2">
                  <c:v>63.4</c:v>
                </c:pt>
                <c:pt idx="3">
                  <c:v>15.8</c:v>
                </c:pt>
                <c:pt idx="4">
                  <c:v>8.2</c:v>
                </c:pt>
              </c:numCache>
            </c:numRef>
          </c:val>
        </c:ser>
        <c:dLbls>
          <c:numFmt formatCode="0.0" sourceLinked="0"/>
          <c:txPr>
            <a:bodyPr/>
            <a:lstStyle/>
            <a:p>
              <a:pPr>
                <a:defRPr b="0" i="0" strike="noStrike" sz="1100" u="none">
                  <a:solidFill>
                    <a:srgbClr val="1F2A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5DCE3"/>
            </a:solidFill>
            <a:prstDash val="solid"/>
            <a:round/>
          </a:ln>
        </c:spPr>
        <c:txPr>
          <a:bodyPr/>
          <a:lstStyle/>
          <a:p>
            <a:pPr>
              <a:defRPr sz="11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Residual bits</c:v>
                </c:pt>
              </c:strCache>
            </c:strRef>
          </c:tx>
          <c:spPr>
            <a:solidFill>
              <a:srgbClr val="566B80"/>
            </a:solidFill>
            <a:effectLst/>
          </c:spPr>
          <c:invertIfNegative val="0"/>
          <c:dLbls>
            <c:numFmt formatCode="[&lt;0.2]&quot;&quot;;0.00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No pred.</c:v>
                  </c:pt>
                  <c:pt idx="1">
                    <c:v>DRHE lag 1</c:v>
                  </c:pt>
                  <c:pt idx="2">
                    <c:v>LPC 1,2</c:v>
                  </c:pt>
                  <c:pt idx="3">
                    <c:v>DRHE lag 12</c:v>
                  </c:pt>
                  <c:pt idx="4">
                    <c:v>LPC 12,24</c:v>
                  </c:pt>
                </c:lvl>
              </c:multiLvlStrCache>
            </c:multiLvlStrRef>
          </c:cat>
          <c:val>
            <c:numRef>
              <c:f>Sheet1!$B$2:$B$6</c:f>
              <c:numCache>
                <c:formatCode>General</c:formatCode>
                <c:ptCount val="5"/>
                <c:pt idx="0">
                  <c:v>4.586</c:v>
                </c:pt>
                <c:pt idx="1">
                  <c:v>4.821</c:v>
                </c:pt>
                <c:pt idx="2">
                  <c:v>4.543</c:v>
                </c:pt>
                <c:pt idx="3">
                  <c:v>4.24</c:v>
                </c:pt>
                <c:pt idx="4">
                  <c:v>4.102</c:v>
                </c:pt>
              </c:numCache>
            </c:numRef>
          </c:val>
        </c:ser>
        <c:ser>
          <c:idx val="1"/>
          <c:order val="1"/>
          <c:tx>
            <c:strRef>
              <c:f>Sheet1!$C$1</c:f>
              <c:strCache>
                <c:ptCount val="1"/>
                <c:pt idx="0">
                  <c:v>LPC coefficient table (0.167)</c:v>
                </c:pt>
              </c:strCache>
            </c:strRef>
          </c:tx>
          <c:spPr>
            <a:solidFill>
              <a:srgbClr val="C96A12"/>
            </a:solidFill>
            <a:effectLst/>
          </c:spPr>
          <c:invertIfNegative val="0"/>
          <c:dLbls>
            <c:numFmt formatCode="[&lt;0.2]&quot;&quot;;0.00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No pred.</c:v>
                  </c:pt>
                  <c:pt idx="1">
                    <c:v>DRHE lag 1</c:v>
                  </c:pt>
                  <c:pt idx="2">
                    <c:v>LPC 1,2</c:v>
                  </c:pt>
                  <c:pt idx="3">
                    <c:v>DRHE lag 12</c:v>
                  </c:pt>
                  <c:pt idx="4">
                    <c:v>LPC 12,24</c:v>
                  </c:pt>
                </c:lvl>
              </c:multiLvlStrCache>
            </c:multiLvlStrRef>
          </c:cat>
          <c:val>
            <c:numRef>
              <c:f>Sheet1!$C$2:$C$6</c:f>
              <c:numCache>
                <c:formatCode>General</c:formatCode>
                <c:ptCount val="5"/>
                <c:pt idx="0">
                  <c:v>0</c:v>
                </c:pt>
                <c:pt idx="1">
                  <c:v>0</c:v>
                </c:pt>
                <c:pt idx="2">
                  <c:v>0.167</c:v>
                </c:pt>
                <c:pt idx="3">
                  <c:v>0</c:v>
                </c:pt>
                <c:pt idx="4">
                  <c:v>0.167</c:v>
                </c:pt>
              </c:numCache>
            </c:numRef>
          </c:val>
        </c:ser>
        <c:dLbls>
          <c:numFmt formatCode="[&lt;0.2]&quot;&quot;;0.00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05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bits per value (lower is better)</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DRHE, lag 12</c:v>
                </c:pt>
              </c:strCache>
            </c:strRef>
          </c:tx>
          <c:spPr>
            <a:solidFill>
              <a:srgbClr val="007FA3"/>
            </a:solidFill>
            <a:ln w="25400" cap="flat">
              <a:solidFill>
                <a:srgbClr val="007F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7FA3"/>
              </a:solidFill>
              <a:ln w="9525" cap="flat">
                <a:solidFill>
                  <a:srgbClr val="007FA3"/>
                </a:solidFill>
                <a:prstDash val="solid"/>
                <a:round/>
              </a:ln>
              <a:effectLst/>
            </c:spPr>
          </c:marker>
          <c:cat>
            <c:multiLvlStrRef>
              <c:f>Sheet1!$A$2:$A$51</c:f>
              <c:multiLvlStrCache>
                <c:ptCount val="50"/>
                <c:lvl>
                  <c:pt idx="0">
                    <c:v>0</c:v>
                  </c:pt>
                  <c:pt idx="1">
                    <c:v> </c:v>
                  </c:pt>
                  <c:pt idx="2">
                    <c:v> </c:v>
                  </c:pt>
                  <c:pt idx="3">
                    <c:v> </c:v>
                  </c:pt>
                  <c:pt idx="4">
                    <c:v> </c:v>
                  </c:pt>
                  <c:pt idx="5">
                    <c:v>5</c:v>
                  </c:pt>
                  <c:pt idx="6">
                    <c:v> </c:v>
                  </c:pt>
                  <c:pt idx="7">
                    <c:v> </c:v>
                  </c:pt>
                  <c:pt idx="8">
                    <c:v> </c:v>
                  </c:pt>
                  <c:pt idx="9">
                    <c:v> </c:v>
                  </c:pt>
                  <c:pt idx="10">
                    <c:v>10</c:v>
                  </c:pt>
                  <c:pt idx="11">
                    <c:v> </c:v>
                  </c:pt>
                  <c:pt idx="12">
                    <c:v> </c:v>
                  </c:pt>
                  <c:pt idx="13">
                    <c:v> </c:v>
                  </c:pt>
                  <c:pt idx="14">
                    <c:v> </c:v>
                  </c:pt>
                  <c:pt idx="15">
                    <c:v>15</c:v>
                  </c:pt>
                  <c:pt idx="16">
                    <c:v> </c:v>
                  </c:pt>
                  <c:pt idx="17">
                    <c:v> </c:v>
                  </c:pt>
                  <c:pt idx="18">
                    <c:v> </c:v>
                  </c:pt>
                  <c:pt idx="19">
                    <c:v> </c:v>
                  </c:pt>
                  <c:pt idx="20">
                    <c:v>20</c:v>
                  </c:pt>
                  <c:pt idx="21">
                    <c:v> </c:v>
                  </c:pt>
                  <c:pt idx="22">
                    <c:v> </c:v>
                  </c:pt>
                  <c:pt idx="23">
                    <c:v> </c:v>
                  </c:pt>
                  <c:pt idx="24">
                    <c:v> </c:v>
                  </c:pt>
                  <c:pt idx="25">
                    <c:v>25</c:v>
                  </c:pt>
                  <c:pt idx="26">
                    <c:v> </c:v>
                  </c:pt>
                  <c:pt idx="27">
                    <c:v> </c:v>
                  </c:pt>
                  <c:pt idx="28">
                    <c:v> </c:v>
                  </c:pt>
                  <c:pt idx="29">
                    <c:v> </c:v>
                  </c:pt>
                  <c:pt idx="30">
                    <c:v>30</c:v>
                  </c:pt>
                  <c:pt idx="31">
                    <c:v> </c:v>
                  </c:pt>
                  <c:pt idx="32">
                    <c:v> </c:v>
                  </c:pt>
                  <c:pt idx="33">
                    <c:v> </c:v>
                  </c:pt>
                  <c:pt idx="34">
                    <c:v> </c:v>
                  </c:pt>
                  <c:pt idx="35">
                    <c:v>35</c:v>
                  </c:pt>
                  <c:pt idx="36">
                    <c:v> </c:v>
                  </c:pt>
                  <c:pt idx="37">
                    <c:v> </c:v>
                  </c:pt>
                  <c:pt idx="38">
                    <c:v> </c:v>
                  </c:pt>
                  <c:pt idx="39">
                    <c:v> </c:v>
                  </c:pt>
                  <c:pt idx="40">
                    <c:v>40</c:v>
                  </c:pt>
                  <c:pt idx="41">
                    <c:v> </c:v>
                  </c:pt>
                  <c:pt idx="42">
                    <c:v> </c:v>
                  </c:pt>
                  <c:pt idx="43">
                    <c:v> </c:v>
                  </c:pt>
                  <c:pt idx="44">
                    <c:v> </c:v>
                  </c:pt>
                  <c:pt idx="45">
                    <c:v>45</c:v>
                  </c:pt>
                  <c:pt idx="46">
                    <c:v> </c:v>
                  </c:pt>
                  <c:pt idx="47">
                    <c:v> </c:v>
                  </c:pt>
                  <c:pt idx="48">
                    <c:v> </c:v>
                  </c:pt>
                  <c:pt idx="49">
                    <c:v> </c:v>
                  </c:pt>
                </c:lvl>
              </c:multiLvlStrCache>
            </c:multiLvlStrRef>
          </c:cat>
          <c:val>
            <c:numRef>
              <c:f>Sheet1!$B$2:$B$51</c:f>
              <c:numCache>
                <c:formatCode>General</c:formatCode>
                <c:ptCount val="50"/>
                <c:pt idx="0">
                  <c:v>3.7914</c:v>
                </c:pt>
                <c:pt idx="1">
                  <c:v>3.7868</c:v>
                </c:pt>
                <c:pt idx="2">
                  <c:v>3.7763</c:v>
                </c:pt>
                <c:pt idx="3">
                  <c:v>3.7624</c:v>
                </c:pt>
                <c:pt idx="4">
                  <c:v>3.7498</c:v>
                </c:pt>
                <c:pt idx="5">
                  <c:v>3.7636</c:v>
                </c:pt>
                <c:pt idx="6">
                  <c:v>3.7832</c:v>
                </c:pt>
                <c:pt idx="7">
                  <c:v>3.7902</c:v>
                </c:pt>
                <c:pt idx="8">
                  <c:v>3.7926</c:v>
                </c:pt>
                <c:pt idx="9">
                  <c:v>3.7868</c:v>
                </c:pt>
                <c:pt idx="10">
                  <c:v>3.7786</c:v>
                </c:pt>
                <c:pt idx="11">
                  <c:v>3.7624</c:v>
                </c:pt>
                <c:pt idx="12">
                  <c:v>3.7395</c:v>
                </c:pt>
                <c:pt idx="13">
                  <c:v>3.7429</c:v>
                </c:pt>
                <c:pt idx="14">
                  <c:v>3.7682</c:v>
                </c:pt>
                <c:pt idx="15">
                  <c:v>3.7914</c:v>
                </c:pt>
                <c:pt idx="16">
                  <c:v>3.7926</c:v>
                </c:pt>
                <c:pt idx="17">
                  <c:v>3.7693</c:v>
                </c:pt>
                <c:pt idx="18">
                  <c:v>3.7191</c:v>
                </c:pt>
                <c:pt idx="19">
                  <c:v>3.718</c:v>
                </c:pt>
                <c:pt idx="20">
                  <c:v>3.7327</c:v>
                </c:pt>
                <c:pt idx="21">
                  <c:v>3.7327</c:v>
                </c:pt>
                <c:pt idx="22">
                  <c:v>3.7578</c:v>
                </c:pt>
                <c:pt idx="23">
                  <c:v>3.7774</c:v>
                </c:pt>
                <c:pt idx="24">
                  <c:v>3.8126</c:v>
                </c:pt>
                <c:pt idx="25">
                  <c:v>3.7879</c:v>
                </c:pt>
                <c:pt idx="26">
                  <c:v>3.7984</c:v>
                </c:pt>
                <c:pt idx="27">
                  <c:v>3.8102</c:v>
                </c:pt>
                <c:pt idx="28">
                  <c:v>3.7984</c:v>
                </c:pt>
                <c:pt idx="29">
                  <c:v>3.809</c:v>
                </c:pt>
                <c:pt idx="30">
                  <c:v>3.815</c:v>
                </c:pt>
                <c:pt idx="31">
                  <c:v>3.7984</c:v>
                </c:pt>
                <c:pt idx="32">
                  <c:v>3.8043</c:v>
                </c:pt>
                <c:pt idx="33">
                  <c:v>3.8032</c:v>
                </c:pt>
                <c:pt idx="34">
                  <c:v>3.7463</c:v>
                </c:pt>
                <c:pt idx="35">
                  <c:v>3.774</c:v>
                </c:pt>
                <c:pt idx="36">
                  <c:v>3.7693</c:v>
                </c:pt>
                <c:pt idx="37">
                  <c:v>3.7214</c:v>
                </c:pt>
                <c:pt idx="38">
                  <c:v>3.6834</c:v>
                </c:pt>
                <c:pt idx="39">
                  <c:v>3.7647</c:v>
                </c:pt>
                <c:pt idx="40">
                  <c:v>3.735</c:v>
                </c:pt>
                <c:pt idx="41">
                  <c:v>3.7169</c:v>
                </c:pt>
                <c:pt idx="42">
                  <c:v>3.7316</c:v>
                </c:pt>
                <c:pt idx="43">
                  <c:v>3.6824</c:v>
                </c:pt>
                <c:pt idx="44">
                  <c:v>3.6801</c:v>
                </c:pt>
                <c:pt idx="45">
                  <c:v>3.6834</c:v>
                </c:pt>
                <c:pt idx="46">
                  <c:v>3.6812</c:v>
                </c:pt>
                <c:pt idx="47">
                  <c:v>3.6474</c:v>
                </c:pt>
                <c:pt idx="48">
                  <c:v>3.6035</c:v>
                </c:pt>
                <c:pt idx="49">
                  <c:v>3.5169</c:v>
                </c:pt>
              </c:numCache>
            </c:numRef>
          </c:val>
          <c:smooth val="0"/>
        </c:ser>
        <c:ser>
          <c:idx val="1"/>
          <c:order val="1"/>
          <c:tx>
            <c:strRef>
              <c:f>Sheet1!$C$1</c:f>
              <c:strCache>
                <c:ptCount val="1"/>
                <c:pt idx="0">
                  <c:v>LPC, lags 12, 24</c:v>
                </c:pt>
              </c:strCache>
            </c:strRef>
          </c:tx>
          <c:spPr>
            <a:solidFill>
              <a:srgbClr val="C96A12"/>
            </a:solidFill>
            <a:ln w="25400" cap="flat">
              <a:solidFill>
                <a:srgbClr val="C96A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6A12"/>
              </a:solidFill>
              <a:ln w="9525" cap="flat">
                <a:solidFill>
                  <a:srgbClr val="C96A12"/>
                </a:solidFill>
                <a:prstDash val="solid"/>
                <a:round/>
              </a:ln>
              <a:effectLst/>
            </c:spPr>
          </c:marker>
          <c:cat>
            <c:multiLvlStrRef>
              <c:f>Sheet1!$A$2:$A$51</c:f>
              <c:multiLvlStrCache>
                <c:ptCount val="50"/>
                <c:lvl>
                  <c:pt idx="0">
                    <c:v>0</c:v>
                  </c:pt>
                  <c:pt idx="1">
                    <c:v> </c:v>
                  </c:pt>
                  <c:pt idx="2">
                    <c:v> </c:v>
                  </c:pt>
                  <c:pt idx="3">
                    <c:v> </c:v>
                  </c:pt>
                  <c:pt idx="4">
                    <c:v> </c:v>
                  </c:pt>
                  <c:pt idx="5">
                    <c:v>5</c:v>
                  </c:pt>
                  <c:pt idx="6">
                    <c:v> </c:v>
                  </c:pt>
                  <c:pt idx="7">
                    <c:v> </c:v>
                  </c:pt>
                  <c:pt idx="8">
                    <c:v> </c:v>
                  </c:pt>
                  <c:pt idx="9">
                    <c:v> </c:v>
                  </c:pt>
                  <c:pt idx="10">
                    <c:v>10</c:v>
                  </c:pt>
                  <c:pt idx="11">
                    <c:v> </c:v>
                  </c:pt>
                  <c:pt idx="12">
                    <c:v> </c:v>
                  </c:pt>
                  <c:pt idx="13">
                    <c:v> </c:v>
                  </c:pt>
                  <c:pt idx="14">
                    <c:v> </c:v>
                  </c:pt>
                  <c:pt idx="15">
                    <c:v>15</c:v>
                  </c:pt>
                  <c:pt idx="16">
                    <c:v> </c:v>
                  </c:pt>
                  <c:pt idx="17">
                    <c:v> </c:v>
                  </c:pt>
                  <c:pt idx="18">
                    <c:v> </c:v>
                  </c:pt>
                  <c:pt idx="19">
                    <c:v> </c:v>
                  </c:pt>
                  <c:pt idx="20">
                    <c:v>20</c:v>
                  </c:pt>
                  <c:pt idx="21">
                    <c:v> </c:v>
                  </c:pt>
                  <c:pt idx="22">
                    <c:v> </c:v>
                  </c:pt>
                  <c:pt idx="23">
                    <c:v> </c:v>
                  </c:pt>
                  <c:pt idx="24">
                    <c:v> </c:v>
                  </c:pt>
                  <c:pt idx="25">
                    <c:v>25</c:v>
                  </c:pt>
                  <c:pt idx="26">
                    <c:v> </c:v>
                  </c:pt>
                  <c:pt idx="27">
                    <c:v> </c:v>
                  </c:pt>
                  <c:pt idx="28">
                    <c:v> </c:v>
                  </c:pt>
                  <c:pt idx="29">
                    <c:v> </c:v>
                  </c:pt>
                  <c:pt idx="30">
                    <c:v>30</c:v>
                  </c:pt>
                  <c:pt idx="31">
                    <c:v> </c:v>
                  </c:pt>
                  <c:pt idx="32">
                    <c:v> </c:v>
                  </c:pt>
                  <c:pt idx="33">
                    <c:v> </c:v>
                  </c:pt>
                  <c:pt idx="34">
                    <c:v> </c:v>
                  </c:pt>
                  <c:pt idx="35">
                    <c:v>35</c:v>
                  </c:pt>
                  <c:pt idx="36">
                    <c:v> </c:v>
                  </c:pt>
                  <c:pt idx="37">
                    <c:v> </c:v>
                  </c:pt>
                  <c:pt idx="38">
                    <c:v> </c:v>
                  </c:pt>
                  <c:pt idx="39">
                    <c:v> </c:v>
                  </c:pt>
                  <c:pt idx="40">
                    <c:v>40</c:v>
                  </c:pt>
                  <c:pt idx="41">
                    <c:v> </c:v>
                  </c:pt>
                  <c:pt idx="42">
                    <c:v> </c:v>
                  </c:pt>
                  <c:pt idx="43">
                    <c:v> </c:v>
                  </c:pt>
                  <c:pt idx="44">
                    <c:v> </c:v>
                  </c:pt>
                  <c:pt idx="45">
                    <c:v>45</c:v>
                  </c:pt>
                  <c:pt idx="46">
                    <c:v> </c:v>
                  </c:pt>
                  <c:pt idx="47">
                    <c:v> </c:v>
                  </c:pt>
                  <c:pt idx="48">
                    <c:v> </c:v>
                  </c:pt>
                  <c:pt idx="49">
                    <c:v> </c:v>
                  </c:pt>
                </c:lvl>
              </c:multiLvlStrCache>
            </c:multiLvlStrRef>
          </c:cat>
          <c:val>
            <c:numRef>
              <c:f>Sheet1!$C$2:$C$51</c:f>
              <c:numCache>
                <c:formatCode>General</c:formatCode>
                <c:ptCount val="50"/>
                <c:pt idx="0">
                  <c:v>3.7612</c:v>
                </c:pt>
                <c:pt idx="1">
                  <c:v>3.7578</c:v>
                </c:pt>
                <c:pt idx="2">
                  <c:v>3.7509</c:v>
                </c:pt>
                <c:pt idx="3">
                  <c:v>3.7384</c:v>
                </c:pt>
                <c:pt idx="4">
                  <c:v>3.7282</c:v>
                </c:pt>
                <c:pt idx="5">
                  <c:v>3.7395</c:v>
                </c:pt>
                <c:pt idx="6">
                  <c:v>3.7544</c:v>
                </c:pt>
                <c:pt idx="7">
                  <c:v>3.7612</c:v>
                </c:pt>
                <c:pt idx="8">
                  <c:v>3.7612</c:v>
                </c:pt>
                <c:pt idx="9">
                  <c:v>3.7566</c:v>
                </c:pt>
                <c:pt idx="10">
                  <c:v>3.7521</c:v>
                </c:pt>
                <c:pt idx="11">
                  <c:v>3.7395</c:v>
                </c:pt>
                <c:pt idx="12">
                  <c:v>3.7225</c:v>
                </c:pt>
                <c:pt idx="13">
                  <c:v>3.7225</c:v>
                </c:pt>
                <c:pt idx="14">
                  <c:v>3.7429</c:v>
                </c:pt>
                <c:pt idx="15">
                  <c:v>3.7555</c:v>
                </c:pt>
                <c:pt idx="16">
                  <c:v>3.7486</c:v>
                </c:pt>
                <c:pt idx="17">
                  <c:v>3.6912</c:v>
                </c:pt>
                <c:pt idx="18">
                  <c:v>3.6377</c:v>
                </c:pt>
                <c:pt idx="19">
                  <c:v>3.6355</c:v>
                </c:pt>
                <c:pt idx="20">
                  <c:v>3.643</c:v>
                </c:pt>
                <c:pt idx="21">
                  <c:v>3.6463</c:v>
                </c:pt>
                <c:pt idx="22">
                  <c:v>3.667</c:v>
                </c:pt>
                <c:pt idx="23">
                  <c:v>3.7079</c:v>
                </c:pt>
                <c:pt idx="24">
                  <c:v>3.7327</c:v>
                </c:pt>
                <c:pt idx="25">
                  <c:v>3.718</c:v>
                </c:pt>
                <c:pt idx="26">
                  <c:v>3.7338</c:v>
                </c:pt>
                <c:pt idx="27">
                  <c:v>3.7418</c:v>
                </c:pt>
                <c:pt idx="28">
                  <c:v>3.7304</c:v>
                </c:pt>
                <c:pt idx="29">
                  <c:v>3.7372</c:v>
                </c:pt>
                <c:pt idx="30">
                  <c:v>3.7384</c:v>
                </c:pt>
                <c:pt idx="31">
                  <c:v>3.7248</c:v>
                </c:pt>
                <c:pt idx="32">
                  <c:v>3.735</c:v>
                </c:pt>
                <c:pt idx="33">
                  <c:v>3.7236</c:v>
                </c:pt>
                <c:pt idx="34">
                  <c:v>3.6681</c:v>
                </c:pt>
                <c:pt idx="35">
                  <c:v>3.6934</c:v>
                </c:pt>
                <c:pt idx="36">
                  <c:v>3.6945</c:v>
                </c:pt>
                <c:pt idx="37">
                  <c:v>3.6539</c:v>
                </c:pt>
                <c:pt idx="38">
                  <c:v>3.6344</c:v>
                </c:pt>
                <c:pt idx="39">
                  <c:v>3.7068</c:v>
                </c:pt>
                <c:pt idx="40">
                  <c:v>3.6757</c:v>
                </c:pt>
                <c:pt idx="41">
                  <c:v>3.656</c:v>
                </c:pt>
                <c:pt idx="42">
                  <c:v>3.6801</c:v>
                </c:pt>
                <c:pt idx="43">
                  <c:v>3.6387</c:v>
                </c:pt>
                <c:pt idx="44">
                  <c:v>3.6334</c:v>
                </c:pt>
                <c:pt idx="45">
                  <c:v>3.6344</c:v>
                </c:pt>
                <c:pt idx="46">
                  <c:v>3.6258</c:v>
                </c:pt>
                <c:pt idx="47">
                  <c:v>3.594</c:v>
                </c:pt>
                <c:pt idx="48">
                  <c:v>3.5525</c:v>
                </c:pt>
                <c:pt idx="49">
                  <c:v>3.4614</c:v>
                </c:pt>
              </c:numCache>
            </c:numRef>
          </c:val>
          <c:smooth val="0"/>
        </c:ser>
        <c:ser>
          <c:idx val="2"/>
          <c:order val="2"/>
          <c:tx>
            <c:strRef>
              <c:f>Sheet1!$D$1</c:f>
              <c:strCache>
                <c:ptCount val="1"/>
                <c:pt idx="0">
                  <c:v>LPC, lags 1, 2</c:v>
                </c:pt>
              </c:strCache>
            </c:strRef>
          </c:tx>
          <c:spPr>
            <a:solidFill>
              <a:srgbClr val="E6B98B"/>
            </a:solidFill>
            <a:ln w="25400" cap="flat">
              <a:solidFill>
                <a:srgbClr val="E6B9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B98B"/>
              </a:solidFill>
              <a:ln w="9525" cap="flat">
                <a:solidFill>
                  <a:srgbClr val="E6B98B"/>
                </a:solidFill>
                <a:prstDash val="solid"/>
                <a:round/>
              </a:ln>
              <a:effectLst/>
            </c:spPr>
          </c:marker>
          <c:cat>
            <c:multiLvlStrRef>
              <c:f>Sheet1!$A$2:$A$51</c:f>
              <c:multiLvlStrCache>
                <c:ptCount val="50"/>
                <c:lvl>
                  <c:pt idx="0">
                    <c:v>0</c:v>
                  </c:pt>
                  <c:pt idx="1">
                    <c:v> </c:v>
                  </c:pt>
                  <c:pt idx="2">
                    <c:v> </c:v>
                  </c:pt>
                  <c:pt idx="3">
                    <c:v> </c:v>
                  </c:pt>
                  <c:pt idx="4">
                    <c:v> </c:v>
                  </c:pt>
                  <c:pt idx="5">
                    <c:v>5</c:v>
                  </c:pt>
                  <c:pt idx="6">
                    <c:v> </c:v>
                  </c:pt>
                  <c:pt idx="7">
                    <c:v> </c:v>
                  </c:pt>
                  <c:pt idx="8">
                    <c:v> </c:v>
                  </c:pt>
                  <c:pt idx="9">
                    <c:v> </c:v>
                  </c:pt>
                  <c:pt idx="10">
                    <c:v>10</c:v>
                  </c:pt>
                  <c:pt idx="11">
                    <c:v> </c:v>
                  </c:pt>
                  <c:pt idx="12">
                    <c:v> </c:v>
                  </c:pt>
                  <c:pt idx="13">
                    <c:v> </c:v>
                  </c:pt>
                  <c:pt idx="14">
                    <c:v> </c:v>
                  </c:pt>
                  <c:pt idx="15">
                    <c:v>15</c:v>
                  </c:pt>
                  <c:pt idx="16">
                    <c:v> </c:v>
                  </c:pt>
                  <c:pt idx="17">
                    <c:v> </c:v>
                  </c:pt>
                  <c:pt idx="18">
                    <c:v> </c:v>
                  </c:pt>
                  <c:pt idx="19">
                    <c:v> </c:v>
                  </c:pt>
                  <c:pt idx="20">
                    <c:v>20</c:v>
                  </c:pt>
                  <c:pt idx="21">
                    <c:v> </c:v>
                  </c:pt>
                  <c:pt idx="22">
                    <c:v> </c:v>
                  </c:pt>
                  <c:pt idx="23">
                    <c:v> </c:v>
                  </c:pt>
                  <c:pt idx="24">
                    <c:v> </c:v>
                  </c:pt>
                  <c:pt idx="25">
                    <c:v>25</c:v>
                  </c:pt>
                  <c:pt idx="26">
                    <c:v> </c:v>
                  </c:pt>
                  <c:pt idx="27">
                    <c:v> </c:v>
                  </c:pt>
                  <c:pt idx="28">
                    <c:v> </c:v>
                  </c:pt>
                  <c:pt idx="29">
                    <c:v> </c:v>
                  </c:pt>
                  <c:pt idx="30">
                    <c:v>30</c:v>
                  </c:pt>
                  <c:pt idx="31">
                    <c:v> </c:v>
                  </c:pt>
                  <c:pt idx="32">
                    <c:v> </c:v>
                  </c:pt>
                  <c:pt idx="33">
                    <c:v> </c:v>
                  </c:pt>
                  <c:pt idx="34">
                    <c:v> </c:v>
                  </c:pt>
                  <c:pt idx="35">
                    <c:v>35</c:v>
                  </c:pt>
                  <c:pt idx="36">
                    <c:v> </c:v>
                  </c:pt>
                  <c:pt idx="37">
                    <c:v> </c:v>
                  </c:pt>
                  <c:pt idx="38">
                    <c:v> </c:v>
                  </c:pt>
                  <c:pt idx="39">
                    <c:v> </c:v>
                  </c:pt>
                  <c:pt idx="40">
                    <c:v>40</c:v>
                  </c:pt>
                  <c:pt idx="41">
                    <c:v> </c:v>
                  </c:pt>
                  <c:pt idx="42">
                    <c:v> </c:v>
                  </c:pt>
                  <c:pt idx="43">
                    <c:v> </c:v>
                  </c:pt>
                  <c:pt idx="44">
                    <c:v> </c:v>
                  </c:pt>
                  <c:pt idx="45">
                    <c:v>45</c:v>
                  </c:pt>
                  <c:pt idx="46">
                    <c:v> </c:v>
                  </c:pt>
                  <c:pt idx="47">
                    <c:v> </c:v>
                  </c:pt>
                  <c:pt idx="48">
                    <c:v> </c:v>
                  </c:pt>
                  <c:pt idx="49">
                    <c:v> </c:v>
                  </c:pt>
                </c:lvl>
              </c:multiLvlStrCache>
            </c:multiLvlStrRef>
          </c:cat>
          <c:val>
            <c:numRef>
              <c:f>Sheet1!$D$2:$D$51</c:f>
              <c:numCache>
                <c:formatCode>General</c:formatCode>
                <c:ptCount val="50"/>
                <c:pt idx="0">
                  <c:v>3.4039</c:v>
                </c:pt>
                <c:pt idx="1">
                  <c:v>3.402</c:v>
                </c:pt>
                <c:pt idx="2">
                  <c:v>3.4001</c:v>
                </c:pt>
                <c:pt idx="3">
                  <c:v>3.3917</c:v>
                </c:pt>
                <c:pt idx="4">
                  <c:v>3.3861</c:v>
                </c:pt>
                <c:pt idx="5">
                  <c:v>3.3898</c:v>
                </c:pt>
                <c:pt idx="6">
                  <c:v>3.4011</c:v>
                </c:pt>
                <c:pt idx="7">
                  <c:v>3.4039</c:v>
                </c:pt>
                <c:pt idx="8">
                  <c:v>3.4048</c:v>
                </c:pt>
                <c:pt idx="9">
                  <c:v>3.4029</c:v>
                </c:pt>
                <c:pt idx="10">
                  <c:v>3.4001</c:v>
                </c:pt>
                <c:pt idx="11">
                  <c:v>3.3973</c:v>
                </c:pt>
                <c:pt idx="12">
                  <c:v>3.3889</c:v>
                </c:pt>
                <c:pt idx="13">
                  <c:v>3.3851</c:v>
                </c:pt>
                <c:pt idx="14">
                  <c:v>3.3954</c:v>
                </c:pt>
                <c:pt idx="15">
                  <c:v>3.4209</c:v>
                </c:pt>
                <c:pt idx="16">
                  <c:v>3.4048</c:v>
                </c:pt>
                <c:pt idx="17">
                  <c:v>3.3473</c:v>
                </c:pt>
                <c:pt idx="18">
                  <c:v>3.2672</c:v>
                </c:pt>
                <c:pt idx="19">
                  <c:v>3.3391</c:v>
                </c:pt>
                <c:pt idx="20">
                  <c:v>3.3238</c:v>
                </c:pt>
                <c:pt idx="21">
                  <c:v>3.305</c:v>
                </c:pt>
                <c:pt idx="22">
                  <c:v>3.3247</c:v>
                </c:pt>
                <c:pt idx="23">
                  <c:v>3.3861</c:v>
                </c:pt>
                <c:pt idx="24">
                  <c:v>3.4478</c:v>
                </c:pt>
                <c:pt idx="25">
                  <c:v>3.3964</c:v>
                </c:pt>
                <c:pt idx="26">
                  <c:v>3.4527</c:v>
                </c:pt>
                <c:pt idx="27">
                  <c:v>3.4761</c:v>
                </c:pt>
                <c:pt idx="28">
                  <c:v>3.48</c:v>
                </c:pt>
                <c:pt idx="29">
                  <c:v>3.4989</c:v>
                </c:pt>
                <c:pt idx="30">
                  <c:v>3.5219</c:v>
                </c:pt>
                <c:pt idx="31">
                  <c:v>3.4999</c:v>
                </c:pt>
                <c:pt idx="32">
                  <c:v>3.5109</c:v>
                </c:pt>
                <c:pt idx="33">
                  <c:v>3.4909</c:v>
                </c:pt>
                <c:pt idx="34">
                  <c:v>3.4124</c:v>
                </c:pt>
                <c:pt idx="35">
                  <c:v>3.4643</c:v>
                </c:pt>
                <c:pt idx="36">
                  <c:v>3.4692</c:v>
                </c:pt>
                <c:pt idx="37">
                  <c:v>3.4152</c:v>
                </c:pt>
                <c:pt idx="38">
                  <c:v>3.3657</c:v>
                </c:pt>
                <c:pt idx="39">
                  <c:v>3.4077</c:v>
                </c:pt>
                <c:pt idx="40">
                  <c:v>3.3693</c:v>
                </c:pt>
                <c:pt idx="41">
                  <c:v>3.2785</c:v>
                </c:pt>
                <c:pt idx="42">
                  <c:v>3.3574</c:v>
                </c:pt>
                <c:pt idx="43">
                  <c:v>3.3211</c:v>
                </c:pt>
                <c:pt idx="44">
                  <c:v>3.313</c:v>
                </c:pt>
                <c:pt idx="45">
                  <c:v>3.3355</c:v>
                </c:pt>
                <c:pt idx="46">
                  <c:v>3.351</c:v>
                </c:pt>
                <c:pt idx="47">
                  <c:v>3.2926</c:v>
                </c:pt>
                <c:pt idx="48">
                  <c:v>3.1711</c:v>
                </c:pt>
                <c:pt idx="49">
                  <c:v>3.0774</c:v>
                </c:pt>
              </c:numCache>
            </c:numRef>
          </c:val>
          <c:smooth val="0"/>
        </c:ser>
        <c:ser>
          <c:idx val="3"/>
          <c:order val="3"/>
          <c:tx>
            <c:strRef>
              <c:f>Sheet1!$E$1</c:f>
              <c:strCache>
                <c:ptCount val="1"/>
                <c:pt idx="0">
                  <c:v>DRHE, lag 1</c:v>
                </c:pt>
              </c:strCache>
            </c:strRef>
          </c:tx>
          <c:spPr>
            <a:solidFill>
              <a:srgbClr val="8CC7D8"/>
            </a:solidFill>
            <a:ln w="25400" cap="flat">
              <a:solidFill>
                <a:srgbClr val="8CC7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C7D8"/>
              </a:solidFill>
              <a:ln w="9525" cap="flat">
                <a:solidFill>
                  <a:srgbClr val="8CC7D8"/>
                </a:solidFill>
                <a:prstDash val="solid"/>
                <a:round/>
              </a:ln>
              <a:effectLst/>
            </c:spPr>
          </c:marker>
          <c:cat>
            <c:multiLvlStrRef>
              <c:f>Sheet1!$A$2:$A$51</c:f>
              <c:multiLvlStrCache>
                <c:ptCount val="50"/>
                <c:lvl>
                  <c:pt idx="0">
                    <c:v>0</c:v>
                  </c:pt>
                  <c:pt idx="1">
                    <c:v> </c:v>
                  </c:pt>
                  <c:pt idx="2">
                    <c:v> </c:v>
                  </c:pt>
                  <c:pt idx="3">
                    <c:v> </c:v>
                  </c:pt>
                  <c:pt idx="4">
                    <c:v> </c:v>
                  </c:pt>
                  <c:pt idx="5">
                    <c:v>5</c:v>
                  </c:pt>
                  <c:pt idx="6">
                    <c:v> </c:v>
                  </c:pt>
                  <c:pt idx="7">
                    <c:v> </c:v>
                  </c:pt>
                  <c:pt idx="8">
                    <c:v> </c:v>
                  </c:pt>
                  <c:pt idx="9">
                    <c:v> </c:v>
                  </c:pt>
                  <c:pt idx="10">
                    <c:v>10</c:v>
                  </c:pt>
                  <c:pt idx="11">
                    <c:v> </c:v>
                  </c:pt>
                  <c:pt idx="12">
                    <c:v> </c:v>
                  </c:pt>
                  <c:pt idx="13">
                    <c:v> </c:v>
                  </c:pt>
                  <c:pt idx="14">
                    <c:v> </c:v>
                  </c:pt>
                  <c:pt idx="15">
                    <c:v>15</c:v>
                  </c:pt>
                  <c:pt idx="16">
                    <c:v> </c:v>
                  </c:pt>
                  <c:pt idx="17">
                    <c:v> </c:v>
                  </c:pt>
                  <c:pt idx="18">
                    <c:v> </c:v>
                  </c:pt>
                  <c:pt idx="19">
                    <c:v> </c:v>
                  </c:pt>
                  <c:pt idx="20">
                    <c:v>20</c:v>
                  </c:pt>
                  <c:pt idx="21">
                    <c:v> </c:v>
                  </c:pt>
                  <c:pt idx="22">
                    <c:v> </c:v>
                  </c:pt>
                  <c:pt idx="23">
                    <c:v> </c:v>
                  </c:pt>
                  <c:pt idx="24">
                    <c:v> </c:v>
                  </c:pt>
                  <c:pt idx="25">
                    <c:v>25</c:v>
                  </c:pt>
                  <c:pt idx="26">
                    <c:v> </c:v>
                  </c:pt>
                  <c:pt idx="27">
                    <c:v> </c:v>
                  </c:pt>
                  <c:pt idx="28">
                    <c:v> </c:v>
                  </c:pt>
                  <c:pt idx="29">
                    <c:v> </c:v>
                  </c:pt>
                  <c:pt idx="30">
                    <c:v>30</c:v>
                  </c:pt>
                  <c:pt idx="31">
                    <c:v> </c:v>
                  </c:pt>
                  <c:pt idx="32">
                    <c:v> </c:v>
                  </c:pt>
                  <c:pt idx="33">
                    <c:v> </c:v>
                  </c:pt>
                  <c:pt idx="34">
                    <c:v> </c:v>
                  </c:pt>
                  <c:pt idx="35">
                    <c:v>35</c:v>
                  </c:pt>
                  <c:pt idx="36">
                    <c:v> </c:v>
                  </c:pt>
                  <c:pt idx="37">
                    <c:v> </c:v>
                  </c:pt>
                  <c:pt idx="38">
                    <c:v> </c:v>
                  </c:pt>
                  <c:pt idx="39">
                    <c:v> </c:v>
                  </c:pt>
                  <c:pt idx="40">
                    <c:v>40</c:v>
                  </c:pt>
                  <c:pt idx="41">
                    <c:v> </c:v>
                  </c:pt>
                  <c:pt idx="42">
                    <c:v> </c:v>
                  </c:pt>
                  <c:pt idx="43">
                    <c:v> </c:v>
                  </c:pt>
                  <c:pt idx="44">
                    <c:v> </c:v>
                  </c:pt>
                  <c:pt idx="45">
                    <c:v>45</c:v>
                  </c:pt>
                  <c:pt idx="46">
                    <c:v> </c:v>
                  </c:pt>
                  <c:pt idx="47">
                    <c:v> </c:v>
                  </c:pt>
                  <c:pt idx="48">
                    <c:v> </c:v>
                  </c:pt>
                  <c:pt idx="49">
                    <c:v> </c:v>
                  </c:pt>
                </c:lvl>
              </c:multiLvlStrCache>
            </c:multiLvlStrRef>
          </c:cat>
          <c:val>
            <c:numRef>
              <c:f>Sheet1!$E$2:$E$51</c:f>
              <c:numCache>
                <c:formatCode>General</c:formatCode>
                <c:ptCount val="50"/>
                <c:pt idx="0">
                  <c:v>3.331</c:v>
                </c:pt>
                <c:pt idx="1">
                  <c:v>3.3265</c:v>
                </c:pt>
                <c:pt idx="2">
                  <c:v>3.3211</c:v>
                </c:pt>
                <c:pt idx="3">
                  <c:v>3.3121</c:v>
                </c:pt>
                <c:pt idx="4">
                  <c:v>3.3023</c:v>
                </c:pt>
                <c:pt idx="5">
                  <c:v>3.3112</c:v>
                </c:pt>
                <c:pt idx="6">
                  <c:v>3.3238</c:v>
                </c:pt>
                <c:pt idx="7">
                  <c:v>3.3292</c:v>
                </c:pt>
                <c:pt idx="8">
                  <c:v>3.3292</c:v>
                </c:pt>
                <c:pt idx="9">
                  <c:v>3.3256</c:v>
                </c:pt>
                <c:pt idx="10">
                  <c:v>3.3202</c:v>
                </c:pt>
                <c:pt idx="11">
                  <c:v>3.3121</c:v>
                </c:pt>
                <c:pt idx="12">
                  <c:v>3.3015</c:v>
                </c:pt>
                <c:pt idx="13">
                  <c:v>3.3112</c:v>
                </c:pt>
                <c:pt idx="14">
                  <c:v>3.3337</c:v>
                </c:pt>
                <c:pt idx="15">
                  <c:v>3.374</c:v>
                </c:pt>
                <c:pt idx="16">
                  <c:v>3.3464</c:v>
                </c:pt>
                <c:pt idx="17">
                  <c:v>3.3023</c:v>
                </c:pt>
                <c:pt idx="18">
                  <c:v>3.1736</c:v>
                </c:pt>
                <c:pt idx="19">
                  <c:v>3.2577</c:v>
                </c:pt>
                <c:pt idx="20">
                  <c:v>3.2586</c:v>
                </c:pt>
                <c:pt idx="21">
                  <c:v>3.2328</c:v>
                </c:pt>
                <c:pt idx="22">
                  <c:v>3.2517</c:v>
                </c:pt>
                <c:pt idx="23">
                  <c:v>3.3265</c:v>
                </c:pt>
                <c:pt idx="24">
                  <c:v>3.402</c:v>
                </c:pt>
                <c:pt idx="25">
                  <c:v>3.3283</c:v>
                </c:pt>
                <c:pt idx="26">
                  <c:v>3.3945</c:v>
                </c:pt>
                <c:pt idx="27">
                  <c:v>3.4152</c:v>
                </c:pt>
                <c:pt idx="28">
                  <c:v>3.4143</c:v>
                </c:pt>
                <c:pt idx="29">
                  <c:v>3.4314</c:v>
                </c:pt>
                <c:pt idx="30">
                  <c:v>3.4692</c:v>
                </c:pt>
                <c:pt idx="31">
                  <c:v>3.4459</c:v>
                </c:pt>
                <c:pt idx="32">
                  <c:v>3.4527</c:v>
                </c:pt>
                <c:pt idx="33">
                  <c:v>3.4314</c:v>
                </c:pt>
                <c:pt idx="34">
                  <c:v>3.3148</c:v>
                </c:pt>
                <c:pt idx="35">
                  <c:v>3.3917</c:v>
                </c:pt>
                <c:pt idx="36">
                  <c:v>3.4001</c:v>
                </c:pt>
                <c:pt idx="37">
                  <c:v>3.3139</c:v>
                </c:pt>
                <c:pt idx="38">
                  <c:v>3.2551</c:v>
                </c:pt>
                <c:pt idx="39">
                  <c:v>3.3455</c:v>
                </c:pt>
                <c:pt idx="40">
                  <c:v>3.3032</c:v>
                </c:pt>
                <c:pt idx="41">
                  <c:v>3.221</c:v>
                </c:pt>
                <c:pt idx="42">
                  <c:v>3.2856</c:v>
                </c:pt>
                <c:pt idx="43">
                  <c:v>3.262</c:v>
                </c:pt>
                <c:pt idx="44">
                  <c:v>3.2371</c:v>
                </c:pt>
                <c:pt idx="45">
                  <c:v>3.2431</c:v>
                </c:pt>
                <c:pt idx="46">
                  <c:v>3.2517</c:v>
                </c:pt>
                <c:pt idx="47">
                  <c:v>3.1875</c:v>
                </c:pt>
                <c:pt idx="48">
                  <c:v>3.0431</c:v>
                </c:pt>
                <c:pt idx="49">
                  <c:v>2.939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675"/>
                    </a:solidFill>
                    <a:latin typeface="Arial"/>
                  </a:defRPr>
                </a:pPr>
                <a:r>
                  <a:rPr sz="1000" b="0" i="0" u="none" strike="noStrike">
                    <a:solidFill>
                      <a:srgbClr val="5B6675"/>
                    </a:solidFill>
                    <a:latin typeface="Arial"/>
                  </a:rPr>
                  <a:t>frame</a:t>
                </a:r>
              </a:p>
            </c:rich>
          </c:tx>
          <c:layout/>
          <c:overlay val="0"/>
        </c:title>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3.9"/>
          <c:min val="2.9"/>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compression ratio</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0.1"/>
      </c:valAx>
      <c:spPr>
        <a:noFill/>
        <a:ln>
          <a:noFill/>
        </a:ln>
        <a:effectLst/>
      </c:spPr>
    </c:plotArea>
    <c:legend>
      <c:legendPos val="r"/>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675"/>
                </a:solidFill>
                <a:latin typeface="Calibri"/>
              </a:defRPr>
            </a:pPr>
            <a:r>
              <a:rPr sz="1100" b="0" i="0" u="none" strike="noStrike">
                <a:solidFill>
                  <a:srgbClr val="5B6675"/>
                </a:solidFill>
                <a:latin typeface="Calibri"/>
              </a:rPr>
              <a:t>Where corrected-LPC residuals fall (% of values)</a:t>
            </a:r>
          </a:p>
        </c:rich>
      </c:tx>
      <c:layout/>
      <c:overlay val="0"/>
    </c:title>
    <c:autoTitleDeleted val="0"/>
    <c:plotArea>
      <c:layout/>
      <c:barChart>
        <c:barDir val="col"/>
        <c:grouping val="clustered"/>
        <c:varyColors val="0"/>
        <c:ser>
          <c:idx val="0"/>
          <c:order val="0"/>
          <c:tx>
            <c:strRef>
              <c:f>Sheet1!$B$1</c:f>
              <c:strCache>
                <c:ptCount val="1"/>
                <c:pt idx="0">
                  <c:v>LPC lags 12,24 residuals</c:v>
                </c:pt>
              </c:strCache>
            </c:strRef>
          </c:tx>
          <c:spPr>
            <a:solidFill>
              <a:srgbClr val="C96A12"/>
            </a:solidFill>
            <a:effectLst/>
          </c:spPr>
          <c:invertIfNegative val="0"/>
          <c:dLbls>
            <c:numFmt formatCode="0.0" sourceLinked="0"/>
            <c:txPr>
              <a:bodyPr/>
              <a:lstStyle/>
              <a:p>
                <a:pPr>
                  <a:defRPr b="0" i="0" strike="noStrike" sz="950" u="none">
                    <a:solidFill>
                      <a:srgbClr val="1F2A37"/>
                    </a:solidFill>
                    <a:latin typeface="Arial"/>
                  </a:defRPr>
                </a:pPr>
              </a:p>
            </c:txPr>
            <c:showLegendKey val="0"/>
            <c:showVal val="1"/>
            <c:showCatName val="0"/>
            <c:showSerName val="0"/>
            <c:showPercent val="0"/>
            <c:showBubbleSize val="0"/>
            <c:showLeaderLines val="0"/>
          </c:dLbls>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23.77</c:v>
                </c:pt>
                <c:pt idx="1">
                  <c:v>38.5</c:v>
                </c:pt>
                <c:pt idx="2">
                  <c:v>30.67</c:v>
                </c:pt>
                <c:pt idx="3">
                  <c:v>5.81</c:v>
                </c:pt>
                <c:pt idx="4">
                  <c:v>0.91</c:v>
                </c:pt>
                <c:pt idx="5">
                  <c:v>0.19</c:v>
                </c:pt>
                <c:pt idx="6">
                  <c:v>0.07</c:v>
                </c:pt>
                <c:pt idx="7">
                  <c:v>0.07</c:v>
                </c:pt>
                <c:pt idx="8">
                  <c:v>0.01</c:v>
                </c:pt>
              </c:numCache>
            </c:numRef>
          </c:val>
        </c:ser>
        <c:dLbls>
          <c:numFmt formatCode="0.0" sourceLinked="0"/>
          <c:txPr>
            <a:bodyPr/>
            <a:lstStyle/>
            <a:p>
              <a:pPr>
                <a:defRPr b="0" i="0" strike="noStrike" sz="950" u="none">
                  <a:solidFill>
                    <a:srgbClr val="1F2A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675"/>
                    </a:solidFill>
                    <a:latin typeface="Arial"/>
                  </a:defRPr>
                </a:pPr>
                <a:r>
                  <a:rPr sz="1000" b="0" i="0" u="none" strike="noStrike">
                    <a:solidFill>
                      <a:srgbClr val="5B6675"/>
                    </a:solidFill>
                    <a:latin typeface="Arial"/>
                  </a:rPr>
                  <a:t>S4 category (bits needed for |residual|)</a:t>
                </a:r>
              </a:p>
            </c:rich>
          </c:tx>
          <c:layout/>
          <c:overlay val="0"/>
        </c:title>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675"/>
                </a:solidFill>
                <a:latin typeface="Calibri"/>
              </a:defRPr>
            </a:pPr>
            <a:r>
              <a:rPr sz="1100" b="0" i="0" u="none" strike="noStrike">
                <a:solidFill>
                  <a:srgbClr val="5B6675"/>
                </a:solidFill>
                <a:latin typeface="Calibri"/>
              </a:rPr>
              <a:t>Bits to code one value in each category</a:t>
            </a:r>
          </a:p>
        </c:rich>
      </c:tx>
      <c:layout/>
      <c:overlay val="0"/>
    </c:title>
    <c:autoTitleDeleted val="0"/>
    <c:plotArea>
      <c:layout/>
      <c:barChart>
        <c:barDir val="col"/>
        <c:grouping val="clustered"/>
        <c:varyColors val="0"/>
        <c:ser>
          <c:idx val="0"/>
          <c:order val="0"/>
          <c:tx>
            <c:strRef>
              <c:f>Sheet1!$B$1</c:f>
              <c:strCache>
                <c:ptCount val="1"/>
                <c:pt idx="0">
                  <c:v>Kiem's fixed dictionary</c:v>
                </c:pt>
              </c:strCache>
            </c:strRef>
          </c:tx>
          <c:spPr>
            <a:solidFill>
              <a:srgbClr val="A832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4</c:v>
                </c:pt>
                <c:pt idx="1">
                  <c:v>4</c:v>
                </c:pt>
                <c:pt idx="2">
                  <c:v>4</c:v>
                </c:pt>
                <c:pt idx="3">
                  <c:v>5</c:v>
                </c:pt>
                <c:pt idx="4">
                  <c:v>6</c:v>
                </c:pt>
                <c:pt idx="5">
                  <c:v>10</c:v>
                </c:pt>
                <c:pt idx="6">
                  <c:v>12</c:v>
                </c:pt>
                <c:pt idx="7">
                  <c:v>14</c:v>
                </c:pt>
                <c:pt idx="8">
                  <c:v>16</c:v>
                </c:pt>
              </c:numCache>
            </c:numRef>
          </c:val>
        </c:ser>
        <c:ser>
          <c:idx val="1"/>
          <c:order val="1"/>
          <c:tx>
            <c:strRef>
              <c:f>Sheet1!$C$1</c:f>
              <c:strCache>
                <c:ptCount val="1"/>
                <c:pt idx="0">
                  <c:v>Re-derived for LPC</c:v>
                </c:pt>
              </c:strCache>
            </c:strRef>
          </c:tx>
          <c:spPr>
            <a:solidFill>
              <a:srgbClr val="6A4B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Sheet1!$C$2:$C$10</c:f>
              <c:numCache>
                <c:formatCode>General</c:formatCode>
                <c:ptCount val="9"/>
                <c:pt idx="0">
                  <c:v>3</c:v>
                </c:pt>
                <c:pt idx="1">
                  <c:v>2</c:v>
                </c:pt>
                <c:pt idx="2">
                  <c:v>4</c:v>
                </c:pt>
                <c:pt idx="3">
                  <c:v>7</c:v>
                </c:pt>
                <c:pt idx="4">
                  <c:v>9</c:v>
                </c:pt>
                <c:pt idx="5">
                  <c:v>11</c:v>
                </c:pt>
                <c:pt idx="6">
                  <c:v>13</c:v>
                </c:pt>
                <c:pt idx="7">
                  <c:v>15</c:v>
                </c:pt>
                <c:pt idx="8">
                  <c:v>17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675"/>
                    </a:solidFill>
                    <a:latin typeface="Arial"/>
                  </a:defRPr>
                </a:pPr>
                <a:r>
                  <a:rPr sz="1000" b="0" i="0" u="none" strike="noStrike">
                    <a:solidFill>
                      <a:srgbClr val="5B6675"/>
                    </a:solidFill>
                    <a:latin typeface="Arial"/>
                  </a:rPr>
                  <a:t>S4 category</a:t>
                </a:r>
              </a:p>
            </c:rich>
          </c:tx>
          <c:layout/>
          <c:overlay val="0"/>
        </c:title>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4"/>
      </c:valAx>
      <c:spPr>
        <a:noFill/>
        <a:ln>
          <a:noFill/>
        </a:ln>
        <a:effectLst/>
      </c:spPr>
    </c:plotArea>
    <c:legend>
      <c:legendPos val="t"/>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Kiem's fixed dictionary</c:v>
                </c:pt>
              </c:strCache>
            </c:strRef>
          </c:tx>
          <c:spPr>
            <a:solidFill>
              <a:srgbClr val="A8324A"/>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Sheet1!$A$2:$A$6</c:f>
              <c:multiLvlStrCache>
                <c:ptCount val="5"/>
                <c:lvl>
                  <c:pt idx="0">
                    <c:v>No pred.</c:v>
                  </c:pt>
                  <c:pt idx="1">
                    <c:v>DRHE lag 1</c:v>
                  </c:pt>
                  <c:pt idx="2">
                    <c:v>LPC 1,2</c:v>
                  </c:pt>
                  <c:pt idx="3">
                    <c:v>DRHE lag 12</c:v>
                  </c:pt>
                  <c:pt idx="4">
                    <c:v>LPC 12,24</c:v>
                  </c:pt>
                </c:lvl>
              </c:multiLvlStrCache>
            </c:multiLvlStrRef>
          </c:cat>
          <c:val>
            <c:numRef>
              <c:f>Sheet1!$B$2:$B$6</c:f>
              <c:numCache>
                <c:formatCode>General</c:formatCode>
                <c:ptCount val="5"/>
                <c:pt idx="0">
                  <c:v>3.478</c:v>
                </c:pt>
                <c:pt idx="1">
                  <c:v>3.309</c:v>
                </c:pt>
                <c:pt idx="2">
                  <c:v>3.384</c:v>
                </c:pt>
                <c:pt idx="3">
                  <c:v>3.748</c:v>
                </c:pt>
                <c:pt idx="4">
                  <c:v>3.691</c:v>
                </c:pt>
              </c:numCache>
            </c:numRef>
          </c:val>
        </c:ser>
        <c:ser>
          <c:idx val="1"/>
          <c:order val="1"/>
          <c:tx>
            <c:strRef>
              <c:f>Sheet1!$C$1</c:f>
              <c:strCache>
                <c:ptCount val="1"/>
                <c:pt idx="0">
                  <c:v>Dictionary re-derived on frames 0–4</c:v>
                </c:pt>
              </c:strCache>
            </c:strRef>
          </c:tx>
          <c:spPr>
            <a:solidFill>
              <a:srgbClr val="6A4BC4"/>
            </a:solidFill>
            <a:effectLst/>
          </c:spPr>
          <c:invertIfNegative val="0"/>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cat>
            <c:multiLvlStrRef>
              <c:f>Sheet1!$A$2:$A$6</c:f>
              <c:multiLvlStrCache>
                <c:ptCount val="5"/>
                <c:lvl>
                  <c:pt idx="0">
                    <c:v>No pred.</c:v>
                  </c:pt>
                  <c:pt idx="1">
                    <c:v>DRHE lag 1</c:v>
                  </c:pt>
                  <c:pt idx="2">
                    <c:v>LPC 1,2</c:v>
                  </c:pt>
                  <c:pt idx="3">
                    <c:v>DRHE lag 12</c:v>
                  </c:pt>
                  <c:pt idx="4">
                    <c:v>LPC 12,24</c:v>
                  </c:pt>
                </c:lvl>
              </c:multiLvlStrCache>
            </c:multiLvlStrRef>
          </c:cat>
          <c:val>
            <c:numRef>
              <c:f>Sheet1!$C$2:$C$6</c:f>
              <c:numCache>
                <c:formatCode>General</c:formatCode>
                <c:ptCount val="5"/>
                <c:pt idx="0">
                  <c:v>3.72</c:v>
                </c:pt>
                <c:pt idx="1">
                  <c:v>3.419</c:v>
                </c:pt>
                <c:pt idx="2">
                  <c:v>3.64</c:v>
                </c:pt>
                <c:pt idx="3">
                  <c:v>4.207</c:v>
                </c:pt>
                <c:pt idx="4">
                  <c:v>4.371</c:v>
                </c:pt>
              </c:numCache>
            </c:numRef>
          </c:val>
        </c:ser>
        <c:dLbls>
          <c:numFmt formatCode="0.000" sourceLinked="0"/>
          <c:txPr>
            <a:bodyPr/>
            <a:lstStyle/>
            <a:p>
              <a:pPr>
                <a:defRPr b="0" i="0" strike="noStrike" sz="900" u="none">
                  <a:solidFill>
                    <a:srgbClr val="1F2A3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05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CR on held-out frames 5–49</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Kiem's fixed dictionary</c:v>
                </c:pt>
              </c:strCache>
            </c:strRef>
          </c:tx>
          <c:spPr>
            <a:solidFill>
              <a:srgbClr val="A8324A"/>
            </a:solidFill>
            <a:effectLst/>
          </c:spPr>
          <c:invertIfNegative val="0"/>
          <c:dLbls>
            <c:numFmt formatCode="0.00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DRHE, lag 12</c:v>
                  </c:pt>
                  <c:pt idx="1">
                    <c:v>LPC, lags 12, 24</c:v>
                  </c:pt>
                </c:lvl>
              </c:multiLvlStrCache>
            </c:multiLvlStrRef>
          </c:cat>
          <c:val>
            <c:numRef>
              <c:f>Sheet1!$B$2:$B$3</c:f>
              <c:numCache>
                <c:formatCode>General</c:formatCode>
                <c:ptCount val="2"/>
                <c:pt idx="0">
                  <c:v>4.24</c:v>
                </c:pt>
                <c:pt idx="1">
                  <c:v>4.102</c:v>
                </c:pt>
              </c:numCache>
            </c:numRef>
          </c:val>
        </c:ser>
        <c:ser>
          <c:idx val="1"/>
          <c:order val="1"/>
          <c:tx>
            <c:strRef>
              <c:f>Sheet1!$C$1</c:f>
              <c:strCache>
                <c:ptCount val="1"/>
                <c:pt idx="0">
                  <c:v>Ideal S4 dictionary</c:v>
                </c:pt>
              </c:strCache>
            </c:strRef>
          </c:tx>
          <c:spPr>
            <a:solidFill>
              <a:srgbClr val="6A4BC4"/>
            </a:solidFill>
            <a:effectLst/>
          </c:spPr>
          <c:invertIfNegative val="0"/>
          <c:dLbls>
            <c:numFmt formatCode="0.00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DRHE, lag 12</c:v>
                  </c:pt>
                  <c:pt idx="1">
                    <c:v>LPC, lags 12, 24</c:v>
                  </c:pt>
                </c:lvl>
              </c:multiLvlStrCache>
            </c:multiLvlStrRef>
          </c:cat>
          <c:val>
            <c:numRef>
              <c:f>Sheet1!$C$2:$C$3</c:f>
              <c:numCache>
                <c:formatCode>General</c:formatCode>
                <c:ptCount val="2"/>
                <c:pt idx="0">
                  <c:v>3.711</c:v>
                </c:pt>
                <c:pt idx="1">
                  <c:v>3.242</c:v>
                </c:pt>
              </c:numCache>
            </c:numRef>
          </c:val>
        </c:ser>
        <c:ser>
          <c:idx val="2"/>
          <c:order val="2"/>
          <c:tx>
            <c:strRef>
              <c:f>Sheet1!$D$1</c:f>
              <c:strCache>
                <c:ptCount val="1"/>
                <c:pt idx="0">
                  <c:v>Order-0 entropy (floor)</c:v>
                </c:pt>
              </c:strCache>
            </c:strRef>
          </c:tx>
          <c:spPr>
            <a:solidFill>
              <a:srgbClr val="8C95A3"/>
            </a:solidFill>
            <a:effectLst/>
          </c:spPr>
          <c:invertIfNegative val="0"/>
          <c:dLbls>
            <c:numFmt formatCode="0.00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DRHE, lag 12</c:v>
                  </c:pt>
                  <c:pt idx="1">
                    <c:v>LPC, lags 12, 24</c:v>
                  </c:pt>
                </c:lvl>
              </c:multiLvlStrCache>
            </c:multiLvlStrRef>
          </c:cat>
          <c:val>
            <c:numRef>
              <c:f>Sheet1!$D$2:$D$3</c:f>
              <c:numCache>
                <c:formatCode>General</c:formatCode>
                <c:ptCount val="2"/>
                <c:pt idx="0">
                  <c:v>3.516</c:v>
                </c:pt>
                <c:pt idx="1">
                  <c:v>3.04</c:v>
                </c:pt>
              </c:numCache>
            </c:numRef>
          </c:val>
        </c:ser>
        <c:dLbls>
          <c:numFmt formatCode="0.000" sourceLinked="0"/>
          <c:txPr>
            <a:bodyPr/>
            <a:lstStyle/>
            <a:p>
              <a:pPr>
                <a:defRPr b="0" i="0" strike="noStrike" sz="1000" u="none">
                  <a:solidFill>
                    <a:srgbClr val="1F2A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bits per value, residuals only (lower is better)</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DRHE, Kiem's coder (R4S4 + RLE)</c:v>
                </c:pt>
              </c:strCache>
            </c:strRef>
          </c:tx>
          <c:spPr>
            <a:solidFill>
              <a:srgbClr val="007FA3"/>
            </a:solidFill>
            <a:ln w="25400" cap="flat">
              <a:solidFill>
                <a:srgbClr val="007F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7FA3"/>
              </a:solidFill>
              <a:ln w="9525" cap="flat">
                <a:solidFill>
                  <a:srgbClr val="007FA3"/>
                </a:solidFill>
                <a:prstDash val="solid"/>
                <a:round/>
              </a:ln>
              <a:effectLst/>
            </c:spPr>
          </c:marker>
          <c:cat>
            <c:multiLvlStrRef>
              <c:f>Sheet1!$A$2:$A$10</c:f>
              <c:multiLvlStrCache>
                <c:ptCount val="9"/>
                <c:lvl>
                  <c:pt idx="0">
                    <c:v>-100</c:v>
                  </c:pt>
                  <c:pt idx="1">
                    <c:v>-95</c:v>
                  </c:pt>
                  <c:pt idx="2">
                    <c:v>-90</c:v>
                  </c:pt>
                  <c:pt idx="3">
                    <c:v>-85</c:v>
                  </c:pt>
                  <c:pt idx="4">
                    <c:v>-80</c:v>
                  </c:pt>
                  <c:pt idx="5">
                    <c:v>-75</c:v>
                  </c:pt>
                  <c:pt idx="6">
                    <c:v>-70</c:v>
                  </c:pt>
                  <c:pt idx="7">
                    <c:v>-65</c:v>
                  </c:pt>
                  <c:pt idx="8">
                    <c:v>-60</c:v>
                  </c:pt>
                </c:lvl>
              </c:multiLvlStrCache>
            </c:multiLvlStrRef>
          </c:cat>
          <c:val>
            <c:numRef>
              <c:f>Sheet1!$B$2:$B$10</c:f>
              <c:numCache>
                <c:formatCode>General</c:formatCode>
                <c:ptCount val="9"/>
                <c:pt idx="0">
                  <c:v>5.3829</c:v>
                </c:pt>
                <c:pt idx="1">
                  <c:v>4.2264</c:v>
                </c:pt>
                <c:pt idx="2">
                  <c:v>3.4659</c:v>
                </c:pt>
                <c:pt idx="3">
                  <c:v>2.9565</c:v>
                </c:pt>
                <c:pt idx="4">
                  <c:v>2.5779</c:v>
                </c:pt>
                <c:pt idx="5">
                  <c:v>2.2815</c:v>
                </c:pt>
                <c:pt idx="6">
                  <c:v>2.0403</c:v>
                </c:pt>
                <c:pt idx="7">
                  <c:v>1.8408</c:v>
                </c:pt>
                <c:pt idx="8">
                  <c:v>1.6859</c:v>
                </c:pt>
              </c:numCache>
            </c:numRef>
          </c:val>
          <c:smooth val="0"/>
        </c:ser>
        <c:ser>
          <c:idx val="1"/>
          <c:order val="1"/>
          <c:tx>
            <c:strRef>
              <c:f>Sheet1!$C$1</c:f>
              <c:strCache>
                <c:ptCount val="1"/>
                <c:pt idx="0">
                  <c:v>Slow-time LPC (this thesis)</c:v>
                </c:pt>
              </c:strCache>
            </c:strRef>
          </c:tx>
          <c:spPr>
            <a:solidFill>
              <a:srgbClr val="C96A12"/>
            </a:solidFill>
            <a:ln w="25400" cap="flat">
              <a:solidFill>
                <a:srgbClr val="C96A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96A12"/>
              </a:solidFill>
              <a:ln w="9525" cap="flat">
                <a:solidFill>
                  <a:srgbClr val="C96A12"/>
                </a:solidFill>
                <a:prstDash val="solid"/>
                <a:round/>
              </a:ln>
              <a:effectLst/>
            </c:spPr>
          </c:marker>
          <c:cat>
            <c:multiLvlStrRef>
              <c:f>Sheet1!$A$2:$A$10</c:f>
              <c:multiLvlStrCache>
                <c:ptCount val="9"/>
                <c:lvl>
                  <c:pt idx="0">
                    <c:v>-100</c:v>
                  </c:pt>
                  <c:pt idx="1">
                    <c:v>-95</c:v>
                  </c:pt>
                  <c:pt idx="2">
                    <c:v>-90</c:v>
                  </c:pt>
                  <c:pt idx="3">
                    <c:v>-85</c:v>
                  </c:pt>
                  <c:pt idx="4">
                    <c:v>-80</c:v>
                  </c:pt>
                  <c:pt idx="5">
                    <c:v>-75</c:v>
                  </c:pt>
                  <c:pt idx="6">
                    <c:v>-70</c:v>
                  </c:pt>
                  <c:pt idx="7">
                    <c:v>-65</c:v>
                  </c:pt>
                  <c:pt idx="8">
                    <c:v>-60</c:v>
                  </c:pt>
                </c:lvl>
              </c:multiLvlStrCache>
            </c:multiLvlStrRef>
          </c:cat>
          <c:val>
            <c:numRef>
              <c:f>Sheet1!$C$2:$C$10</c:f>
              <c:numCache>
                <c:formatCode>General</c:formatCode>
                <c:ptCount val="9"/>
                <c:pt idx="0">
                  <c:v>3.8309</c:v>
                </c:pt>
                <c:pt idx="1">
                  <c:v>3.7555</c:v>
                </c:pt>
                <c:pt idx="2">
                  <c:v>3.5196</c:v>
                </c:pt>
                <c:pt idx="3">
                  <c:v>3.1572</c:v>
                </c:pt>
                <c:pt idx="4">
                  <c:v>2.6013</c:v>
                </c:pt>
                <c:pt idx="5">
                  <c:v>2.0625</c:v>
                </c:pt>
                <c:pt idx="6">
                  <c:v>1.6857</c:v>
                </c:pt>
                <c:pt idx="7">
                  <c:v>1.4278</c:v>
                </c:pt>
                <c:pt idx="8">
                  <c:v>1.2437</c:v>
                </c:pt>
              </c:numCache>
            </c:numRef>
          </c:val>
          <c:smooth val="0"/>
        </c:ser>
        <c:ser>
          <c:idx val="2"/>
          <c:order val="2"/>
          <c:tx>
            <c:strRef>
              <c:f>Sheet1!$D$1</c:f>
              <c:strCache>
                <c:ptCount val="1"/>
                <c:pt idx="0">
                  <c:v>LPC-Huffman on raw ADC (Kiem's LPC)</c:v>
                </c:pt>
              </c:strCache>
            </c:strRef>
          </c:tx>
          <c:spPr>
            <a:solidFill>
              <a:srgbClr val="A8324A"/>
            </a:solidFill>
            <a:ln w="25400" cap="flat">
              <a:solidFill>
                <a:srgbClr val="A832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A8324A"/>
              </a:solidFill>
              <a:ln w="9525" cap="flat">
                <a:solidFill>
                  <a:srgbClr val="A8324A"/>
                </a:solidFill>
                <a:prstDash val="solid"/>
                <a:round/>
              </a:ln>
              <a:effectLst/>
            </c:spPr>
          </c:marker>
          <c:cat>
            <c:multiLvlStrRef>
              <c:f>Sheet1!$A$2:$A$10</c:f>
              <c:multiLvlStrCache>
                <c:ptCount val="9"/>
                <c:lvl>
                  <c:pt idx="0">
                    <c:v>-100</c:v>
                  </c:pt>
                  <c:pt idx="1">
                    <c:v>-95</c:v>
                  </c:pt>
                  <c:pt idx="2">
                    <c:v>-90</c:v>
                  </c:pt>
                  <c:pt idx="3">
                    <c:v>-85</c:v>
                  </c:pt>
                  <c:pt idx="4">
                    <c:v>-80</c:v>
                  </c:pt>
                  <c:pt idx="5">
                    <c:v>-75</c:v>
                  </c:pt>
                  <c:pt idx="6">
                    <c:v>-70</c:v>
                  </c:pt>
                  <c:pt idx="7">
                    <c:v>-65</c:v>
                  </c:pt>
                  <c:pt idx="8">
                    <c:v>-60</c:v>
                  </c:pt>
                </c:lvl>
              </c:multiLvlStrCache>
            </c:multiLvlStrRef>
          </c:cat>
          <c:val>
            <c:numRef>
              <c:f>Sheet1!$D$2:$D$10</c:f>
              <c:numCache>
                <c:formatCode>General</c:formatCode>
                <c:ptCount val="9"/>
                <c:pt idx="0">
                  <c:v>1.7469</c:v>
                </c:pt>
                <c:pt idx="1">
                  <c:v>1.6753</c:v>
                </c:pt>
                <c:pt idx="2">
                  <c:v>1.5868</c:v>
                </c:pt>
                <c:pt idx="3">
                  <c:v>1.488</c:v>
                </c:pt>
                <c:pt idx="4">
                  <c:v>1.3993</c:v>
                </c:pt>
                <c:pt idx="5">
                  <c:v>1.3237</c:v>
                </c:pt>
                <c:pt idx="6">
                  <c:v>1.2572</c:v>
                </c:pt>
                <c:pt idx="7">
                  <c:v>1.2006</c:v>
                </c:pt>
                <c:pt idx="8">
                  <c:v>1.1457</c:v>
                </c:pt>
              </c:numCache>
            </c:numRef>
          </c:val>
          <c:smooth val="0"/>
        </c:ser>
        <c:ser>
          <c:idx val="3"/>
          <c:order val="3"/>
          <c:tx>
            <c:strRef>
              <c:f>Sheet1!$E$1</c:f>
              <c:strCache>
                <c:ptCount val="1"/>
                <c:pt idx="0">
                  <c:v>Kiem's reported CR, 3.25</c:v>
                </c:pt>
              </c:strCache>
            </c:strRef>
          </c:tx>
          <c:spPr>
            <a:solidFill>
              <a:srgbClr val="8C95A3"/>
            </a:solidFill>
            <a:ln w="25400" cap="flat">
              <a:solidFill>
                <a:srgbClr val="8C95A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C95A3"/>
              </a:solidFill>
              <a:ln w="9525" cap="flat">
                <a:solidFill>
                  <a:srgbClr val="8C95A3"/>
                </a:solidFill>
                <a:prstDash val="solid"/>
                <a:round/>
              </a:ln>
              <a:effectLst/>
            </c:spPr>
          </c:marker>
          <c:cat>
            <c:multiLvlStrRef>
              <c:f>Sheet1!$A$2:$A$10</c:f>
              <c:multiLvlStrCache>
                <c:ptCount val="9"/>
                <c:lvl>
                  <c:pt idx="0">
                    <c:v>-100</c:v>
                  </c:pt>
                  <c:pt idx="1">
                    <c:v>-95</c:v>
                  </c:pt>
                  <c:pt idx="2">
                    <c:v>-90</c:v>
                  </c:pt>
                  <c:pt idx="3">
                    <c:v>-85</c:v>
                  </c:pt>
                  <c:pt idx="4">
                    <c:v>-80</c:v>
                  </c:pt>
                  <c:pt idx="5">
                    <c:v>-75</c:v>
                  </c:pt>
                  <c:pt idx="6">
                    <c:v>-70</c:v>
                  </c:pt>
                  <c:pt idx="7">
                    <c:v>-65</c:v>
                  </c:pt>
                  <c:pt idx="8">
                    <c:v>-60</c:v>
                  </c:pt>
                </c:lvl>
              </c:multiLvlStrCache>
            </c:multiLvlStrRef>
          </c:cat>
          <c:val>
            <c:numRef>
              <c:f>Sheet1!$E$2:$E$10</c:f>
              <c:numCache>
                <c:formatCode>General</c:formatCode>
                <c:ptCount val="9"/>
                <c:pt idx="0">
                  <c:v>3.25</c:v>
                </c:pt>
                <c:pt idx="1">
                  <c:v>3.25</c:v>
                </c:pt>
                <c:pt idx="2">
                  <c:v>3.25</c:v>
                </c:pt>
                <c:pt idx="3">
                  <c:v>3.25</c:v>
                </c:pt>
                <c:pt idx="4">
                  <c:v>3.25</c:v>
                </c:pt>
                <c:pt idx="5">
                  <c:v>3.25</c:v>
                </c:pt>
                <c:pt idx="6">
                  <c:v>3.25</c:v>
                </c:pt>
                <c:pt idx="7">
                  <c:v>3.25</c:v>
                </c:pt>
                <c:pt idx="8">
                  <c:v>3.25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675"/>
                    </a:solidFill>
                    <a:latin typeface="Arial"/>
                  </a:defRPr>
                </a:pPr>
                <a:r>
                  <a:rPr sz="1000" b="0" i="0" u="none" strike="noStrike">
                    <a:solidFill>
                      <a:srgbClr val="5B6675"/>
                    </a:solidFill>
                    <a:latin typeface="Arial"/>
                  </a:rPr>
                  <a:t>noise floor after NCI (dBFS) — Kiem's scene, 1 TX</a:t>
                </a:r>
              </a:p>
            </c:rich>
          </c:tx>
          <c:layout/>
          <c:overlay val="0"/>
        </c:title>
        <c:numFmt formatCode="General" sourceLinked="1"/>
        <c:majorTickMark val="out"/>
        <c:minorTickMark val="none"/>
        <c:tickLblPos val="low"/>
        <c:spPr>
          <a:ln w="12700" cap="flat">
            <a:solidFill>
              <a:srgbClr val="D5DCE3"/>
            </a:solidFill>
            <a:prstDash val="solid"/>
            <a:round/>
          </a:ln>
        </c:spPr>
        <c:txPr>
          <a:bodyPr/>
          <a:lstStyle/>
          <a:p>
            <a:pPr>
              <a:defRPr sz="1000" b="0" i="0" u="none" strike="noStrike">
                <a:solidFill>
                  <a:srgbClr val="5B6675"/>
                </a:solidFill>
                <a:latin typeface="Calibri"/>
              </a:defRPr>
            </a:pPr>
            <a:endParaRPr lang="en-US"/>
          </a:p>
        </c:txPr>
        <c:crossAx val="2094734552"/>
        <c:crosses val="autoZero"/>
        <c:auto val="1"/>
        <c:lblAlgn val="ctr"/>
        <c:noMultiLvlLbl val="1"/>
      </c:catAx>
      <c:valAx>
        <c:axId val="2094734552"/>
        <c:scaling>
          <c:orientation val="minMax"/>
          <c:max val="5.5"/>
          <c:min val="1"/>
        </c:scaling>
        <c:delete val="0"/>
        <c:axPos val="l"/>
        <c:majorGridlines>
          <c:spPr>
            <a:ln w="6350" cap="flat">
              <a:solidFill>
                <a:srgbClr val="E3E8ED"/>
              </a:solidFill>
              <a:prstDash val="solid"/>
              <a:round/>
            </a:ln>
          </c:spPr>
        </c:majorGridlines>
        <c:title>
          <c:tx>
            <c:rich>
              <a:bodyPr/>
              <a:lstStyle/>
              <a:p>
                <a:pPr>
                  <a:defRPr sz="1000" b="0" i="0" u="none" strike="noStrike">
                    <a:solidFill>
                      <a:srgbClr val="5B6675"/>
                    </a:solidFill>
                    <a:latin typeface="Arial"/>
                  </a:defRPr>
                </a:pPr>
                <a:r>
                  <a:rPr sz="1000" b="0" i="0" u="none" strike="noStrike">
                    <a:solidFill>
                      <a:srgbClr val="5B6675"/>
                    </a:solidFill>
                    <a:latin typeface="Arial"/>
                  </a:rPr>
                  <a:t>compression ratio</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0.5"/>
      </c:valAx>
      <c:spPr>
        <a:noFill/>
        <a:ln>
          <a:noFill/>
        </a:ln>
        <a:effectLst/>
      </c:spPr>
    </c:plotArea>
    <c:legend>
      <c:legendPos val="b"/>
      <c:overlay val="0"/>
      <c:txPr>
        <a:bodyPr/>
        <a:lstStyle/>
        <a:p>
          <a:pPr>
            <a:defRPr sz="1000">
              <a:solidFill>
                <a:srgbClr val="1F2A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results in four parts: (1) the prediction-lag problem both algorithms had on a TDM-MIMO radar, (2) the DRHE vs LPC comparison once corrected, (3) the Huffman dictionary and how re-deriving it helps LPC most, (4) how all of this compares with Kiem's thesis, which this work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compressors share the entropy coder exactly: S4 category, APPEND bits and Kiem's fixed Huffman dictionary. So any difference in ratio between them is the predictor. The predictor turns each FX16 sample into a small residual; the coder spends few bits on small residuals.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ColoRadar's cascade transmits TX0, TX1, ... TX11, then TX0 again, so ramp index m is transmitted by TX (m mod 12). Kiem's radar has one transmitter, so on his radar the previous ramp IS the slow-time neighbour and lag 1 is correct. On this radar it is wrong. The fix: index the predictor state by transmitter and predict from m-12 (DRHE) or m-12 and m-24 (LPC).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lag graph. For every lag from 1 to 36 we compress all 50 frames with each predictor. The spikes sit exactly at multiples of the transmitter count: 12, 24, 36. Lag 1, which is what both designs used as first built, is in the flat floor, below the grey no-prediction line. The values at L=1 and L=12 are the same numbers the hardware C-simulation measured (3.30987, 3.38497, 3.75082, 3.69681).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that found this: take the predictor out and code the raw FX16 values through the same coder. That did better than both predictors. Corrected, DRHE gains 7.8% and LPC 6.3% over no prediction — modest but real, and only on the right axis. Most of the 3.3 ratio is the capture using only ~9.8 of 16 bits, plus a sparse range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Lag-1 DRHE produces a heavier tail than not predicting at all (p99 102 vs 81). Predicting at lag 12 cuts it to 16, and the corrected LPC to 8. In the currency the coder charges, the corrected LPC puts 93% of values in categories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lags 1,2 Yule-Walker finds almost no correlation, so it picks coefficients near zero - which IS no prediction. LPC's residuals (4.543 bits) are actually slightly better than raw (4.586); it only loses because it pays 0.167 bits/value to send its coefficient table. DRHE's filters are fixed, so it keeps extrapolating a phase trend that is not there. On the right axis LPC's residuals beat DRHE's; DRHE only wins on ratio because it has no side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designs sit above their baselines on every frame, not only on average, and the shape of the frame-to-frame variation (scene content) is preserved - consistent with better prediction rather than a constant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close timing at 100 MHz. LPC's division runs only 1024 times a frame, so it was never the expensive part - the float atan2 and sin/cos in DRHE are. LPC needs the whole frame because its coefficients are computed from autocorrelations over all ramps.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residual is coded as a category S4 (how many bits its magnitude needs) plus that many raw bits. Kiem's dictionary gives two-bit codes to categories 2, 3 and 4, which is right for residuals of 6-8 LSB - the size his single-transmitter recordings produced. After the lag fix the residuals are much smaller: category 0 (exactly zero) and category 1 hold 62% of LPC's values but still cost 4 bits each. A dictionary built for these residuals gives category 1 a one-bit code: 2 bits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is a design-time constant, so the fair test is: build it on frames 0-4, freeze it, and measure on the held-out 45 frames. LPC benefits most because its residuals are the smallest and it can now spend 2 bits on its commonest symbol. With Kiem's dictionary DRHE led by 1.5%; with matched dictionaries LPC leads by 3.9%. So the ratio ranking between the two depends on the coder - but DRHE is still the recommended design for streaming, memory and latency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Order-0 entropy is the least any coder that treats values independently can spend. The ideal S4 column is a Huffman code built on the design's own category counts - still the same hardware-friendly S4 + APPEND scheme. It is within 2-7% of entropy, so the scheme is fine; the fixed dictionary is what costs 20-35% on the corrected residuals.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project documents said Kiem tested on synthetic data. That was wrong: every compression number he publishes is from his CTRX recordings. Because the data is private, the replication uses his synthetic Table 3.2 scene and calibrates the noise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white-noise scene the CR depends almost only on the noise size in FX16 LSBs. Bisection finds 3.25 at -87.9 dBFS. That operating point was chosen, not predicted - it shows the chain is understood, not that his data behaves the same. His LPC-Huffman stays at 1.2-1.75 everywhere because it codes the raw ADC noise that the FX16 step throws away; our slow-time LPC tracks DRHE.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comparable' means different data and different radar, so neither number tells you which implementation is better. The closeness of 3.30 to 3.25 was taken early on as confirmation; the implementation is correct, but for other reasons. Two different algorithms share the name LPC: Kiem's judgement of his fast-time raw-ADC version is borne out; it does not apply to the slow-time LPC built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comparisons put HLS estimates against Kiem's post-route numbers and made our design look 2.5x bigger. Implemented, DRHE-1 uses fewer LUTs than his published IP. Against a faithful replica of his design built with our tools, the differences come from the floating-point datapath (chosen so HLS would match MATLAB exactly), 32-bit state words, and clearing state every frame. Recommendation: move DRHE to fixed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for future work: adopt a matched dictionary (16-entry ROM), move DRHE to fixed point, report a no-prediction baseline alongside any compression ratio, and make the FX16 scale adaptive so the ratio reflects the algorithm rather than capture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2F"/>
        </a:solidFill>
      </p:bgPr>
    </p:bg>
    <p:spTree>
      <p:nvGrpSpPr>
        <p:cNvPr id="1" name=""/>
        <p:cNvGrpSpPr/>
        <p:nvPr/>
      </p:nvGrpSpPr>
      <p:grpSpPr>
        <a:xfrm>
          <a:off x="0" y="0"/>
          <a:ext cx="0" cy="0"/>
          <a:chOff x="0" y="0"/>
          <a:chExt cx="0" cy="0"/>
        </a:xfrm>
      </p:grpSpPr>
      <p:sp>
        <p:nvSpPr>
          <p:cNvPr id="2" name="Text 0"/>
          <p:cNvSpPr txBox="1"/>
          <p:nvPr/>
        </p:nvSpPr>
        <p:spPr>
          <a:xfrm>
            <a:off x="548640" y="1143000"/>
            <a:ext cx="8046720" cy="13716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Lossless radar compression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on a 12-transmitter cascade</a:t>
            </a:r>
            <a:endParaRPr lang="en-US" sz="3600" dirty="0"/>
          </a:p>
        </p:txBody>
      </p:sp>
      <p:sp>
        <p:nvSpPr>
          <p:cNvPr id="3" name="Text 1"/>
          <p:cNvSpPr txBox="1"/>
          <p:nvPr/>
        </p:nvSpPr>
        <p:spPr>
          <a:xfrm>
            <a:off x="548640" y="2651760"/>
            <a:ext cx="8046720" cy="365760"/>
          </a:xfrm>
          <a:prstGeom prst="rect">
            <a:avLst/>
          </a:prstGeom>
          <a:noFill/>
          <a:ln/>
        </p:spPr>
        <p:txBody>
          <a:bodyPr wrap="square" lIns="0" tIns="0" rIns="0" bIns="0" rtlCol="0" anchor="ctr"/>
          <a:lstStyle/>
          <a:p>
            <a:pPr indent="0" marL="0">
              <a:buNone/>
            </a:pPr>
            <a:r>
              <a:rPr lang="en-US" sz="1500" dirty="0">
                <a:solidFill>
                  <a:srgbClr val="B9C6D3"/>
                </a:solidFill>
                <a:latin typeface="Calibri" pitchFamily="34" charset="0"/>
                <a:ea typeface="Calibri" pitchFamily="34" charset="-122"/>
                <a:cs typeface="Calibri" pitchFamily="34" charset="-120"/>
              </a:rPr>
              <a:t>DRHE vs LPC · the prediction-lag problem · the Huffman dictionary · comparison with Kiem</a:t>
            </a:r>
            <a:endParaRPr lang="en-US" sz="1500" dirty="0"/>
          </a:p>
        </p:txBody>
      </p:sp>
      <p:sp>
        <p:nvSpPr>
          <p:cNvPr id="4" name="Shape 2"/>
          <p:cNvSpPr/>
          <p:nvPr/>
        </p:nvSpPr>
        <p:spPr>
          <a:xfrm>
            <a:off x="548640" y="3429000"/>
            <a:ext cx="146304" cy="146304"/>
          </a:xfrm>
          <a:prstGeom prst="ellipse">
            <a:avLst/>
          </a:prstGeom>
          <a:solidFill>
            <a:srgbClr val="007FA3"/>
          </a:solidFill>
          <a:ln w="12700">
            <a:solidFill>
              <a:srgbClr val="007FA3"/>
            </a:solidFill>
            <a:prstDash val="solid"/>
          </a:ln>
        </p:spPr>
      </p:sp>
      <p:sp>
        <p:nvSpPr>
          <p:cNvPr id="5" name="Text 3"/>
          <p:cNvSpPr txBox="1"/>
          <p:nvPr/>
        </p:nvSpPr>
        <p:spPr>
          <a:xfrm>
            <a:off x="749808" y="3355848"/>
            <a:ext cx="914400" cy="292608"/>
          </a:xfrm>
          <a:prstGeom prst="rect">
            <a:avLst/>
          </a:prstGeom>
          <a:noFill/>
          <a:ln/>
        </p:spPr>
        <p:txBody>
          <a:bodyPr wrap="square" lIns="0" tIns="0" rIns="0" bIns="0" rtlCol="0" anchor="ctr"/>
          <a:lstStyle/>
          <a:p>
            <a:pPr indent="0" marL="0">
              <a:buNone/>
            </a:pPr>
            <a:r>
              <a:rPr lang="en-US" sz="1200" dirty="0">
                <a:solidFill>
                  <a:srgbClr val="DCE4EC"/>
                </a:solidFill>
                <a:latin typeface="Calibri" pitchFamily="34" charset="0"/>
                <a:ea typeface="Calibri" pitchFamily="34" charset="-122"/>
                <a:cs typeface="Calibri" pitchFamily="34" charset="-120"/>
              </a:rPr>
              <a:t>DRHE</a:t>
            </a:r>
            <a:endParaRPr lang="en-US" sz="1200" dirty="0"/>
          </a:p>
        </p:txBody>
      </p:sp>
      <p:sp>
        <p:nvSpPr>
          <p:cNvPr id="6" name="Shape 4"/>
          <p:cNvSpPr/>
          <p:nvPr/>
        </p:nvSpPr>
        <p:spPr>
          <a:xfrm>
            <a:off x="1783080" y="3429000"/>
            <a:ext cx="146304" cy="146304"/>
          </a:xfrm>
          <a:prstGeom prst="ellipse">
            <a:avLst/>
          </a:prstGeom>
          <a:solidFill>
            <a:srgbClr val="C96A12"/>
          </a:solidFill>
          <a:ln w="12700">
            <a:solidFill>
              <a:srgbClr val="C96A12"/>
            </a:solidFill>
            <a:prstDash val="solid"/>
          </a:ln>
        </p:spPr>
      </p:sp>
      <p:sp>
        <p:nvSpPr>
          <p:cNvPr id="7" name="Text 5"/>
          <p:cNvSpPr txBox="1"/>
          <p:nvPr/>
        </p:nvSpPr>
        <p:spPr>
          <a:xfrm>
            <a:off x="1984248" y="3355848"/>
            <a:ext cx="914400" cy="292608"/>
          </a:xfrm>
          <a:prstGeom prst="rect">
            <a:avLst/>
          </a:prstGeom>
          <a:noFill/>
          <a:ln/>
        </p:spPr>
        <p:txBody>
          <a:bodyPr wrap="square" lIns="0" tIns="0" rIns="0" bIns="0" rtlCol="0" anchor="ctr"/>
          <a:lstStyle/>
          <a:p>
            <a:pPr indent="0" marL="0">
              <a:buNone/>
            </a:pPr>
            <a:r>
              <a:rPr lang="en-US" sz="1200" dirty="0">
                <a:solidFill>
                  <a:srgbClr val="DCE4EC"/>
                </a:solidFill>
                <a:latin typeface="Calibri" pitchFamily="34" charset="0"/>
                <a:ea typeface="Calibri" pitchFamily="34" charset="-122"/>
                <a:cs typeface="Calibri" pitchFamily="34" charset="-120"/>
              </a:rPr>
              <a:t>LPC</a:t>
            </a:r>
            <a:endParaRPr lang="en-US" sz="1200" dirty="0"/>
          </a:p>
        </p:txBody>
      </p:sp>
      <p:sp>
        <p:nvSpPr>
          <p:cNvPr id="8" name="Shape 6"/>
          <p:cNvSpPr/>
          <p:nvPr/>
        </p:nvSpPr>
        <p:spPr>
          <a:xfrm>
            <a:off x="3017520" y="3429000"/>
            <a:ext cx="146304" cy="146304"/>
          </a:xfrm>
          <a:prstGeom prst="ellipse">
            <a:avLst/>
          </a:prstGeom>
          <a:solidFill>
            <a:srgbClr val="A8324A"/>
          </a:solidFill>
          <a:ln w="12700">
            <a:solidFill>
              <a:srgbClr val="A8324A"/>
            </a:solidFill>
            <a:prstDash val="solid"/>
          </a:ln>
        </p:spPr>
      </p:sp>
      <p:sp>
        <p:nvSpPr>
          <p:cNvPr id="9" name="Text 7"/>
          <p:cNvSpPr txBox="1"/>
          <p:nvPr/>
        </p:nvSpPr>
        <p:spPr>
          <a:xfrm>
            <a:off x="3218688" y="3355848"/>
            <a:ext cx="914400" cy="292608"/>
          </a:xfrm>
          <a:prstGeom prst="rect">
            <a:avLst/>
          </a:prstGeom>
          <a:noFill/>
          <a:ln/>
        </p:spPr>
        <p:txBody>
          <a:bodyPr wrap="square" lIns="0" tIns="0" rIns="0" bIns="0" rtlCol="0" anchor="ctr"/>
          <a:lstStyle/>
          <a:p>
            <a:pPr indent="0" marL="0">
              <a:buNone/>
            </a:pPr>
            <a:r>
              <a:rPr lang="en-US" sz="1200" dirty="0">
                <a:solidFill>
                  <a:srgbClr val="DCE4EC"/>
                </a:solidFill>
                <a:latin typeface="Calibri" pitchFamily="34" charset="0"/>
                <a:ea typeface="Calibri" pitchFamily="34" charset="-122"/>
                <a:cs typeface="Calibri" pitchFamily="34" charset="-120"/>
              </a:rPr>
              <a:t>Kiem</a:t>
            </a:r>
            <a:endParaRPr lang="en-US" sz="1200" dirty="0"/>
          </a:p>
        </p:txBody>
      </p:sp>
      <p:sp>
        <p:nvSpPr>
          <p:cNvPr id="10" name="Text 8"/>
          <p:cNvSpPr txBox="1"/>
          <p:nvPr/>
        </p:nvSpPr>
        <p:spPr>
          <a:xfrm>
            <a:off x="548640" y="4343400"/>
            <a:ext cx="8046720" cy="274320"/>
          </a:xfrm>
          <a:prstGeom prst="rect">
            <a:avLst/>
          </a:prstGeom>
          <a:noFill/>
          <a:ln/>
        </p:spPr>
        <p:txBody>
          <a:bodyPr wrap="square" lIns="0" tIns="0" rIns="0" bIns="0" rtlCol="0" anchor="ctr"/>
          <a:lstStyle/>
          <a:p>
            <a:pPr indent="0" marL="0">
              <a:buNone/>
            </a:pPr>
            <a:r>
              <a:rPr lang="en-US" sz="1200" dirty="0">
                <a:solidFill>
                  <a:srgbClr val="8FA0B2"/>
                </a:solidFill>
                <a:latin typeface="Calibri" pitchFamily="34" charset="0"/>
                <a:ea typeface="Calibri" pitchFamily="34" charset="-122"/>
                <a:cs typeface="Calibri" pitchFamily="34" charset="-120"/>
              </a:rPr>
              <a:t>Jordan Mohindra  ·  UNSW Sydney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007FA3"/>
                </a:solidFill>
                <a:latin typeface="Calibri" pitchFamily="34" charset="0"/>
                <a:ea typeface="Calibri" pitchFamily="34" charset="-122"/>
                <a:cs typeface="Calibri" pitchFamily="34" charset="-120"/>
              </a:rPr>
              <a:t>BACKGROUND</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Two stages: predict, then entropy-code the residual</a:t>
            </a:r>
            <a:endParaRPr lang="en-US" sz="2600" dirty="0"/>
          </a:p>
        </p:txBody>
      </p:sp>
      <p:sp>
        <p:nvSpPr>
          <p:cNvPr id="4" name="Shape 2"/>
          <p:cNvSpPr/>
          <p:nvPr/>
        </p:nvSpPr>
        <p:spPr>
          <a:xfrm>
            <a:off x="457200" y="1417320"/>
            <a:ext cx="1481328" cy="1051560"/>
          </a:xfrm>
          <a:prstGeom prst="roundRect">
            <a:avLst>
              <a:gd name="adj" fmla="val 6957"/>
            </a:avLst>
          </a:prstGeom>
          <a:solidFill>
            <a:srgbClr val="F3F5F7"/>
          </a:solidFill>
          <a:ln w="12700">
            <a:solidFill>
              <a:srgbClr val="F3F5F7"/>
            </a:solidFill>
            <a:prstDash val="solid"/>
          </a:ln>
        </p:spPr>
      </p:sp>
      <p:sp>
        <p:nvSpPr>
          <p:cNvPr id="5" name="Text 3"/>
          <p:cNvSpPr txBox="1"/>
          <p:nvPr/>
        </p:nvSpPr>
        <p:spPr>
          <a:xfrm>
            <a:off x="457200" y="1508760"/>
            <a:ext cx="1481328" cy="32004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Raw ADC</a:t>
            </a:r>
            <a:endParaRPr lang="en-US" sz="1500" dirty="0"/>
          </a:p>
        </p:txBody>
      </p:sp>
      <p:sp>
        <p:nvSpPr>
          <p:cNvPr id="6" name="Text 4"/>
          <p:cNvSpPr txBox="1"/>
          <p:nvPr/>
        </p:nvSpPr>
        <p:spPr>
          <a:xfrm>
            <a:off x="502920" y="1856232"/>
            <a:ext cx="1389888" cy="548640"/>
          </a:xfrm>
          <a:prstGeom prst="rect">
            <a:avLst/>
          </a:prstGeom>
          <a:noFill/>
          <a:ln/>
        </p:spPr>
        <p:txBody>
          <a:bodyPr wrap="square" lIns="0" tIns="0" rIns="0" bIns="0" rtlCol="0" anchor="ctr"/>
          <a:lstStyle/>
          <a:p>
            <a:pPr algn="ctr" indent="0" marL="0">
              <a:buNone/>
            </a:pPr>
            <a:r>
              <a:rPr lang="en-US" sz="1100" dirty="0">
                <a:solidFill>
                  <a:srgbClr val="5B6675"/>
                </a:solidFill>
                <a:latin typeface="Calibri" pitchFamily="34" charset="0"/>
                <a:ea typeface="Calibri" pitchFamily="34" charset="-122"/>
                <a:cs typeface="Calibri" pitchFamily="34" charset="-120"/>
              </a:rPr>
              <a:t>256 samples/ramp</a:t>
            </a:r>
            <a:endParaRPr lang="en-US" sz="1100" dirty="0"/>
          </a:p>
          <a:p>
            <a:pPr algn="ctr" indent="0" marL="0">
              <a:buNone/>
            </a:pPr>
            <a:r>
              <a:rPr lang="en-US" sz="1100" dirty="0">
                <a:solidFill>
                  <a:srgbClr val="5B6675"/>
                </a:solidFill>
                <a:latin typeface="Calibri" pitchFamily="34" charset="0"/>
                <a:ea typeface="Calibri" pitchFamily="34" charset="-122"/>
                <a:cs typeface="Calibri" pitchFamily="34" charset="-120"/>
              </a:rPr>
              <a:t>16 RX, 192 ramps</a:t>
            </a:r>
            <a:endParaRPr lang="en-US" sz="1100" dirty="0"/>
          </a:p>
        </p:txBody>
      </p:sp>
      <p:sp>
        <p:nvSpPr>
          <p:cNvPr id="7" name="Shape 5"/>
          <p:cNvSpPr/>
          <p:nvPr/>
        </p:nvSpPr>
        <p:spPr>
          <a:xfrm>
            <a:off x="1956816" y="1943100"/>
            <a:ext cx="146304" cy="0"/>
          </a:xfrm>
          <a:prstGeom prst="line">
            <a:avLst/>
          </a:prstGeom>
          <a:noFill/>
          <a:ln w="19050">
            <a:solidFill>
              <a:srgbClr val="8C95A3"/>
            </a:solidFill>
            <a:prstDash val="solid"/>
            <a:tailEnd type="triangle"/>
          </a:ln>
        </p:spPr>
      </p:sp>
      <p:sp>
        <p:nvSpPr>
          <p:cNvPr id="8" name="Shape 6"/>
          <p:cNvSpPr/>
          <p:nvPr/>
        </p:nvSpPr>
        <p:spPr>
          <a:xfrm>
            <a:off x="2121408" y="1417320"/>
            <a:ext cx="1481328" cy="1051560"/>
          </a:xfrm>
          <a:prstGeom prst="roundRect">
            <a:avLst>
              <a:gd name="adj" fmla="val 6957"/>
            </a:avLst>
          </a:prstGeom>
          <a:solidFill>
            <a:srgbClr val="F3F5F7"/>
          </a:solidFill>
          <a:ln w="12700">
            <a:solidFill>
              <a:srgbClr val="F3F5F7"/>
            </a:solidFill>
            <a:prstDash val="solid"/>
          </a:ln>
        </p:spPr>
      </p:sp>
      <p:sp>
        <p:nvSpPr>
          <p:cNvPr id="9" name="Text 7"/>
          <p:cNvSpPr txBox="1"/>
          <p:nvPr/>
        </p:nvSpPr>
        <p:spPr>
          <a:xfrm>
            <a:off x="2121408" y="1508760"/>
            <a:ext cx="1481328" cy="32004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Range FFT</a:t>
            </a:r>
            <a:endParaRPr lang="en-US" sz="1500" dirty="0"/>
          </a:p>
        </p:txBody>
      </p:sp>
      <p:sp>
        <p:nvSpPr>
          <p:cNvPr id="10" name="Text 8"/>
          <p:cNvSpPr txBox="1"/>
          <p:nvPr/>
        </p:nvSpPr>
        <p:spPr>
          <a:xfrm>
            <a:off x="2167128" y="1856232"/>
            <a:ext cx="1389888" cy="548640"/>
          </a:xfrm>
          <a:prstGeom prst="rect">
            <a:avLst/>
          </a:prstGeom>
          <a:noFill/>
          <a:ln/>
        </p:spPr>
        <p:txBody>
          <a:bodyPr wrap="square" lIns="0" tIns="0" rIns="0" bIns="0" rtlCol="0" anchor="ctr"/>
          <a:lstStyle/>
          <a:p>
            <a:pPr algn="ctr" indent="0" marL="0">
              <a:buNone/>
            </a:pPr>
            <a:r>
              <a:rPr lang="en-US" sz="1100" dirty="0">
                <a:solidFill>
                  <a:srgbClr val="5B6675"/>
                </a:solidFill>
                <a:latin typeface="Calibri" pitchFamily="34" charset="0"/>
                <a:ea typeface="Calibri" pitchFamily="34" charset="-122"/>
                <a:cs typeface="Calibri" pitchFamily="34" charset="-120"/>
              </a:rPr>
              <a:t>128 bins kept</a:t>
            </a:r>
            <a:endParaRPr lang="en-US" sz="1100" dirty="0"/>
          </a:p>
        </p:txBody>
      </p:sp>
      <p:sp>
        <p:nvSpPr>
          <p:cNvPr id="11" name="Shape 9"/>
          <p:cNvSpPr/>
          <p:nvPr/>
        </p:nvSpPr>
        <p:spPr>
          <a:xfrm>
            <a:off x="3621024" y="1943100"/>
            <a:ext cx="146304" cy="0"/>
          </a:xfrm>
          <a:prstGeom prst="line">
            <a:avLst/>
          </a:prstGeom>
          <a:noFill/>
          <a:ln w="19050">
            <a:solidFill>
              <a:srgbClr val="8C95A3"/>
            </a:solidFill>
            <a:prstDash val="solid"/>
            <a:tailEnd type="triangle"/>
          </a:ln>
        </p:spPr>
      </p:sp>
      <p:sp>
        <p:nvSpPr>
          <p:cNvPr id="12" name="Shape 10"/>
          <p:cNvSpPr/>
          <p:nvPr/>
        </p:nvSpPr>
        <p:spPr>
          <a:xfrm>
            <a:off x="3785616" y="1417320"/>
            <a:ext cx="1481328" cy="1051560"/>
          </a:xfrm>
          <a:prstGeom prst="roundRect">
            <a:avLst>
              <a:gd name="adj" fmla="val 6957"/>
            </a:avLst>
          </a:prstGeom>
          <a:solidFill>
            <a:srgbClr val="F3F5F7"/>
          </a:solidFill>
          <a:ln w="12700">
            <a:solidFill>
              <a:srgbClr val="F3F5F7"/>
            </a:solidFill>
            <a:prstDash val="solid"/>
          </a:ln>
        </p:spPr>
      </p:sp>
      <p:sp>
        <p:nvSpPr>
          <p:cNvPr id="13" name="Text 11"/>
          <p:cNvSpPr txBox="1"/>
          <p:nvPr/>
        </p:nvSpPr>
        <p:spPr>
          <a:xfrm>
            <a:off x="3785616" y="1508760"/>
            <a:ext cx="1481328" cy="320040"/>
          </a:xfrm>
          <a:prstGeom prst="rect">
            <a:avLst/>
          </a:prstGeom>
          <a:noFill/>
          <a:ln/>
        </p:spPr>
        <p:txBody>
          <a:bodyPr wrap="square" lIns="0" tIns="0" rIns="0" bIns="0" rtlCol="0" anchor="ctr"/>
          <a:lstStyle/>
          <a:p>
            <a:pPr algn="ctr" indent="0" marL="0">
              <a:buNone/>
            </a:pPr>
            <a:r>
              <a:rPr lang="en-US" sz="1500" b="1" dirty="0">
                <a:solidFill>
                  <a:srgbClr val="1F2A37"/>
                </a:solidFill>
                <a:latin typeface="Cambria" pitchFamily="34" charset="0"/>
                <a:ea typeface="Cambria" pitchFamily="34" charset="-122"/>
                <a:cs typeface="Cambria" pitchFamily="34" charset="-120"/>
              </a:rPr>
              <a:t>FX16</a:t>
            </a:r>
            <a:endParaRPr lang="en-US" sz="1500" dirty="0"/>
          </a:p>
        </p:txBody>
      </p:sp>
      <p:sp>
        <p:nvSpPr>
          <p:cNvPr id="14" name="Text 12"/>
          <p:cNvSpPr txBox="1"/>
          <p:nvPr/>
        </p:nvSpPr>
        <p:spPr>
          <a:xfrm>
            <a:off x="3831336" y="1856232"/>
            <a:ext cx="1389888" cy="548640"/>
          </a:xfrm>
          <a:prstGeom prst="rect">
            <a:avLst/>
          </a:prstGeom>
          <a:noFill/>
          <a:ln/>
        </p:spPr>
        <p:txBody>
          <a:bodyPr wrap="square" lIns="0" tIns="0" rIns="0" bIns="0" rtlCol="0" anchor="ctr"/>
          <a:lstStyle/>
          <a:p>
            <a:pPr algn="ctr" indent="0" marL="0">
              <a:buNone/>
            </a:pPr>
            <a:r>
              <a:rPr lang="en-US" sz="1100" dirty="0">
                <a:solidFill>
                  <a:srgbClr val="5B6675"/>
                </a:solidFill>
                <a:latin typeface="Calibri" pitchFamily="34" charset="0"/>
                <a:ea typeface="Calibri" pitchFamily="34" charset="-122"/>
                <a:cs typeface="Calibri" pitchFamily="34" charset="-120"/>
              </a:rPr>
              <a:t>round to int16</a:t>
            </a:r>
            <a:endParaRPr lang="en-US" sz="1100" dirty="0"/>
          </a:p>
          <a:p>
            <a:pPr algn="ctr" indent="0" marL="0">
              <a:buNone/>
            </a:pPr>
            <a:r>
              <a:rPr lang="en-US" sz="1100" dirty="0">
                <a:solidFill>
                  <a:srgbClr val="5B6675"/>
                </a:solidFill>
                <a:latin typeface="Calibri" pitchFamily="34" charset="0"/>
                <a:ea typeface="Calibri" pitchFamily="34" charset="-122"/>
                <a:cs typeface="Calibri" pitchFamily="34" charset="-120"/>
              </a:rPr>
              <a:t>(what gets compressed)</a:t>
            </a:r>
            <a:endParaRPr lang="en-US" sz="1100" dirty="0"/>
          </a:p>
        </p:txBody>
      </p:sp>
      <p:sp>
        <p:nvSpPr>
          <p:cNvPr id="15" name="Shape 13"/>
          <p:cNvSpPr/>
          <p:nvPr/>
        </p:nvSpPr>
        <p:spPr>
          <a:xfrm>
            <a:off x="5285232" y="1943100"/>
            <a:ext cx="146304" cy="0"/>
          </a:xfrm>
          <a:prstGeom prst="line">
            <a:avLst/>
          </a:prstGeom>
          <a:noFill/>
          <a:ln w="19050">
            <a:solidFill>
              <a:srgbClr val="8C95A3"/>
            </a:solidFill>
            <a:prstDash val="solid"/>
            <a:tailEnd type="triangle"/>
          </a:ln>
        </p:spPr>
      </p:sp>
      <p:sp>
        <p:nvSpPr>
          <p:cNvPr id="16" name="Shape 14"/>
          <p:cNvSpPr/>
          <p:nvPr/>
        </p:nvSpPr>
        <p:spPr>
          <a:xfrm>
            <a:off x="5449824" y="1417320"/>
            <a:ext cx="1481328" cy="1051560"/>
          </a:xfrm>
          <a:prstGeom prst="roundRect">
            <a:avLst>
              <a:gd name="adj" fmla="val 6957"/>
            </a:avLst>
          </a:prstGeom>
          <a:solidFill>
            <a:srgbClr val="DDEFF5"/>
          </a:solidFill>
          <a:ln w="12700">
            <a:solidFill>
              <a:srgbClr val="DDEFF5"/>
            </a:solidFill>
            <a:prstDash val="solid"/>
          </a:ln>
        </p:spPr>
      </p:sp>
      <p:sp>
        <p:nvSpPr>
          <p:cNvPr id="17" name="Text 15"/>
          <p:cNvSpPr txBox="1"/>
          <p:nvPr/>
        </p:nvSpPr>
        <p:spPr>
          <a:xfrm>
            <a:off x="5449824" y="1508760"/>
            <a:ext cx="1481328" cy="320040"/>
          </a:xfrm>
          <a:prstGeom prst="rect">
            <a:avLst/>
          </a:prstGeom>
          <a:noFill/>
          <a:ln/>
        </p:spPr>
        <p:txBody>
          <a:bodyPr wrap="square" lIns="0" tIns="0" rIns="0" bIns="0" rtlCol="0" anchor="ctr"/>
          <a:lstStyle/>
          <a:p>
            <a:pPr algn="ctr" indent="0" marL="0">
              <a:buNone/>
            </a:pPr>
            <a:r>
              <a:rPr lang="en-US" sz="1500" b="1" dirty="0">
                <a:solidFill>
                  <a:srgbClr val="007FA3"/>
                </a:solidFill>
                <a:latin typeface="Cambria" pitchFamily="34" charset="0"/>
                <a:ea typeface="Cambria" pitchFamily="34" charset="-122"/>
                <a:cs typeface="Cambria" pitchFamily="34" charset="-120"/>
              </a:rPr>
              <a:t>Predictor</a:t>
            </a:r>
            <a:endParaRPr lang="en-US" sz="1500" dirty="0"/>
          </a:p>
        </p:txBody>
      </p:sp>
      <p:sp>
        <p:nvSpPr>
          <p:cNvPr id="18" name="Text 16"/>
          <p:cNvSpPr txBox="1"/>
          <p:nvPr/>
        </p:nvSpPr>
        <p:spPr>
          <a:xfrm>
            <a:off x="5495544" y="1856232"/>
            <a:ext cx="1389888" cy="548640"/>
          </a:xfrm>
          <a:prstGeom prst="rect">
            <a:avLst/>
          </a:prstGeom>
          <a:noFill/>
          <a:ln/>
        </p:spPr>
        <p:txBody>
          <a:bodyPr wrap="square" lIns="0" tIns="0" rIns="0" bIns="0" rtlCol="0" anchor="ctr"/>
          <a:lstStyle/>
          <a:p>
            <a:pPr algn="ctr" indent="0" marL="0">
              <a:buNone/>
            </a:pPr>
            <a:r>
              <a:rPr lang="en-US" sz="1100" dirty="0">
                <a:solidFill>
                  <a:srgbClr val="5B6675"/>
                </a:solidFill>
                <a:latin typeface="Calibri" pitchFamily="34" charset="0"/>
                <a:ea typeface="Calibri" pitchFamily="34" charset="-122"/>
                <a:cs typeface="Calibri" pitchFamily="34" charset="-120"/>
              </a:rPr>
              <a:t>DRHE or LPC</a:t>
            </a:r>
            <a:endParaRPr lang="en-US" sz="1100" dirty="0"/>
          </a:p>
          <a:p>
            <a:pPr algn="ctr" indent="0" marL="0">
              <a:buNone/>
            </a:pPr>
            <a:r>
              <a:rPr lang="en-US" sz="1100" dirty="0">
                <a:solidFill>
                  <a:srgbClr val="5B6675"/>
                </a:solidFill>
                <a:latin typeface="Calibri" pitchFamily="34" charset="0"/>
                <a:ea typeface="Calibri" pitchFamily="34" charset="-122"/>
                <a:cs typeface="Calibri" pitchFamily="34" charset="-120"/>
              </a:rPr>
              <a:t>residual = x − x̂</a:t>
            </a:r>
            <a:endParaRPr lang="en-US" sz="1100" dirty="0"/>
          </a:p>
        </p:txBody>
      </p:sp>
      <p:sp>
        <p:nvSpPr>
          <p:cNvPr id="19" name="Shape 17"/>
          <p:cNvSpPr/>
          <p:nvPr/>
        </p:nvSpPr>
        <p:spPr>
          <a:xfrm>
            <a:off x="6949440" y="1943100"/>
            <a:ext cx="146304" cy="0"/>
          </a:xfrm>
          <a:prstGeom prst="line">
            <a:avLst/>
          </a:prstGeom>
          <a:noFill/>
          <a:ln w="19050">
            <a:solidFill>
              <a:srgbClr val="8C95A3"/>
            </a:solidFill>
            <a:prstDash val="solid"/>
            <a:tailEnd type="triangle"/>
          </a:ln>
        </p:spPr>
      </p:sp>
      <p:sp>
        <p:nvSpPr>
          <p:cNvPr id="20" name="Shape 18"/>
          <p:cNvSpPr/>
          <p:nvPr/>
        </p:nvSpPr>
        <p:spPr>
          <a:xfrm>
            <a:off x="7114032" y="1417320"/>
            <a:ext cx="1481328" cy="1051560"/>
          </a:xfrm>
          <a:prstGeom prst="roundRect">
            <a:avLst>
              <a:gd name="adj" fmla="val 6957"/>
            </a:avLst>
          </a:prstGeom>
          <a:solidFill>
            <a:srgbClr val="F6E6D6"/>
          </a:solidFill>
          <a:ln w="12700">
            <a:solidFill>
              <a:srgbClr val="F6E6D6"/>
            </a:solidFill>
            <a:prstDash val="solid"/>
          </a:ln>
        </p:spPr>
      </p:sp>
      <p:sp>
        <p:nvSpPr>
          <p:cNvPr id="21" name="Text 19"/>
          <p:cNvSpPr txBox="1"/>
          <p:nvPr/>
        </p:nvSpPr>
        <p:spPr>
          <a:xfrm>
            <a:off x="7114032" y="1508760"/>
            <a:ext cx="1481328" cy="320040"/>
          </a:xfrm>
          <a:prstGeom prst="rect">
            <a:avLst/>
          </a:prstGeom>
          <a:noFill/>
          <a:ln/>
        </p:spPr>
        <p:txBody>
          <a:bodyPr wrap="square" lIns="0" tIns="0" rIns="0" bIns="0" rtlCol="0" anchor="ctr"/>
          <a:lstStyle/>
          <a:p>
            <a:pPr algn="ctr" indent="0" marL="0">
              <a:buNone/>
            </a:pPr>
            <a:r>
              <a:rPr lang="en-US" sz="1500" b="1" dirty="0">
                <a:solidFill>
                  <a:srgbClr val="C96A12"/>
                </a:solidFill>
                <a:latin typeface="Cambria" pitchFamily="34" charset="0"/>
                <a:ea typeface="Cambria" pitchFamily="34" charset="-122"/>
                <a:cs typeface="Cambria" pitchFamily="34" charset="-120"/>
              </a:rPr>
              <a:t>Entropy coder</a:t>
            </a:r>
            <a:endParaRPr lang="en-US" sz="1500" dirty="0"/>
          </a:p>
        </p:txBody>
      </p:sp>
      <p:sp>
        <p:nvSpPr>
          <p:cNvPr id="22" name="Text 20"/>
          <p:cNvSpPr txBox="1"/>
          <p:nvPr/>
        </p:nvSpPr>
        <p:spPr>
          <a:xfrm>
            <a:off x="7159752" y="1856232"/>
            <a:ext cx="1389888" cy="548640"/>
          </a:xfrm>
          <a:prstGeom prst="rect">
            <a:avLst/>
          </a:prstGeom>
          <a:noFill/>
          <a:ln/>
        </p:spPr>
        <p:txBody>
          <a:bodyPr wrap="square" lIns="0" tIns="0" rIns="0" bIns="0" rtlCol="0" anchor="ctr"/>
          <a:lstStyle/>
          <a:p>
            <a:pPr algn="ctr" indent="0" marL="0">
              <a:buNone/>
            </a:pPr>
            <a:r>
              <a:rPr lang="en-US" sz="1100" dirty="0">
                <a:solidFill>
                  <a:srgbClr val="5B6675"/>
                </a:solidFill>
                <a:latin typeface="Calibri" pitchFamily="34" charset="0"/>
                <a:ea typeface="Calibri" pitchFamily="34" charset="-122"/>
                <a:cs typeface="Calibri" pitchFamily="34" charset="-120"/>
              </a:rPr>
              <a:t>S4 category +</a:t>
            </a:r>
            <a:endParaRPr lang="en-US" sz="1100" dirty="0"/>
          </a:p>
          <a:p>
            <a:pPr algn="ctr" indent="0" marL="0">
              <a:buNone/>
            </a:pPr>
            <a:r>
              <a:rPr lang="en-US" sz="1100" dirty="0">
                <a:solidFill>
                  <a:srgbClr val="5B6675"/>
                </a:solidFill>
                <a:latin typeface="Calibri" pitchFamily="34" charset="0"/>
                <a:ea typeface="Calibri" pitchFamily="34" charset="-122"/>
                <a:cs typeface="Calibri" pitchFamily="34" charset="-120"/>
              </a:rPr>
              <a:t>fixed Huffman code</a:t>
            </a:r>
            <a:endParaRPr lang="en-US" sz="1100" dirty="0"/>
          </a:p>
        </p:txBody>
      </p:sp>
      <p:sp>
        <p:nvSpPr>
          <p:cNvPr id="23" name="Shape 21"/>
          <p:cNvSpPr/>
          <p:nvPr/>
        </p:nvSpPr>
        <p:spPr>
          <a:xfrm>
            <a:off x="457200" y="2834640"/>
            <a:ext cx="3931920" cy="1691640"/>
          </a:xfrm>
          <a:prstGeom prst="roundRect">
            <a:avLst>
              <a:gd name="adj" fmla="val 4324"/>
            </a:avLst>
          </a:prstGeom>
          <a:solidFill>
            <a:srgbClr val="FFFFFF"/>
          </a:solidFill>
          <a:ln w="12700">
            <a:solidFill>
              <a:srgbClr val="FFFFFF"/>
            </a:solidFill>
            <a:prstDash val="solid"/>
          </a:ln>
        </p:spPr>
      </p:sp>
      <p:sp>
        <p:nvSpPr>
          <p:cNvPr id="24" name="Text 22"/>
          <p:cNvSpPr txBox="1"/>
          <p:nvPr/>
        </p:nvSpPr>
        <p:spPr>
          <a:xfrm>
            <a:off x="457200" y="2834640"/>
            <a:ext cx="4023360" cy="1737360"/>
          </a:xfrm>
          <a:prstGeom prst="rect">
            <a:avLst/>
          </a:prstGeom>
          <a:noFill/>
          <a:ln/>
        </p:spPr>
        <p:txBody>
          <a:bodyPr wrap="square" lIns="1016" tIns="1016" rIns="1016" bIns="1016" rtlCol="0" anchor="t"/>
          <a:lstStyle/>
          <a:p>
            <a:pPr marL="152400" indent="-152400">
              <a:spcAft>
                <a:spcPts val="400"/>
              </a:spcAft>
              <a:buSzPct val="100000"/>
              <a:buChar char="•"/>
            </a:pPr>
            <a:r>
              <a:rPr lang="en-US" sz="1300" b="1" dirty="0">
                <a:solidFill>
                  <a:srgbClr val="1F2A37"/>
                </a:solidFill>
                <a:latin typeface="Calibri" pitchFamily="34" charset="0"/>
                <a:ea typeface="Calibri" pitchFamily="34" charset="-122"/>
                <a:cs typeface="Calibri" pitchFamily="34" charset="-120"/>
              </a:rPr>
              <a:t>Lossless: </a:t>
            </a:r>
            <a:pPr indent="0" marL="0">
              <a:spcAft>
                <a:spcPts val="400"/>
              </a:spcAft>
              <a:buNone/>
            </a:pPr>
            <a:r>
              <a:rPr lang="en-US" sz="1300" dirty="0">
                <a:solidFill>
                  <a:srgbClr val="1F2A37"/>
                </a:solidFill>
                <a:latin typeface="Calibri" pitchFamily="34" charset="0"/>
                <a:ea typeface="Calibri" pitchFamily="34" charset="-122"/>
                <a:cs typeface="Calibri" pitchFamily="34" charset="-120"/>
              </a:rPr>
              <a:t>the decoder rebuilds every FX16 code exactly, so detection is untouched.</a:t>
            </a:r>
            <a:endParaRPr lang="en-US" sz="1300" dirty="0"/>
          </a:p>
          <a:p>
            <a:pPr marL="152400" indent="-152400">
              <a:spcAft>
                <a:spcPts val="400"/>
              </a:spcAft>
              <a:buSzPct val="100000"/>
              <a:buChar char="•"/>
            </a:pPr>
            <a:r>
              <a:rPr lang="en-US" sz="1300" b="1" dirty="0">
                <a:solidFill>
                  <a:srgbClr val="1F2A37"/>
                </a:solidFill>
                <a:latin typeface="Calibri" pitchFamily="34" charset="0"/>
                <a:ea typeface="Calibri" pitchFamily="34" charset="-122"/>
                <a:cs typeface="Calibri" pitchFamily="34" charset="-120"/>
              </a:rPr>
              <a:t>CR </a:t>
            </a:r>
            <a:pPr indent="0" marL="0">
              <a:spcAft>
                <a:spcPts val="400"/>
              </a:spcAft>
              <a:buNone/>
            </a:pPr>
            <a:r>
              <a:rPr lang="en-US" sz="1300" dirty="0">
                <a:solidFill>
                  <a:srgbClr val="1F2A37"/>
                </a:solidFill>
                <a:latin typeface="Calibri" pitchFamily="34" charset="0"/>
                <a:ea typeface="Calibri" pitchFamily="34" charset="-122"/>
                <a:cs typeface="Calibri" pitchFamily="34" charset="-120"/>
              </a:rPr>
              <a:t>= uncompressed bits ÷ compressed bits (incl. side info, 256-bit padding).</a:t>
            </a:r>
            <a:endParaRPr lang="en-US" sz="1300" dirty="0"/>
          </a:p>
          <a:p>
            <a:pPr marL="152400" indent="-152400">
              <a:spcAft>
                <a:spcPts val="400"/>
              </a:spcAft>
              <a:buSzPct val="100000"/>
              <a:buChar char="•"/>
            </a:pPr>
            <a:r>
              <a:rPr lang="en-US" sz="1300" b="1" dirty="0">
                <a:solidFill>
                  <a:srgbClr val="1F2A37"/>
                </a:solidFill>
                <a:latin typeface="Calibri" pitchFamily="34" charset="0"/>
                <a:ea typeface="Calibri" pitchFamily="34" charset="-122"/>
                <a:cs typeface="Calibri" pitchFamily="34" charset="-120"/>
              </a:rPr>
              <a:t>Data: </a:t>
            </a:r>
            <a:pPr indent="0" marL="0">
              <a:spcAft>
                <a:spcPts val="400"/>
              </a:spcAft>
              <a:buNone/>
            </a:pPr>
            <a:r>
              <a:rPr lang="en-US" sz="1300" dirty="0">
                <a:solidFill>
                  <a:srgbClr val="1F2A37"/>
                </a:solidFill>
                <a:latin typeface="Calibri" pitchFamily="34" charset="0"/>
                <a:ea typeface="Calibri" pitchFamily="34" charset="-122"/>
                <a:cs typeface="Calibri" pitchFamily="34" charset="-120"/>
              </a:rPr>
              <a:t>50 ColoRadar frames, 4 RX to the HLS path, Vitis HLS → Vivado on xcku5p.</a:t>
            </a:r>
            <a:endParaRPr lang="en-US" sz="1300" dirty="0"/>
          </a:p>
        </p:txBody>
      </p:sp>
      <p:sp>
        <p:nvSpPr>
          <p:cNvPr id="25" name="Shape 23"/>
          <p:cNvSpPr/>
          <p:nvPr/>
        </p:nvSpPr>
        <p:spPr>
          <a:xfrm>
            <a:off x="4754880" y="2834640"/>
            <a:ext cx="3931920" cy="1417320"/>
          </a:xfrm>
          <a:prstGeom prst="roundRect">
            <a:avLst>
              <a:gd name="adj" fmla="val 5161"/>
            </a:avLst>
          </a:prstGeom>
          <a:solidFill>
            <a:srgbClr val="EEF4F7"/>
          </a:solidFill>
          <a:ln w="12700">
            <a:solidFill>
              <a:srgbClr val="EEF4F7"/>
            </a:solidFill>
            <a:prstDash val="solid"/>
          </a:ln>
        </p:spPr>
      </p:sp>
      <p:sp>
        <p:nvSpPr>
          <p:cNvPr id="26" name="Text 24"/>
          <p:cNvSpPr txBox="1"/>
          <p:nvPr/>
        </p:nvSpPr>
        <p:spPr>
          <a:xfrm>
            <a:off x="4846320" y="2926080"/>
            <a:ext cx="3749040" cy="1554480"/>
          </a:xfrm>
          <a:prstGeom prst="rect">
            <a:avLst/>
          </a:prstGeom>
          <a:noFill/>
          <a:ln/>
        </p:spPr>
        <p:txBody>
          <a:bodyPr wrap="square" lIns="0" tIns="0" rIns="0" bIns="0" rtlCol="0" anchor="t"/>
          <a:lstStyle/>
          <a:p>
            <a:pPr indent="0" marL="0">
              <a:spcAft>
                <a:spcPts val="800"/>
              </a:spcAft>
              <a:buNone/>
            </a:pPr>
            <a:r>
              <a:rPr lang="en-US" sz="1250" b="1" dirty="0">
                <a:solidFill>
                  <a:srgbClr val="007FA3"/>
                </a:solidFill>
                <a:latin typeface="Calibri" pitchFamily="34" charset="0"/>
                <a:ea typeface="Calibri" pitchFamily="34" charset="-122"/>
                <a:cs typeface="Calibri" pitchFamily="34" charset="-120"/>
              </a:rPr>
              <a:t>DRHE</a:t>
            </a:r>
            <a:pPr indent="0" marL="0">
              <a:spcAft>
                <a:spcPts val="800"/>
              </a:spcAft>
              <a:buNone/>
            </a:pPr>
            <a:r>
              <a:rPr lang="en-US" sz="1250" dirty="0">
                <a:solidFill>
                  <a:srgbClr val="1F2A37"/>
                </a:solidFill>
                <a:latin typeface="Calibri" pitchFamily="34" charset="0"/>
                <a:ea typeface="Calibri" pitchFamily="34" charset="-122"/>
                <a:cs typeface="Calibri" pitchFamily="34" charset="-120"/>
              </a:rPr>
              <a:t>  fixed polar filters: predicts magnitude and phase from previous ramps of the same bin (Kiem's algorithm).</a:t>
            </a:r>
            <a:endParaRPr lang="en-US" sz="1250" dirty="0"/>
          </a:p>
          <a:p>
            <a:pPr indent="0" marL="0">
              <a:spcAft>
                <a:spcPts val="800"/>
              </a:spcAft>
              <a:buNone/>
            </a:pPr>
            <a:r>
              <a:rPr lang="en-US" sz="1250" b="1" dirty="0">
                <a:solidFill>
                  <a:srgbClr val="C96A12"/>
                </a:solidFill>
                <a:latin typeface="Calibri" pitchFamily="34" charset="0"/>
                <a:ea typeface="Calibri" pitchFamily="34" charset="-122"/>
                <a:cs typeface="Calibri" pitchFamily="34" charset="-120"/>
              </a:rPr>
              <a:t>LPC</a:t>
            </a:r>
            <a:pPr indent="0" marL="0">
              <a:spcAft>
                <a:spcPts val="800"/>
              </a:spcAft>
              <a:buNone/>
            </a:pPr>
            <a:r>
              <a:rPr lang="en-US" sz="1250" dirty="0">
                <a:solidFill>
                  <a:srgbClr val="1F2A37"/>
                </a:solidFill>
                <a:latin typeface="Calibri" pitchFamily="34" charset="0"/>
                <a:ea typeface="Calibri" pitchFamily="34" charset="-122"/>
                <a:cs typeface="Calibri" pitchFamily="34" charset="-120"/>
              </a:rPr>
              <a:t>  2nd-order autoregressive model on I and Q, coefficients fitted per bin per frame (Yule–Walker), sent as side info.</a:t>
            </a:r>
            <a:endParaRPr lang="en-US" sz="1250" dirty="0"/>
          </a:p>
        </p:txBody>
      </p:sp>
      <p:sp>
        <p:nvSpPr>
          <p:cNvPr id="27" name="Text 2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007FA3"/>
                </a:solidFill>
                <a:latin typeface="Calibri" pitchFamily="34" charset="0"/>
                <a:ea typeface="Calibri" pitchFamily="34" charset="-122"/>
                <a:cs typeface="Calibri" pitchFamily="34" charset="-120"/>
              </a:rPr>
              <a:t>1 · THE PREDICTION-LAG PROBLEM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Twelve transmitters share the ramp axis</a:t>
            </a:r>
            <a:endParaRPr lang="en-US" sz="2600" dirty="0"/>
          </a:p>
        </p:txBody>
      </p:sp>
      <p:sp>
        <p:nvSpPr>
          <p:cNvPr id="4" name="Text 2"/>
          <p:cNvSpPr txBox="1"/>
          <p:nvPr/>
        </p:nvSpPr>
        <p:spPr>
          <a:xfrm>
            <a:off x="457200" y="1271016"/>
            <a:ext cx="1828800" cy="228600"/>
          </a:xfrm>
          <a:prstGeom prst="rect">
            <a:avLst/>
          </a:prstGeom>
          <a:noFill/>
          <a:ln/>
        </p:spPr>
        <p:txBody>
          <a:bodyPr wrap="square" lIns="0" tIns="0" rIns="0" bIns="0" rtlCol="0" anchor="ctr"/>
          <a:lstStyle/>
          <a:p>
            <a:pPr indent="0" marL="0">
              <a:buNone/>
            </a:pPr>
            <a:r>
              <a:rPr lang="en-US" sz="1000" dirty="0">
                <a:solidFill>
                  <a:srgbClr val="5B6675"/>
                </a:solidFill>
                <a:latin typeface="Calibri" pitchFamily="34" charset="0"/>
                <a:ea typeface="Calibri" pitchFamily="34" charset="-122"/>
                <a:cs typeface="Calibri" pitchFamily="34" charset="-120"/>
              </a:rPr>
              <a:t>ramp index →</a:t>
            </a:r>
            <a:endParaRPr lang="en-US" sz="1000" dirty="0"/>
          </a:p>
        </p:txBody>
      </p:sp>
      <p:sp>
        <p:nvSpPr>
          <p:cNvPr id="5" name="Shape 3"/>
          <p:cNvSpPr/>
          <p:nvPr/>
        </p:nvSpPr>
        <p:spPr>
          <a:xfrm>
            <a:off x="605790" y="1572768"/>
            <a:ext cx="274320" cy="384048"/>
          </a:xfrm>
          <a:prstGeom prst="rect">
            <a:avLst/>
          </a:prstGeom>
          <a:solidFill>
            <a:srgbClr val="8CC7D8"/>
          </a:solidFill>
          <a:ln w="12700">
            <a:solidFill>
              <a:srgbClr val="FFFFFF"/>
            </a:solidFill>
            <a:prstDash val="solid"/>
          </a:ln>
        </p:spPr>
      </p:sp>
      <p:sp>
        <p:nvSpPr>
          <p:cNvPr id="6" name="Text 4"/>
          <p:cNvSpPr txBox="1"/>
          <p:nvPr/>
        </p:nvSpPr>
        <p:spPr>
          <a:xfrm>
            <a:off x="60579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0</a:t>
            </a:r>
            <a:endParaRPr lang="en-US" sz="1000" dirty="0"/>
          </a:p>
        </p:txBody>
      </p:sp>
      <p:sp>
        <p:nvSpPr>
          <p:cNvPr id="7" name="Shape 5"/>
          <p:cNvSpPr/>
          <p:nvPr/>
        </p:nvSpPr>
        <p:spPr>
          <a:xfrm>
            <a:off x="912114" y="1572768"/>
            <a:ext cx="274320" cy="384048"/>
          </a:xfrm>
          <a:prstGeom prst="rect">
            <a:avLst/>
          </a:prstGeom>
          <a:solidFill>
            <a:srgbClr val="E6EBF0"/>
          </a:solidFill>
          <a:ln w="12700">
            <a:solidFill>
              <a:srgbClr val="FFFFFF"/>
            </a:solidFill>
            <a:prstDash val="solid"/>
          </a:ln>
        </p:spPr>
      </p:sp>
      <p:sp>
        <p:nvSpPr>
          <p:cNvPr id="8" name="Text 6"/>
          <p:cNvSpPr txBox="1"/>
          <p:nvPr/>
        </p:nvSpPr>
        <p:spPr>
          <a:xfrm>
            <a:off x="912114"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a:t>
            </a:r>
            <a:endParaRPr lang="en-US" sz="1000" dirty="0"/>
          </a:p>
        </p:txBody>
      </p:sp>
      <p:sp>
        <p:nvSpPr>
          <p:cNvPr id="9" name="Shape 7"/>
          <p:cNvSpPr/>
          <p:nvPr/>
        </p:nvSpPr>
        <p:spPr>
          <a:xfrm>
            <a:off x="1218438" y="1572768"/>
            <a:ext cx="274320" cy="384048"/>
          </a:xfrm>
          <a:prstGeom prst="rect">
            <a:avLst/>
          </a:prstGeom>
          <a:solidFill>
            <a:srgbClr val="E6EBF0"/>
          </a:solidFill>
          <a:ln w="12700">
            <a:solidFill>
              <a:srgbClr val="FFFFFF"/>
            </a:solidFill>
            <a:prstDash val="solid"/>
          </a:ln>
        </p:spPr>
      </p:sp>
      <p:sp>
        <p:nvSpPr>
          <p:cNvPr id="10" name="Text 8"/>
          <p:cNvSpPr txBox="1"/>
          <p:nvPr/>
        </p:nvSpPr>
        <p:spPr>
          <a:xfrm>
            <a:off x="1218438"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2</a:t>
            </a:r>
            <a:endParaRPr lang="en-US" sz="1000" dirty="0"/>
          </a:p>
        </p:txBody>
      </p:sp>
      <p:sp>
        <p:nvSpPr>
          <p:cNvPr id="11" name="Shape 9"/>
          <p:cNvSpPr/>
          <p:nvPr/>
        </p:nvSpPr>
        <p:spPr>
          <a:xfrm>
            <a:off x="1524762" y="1572768"/>
            <a:ext cx="274320" cy="384048"/>
          </a:xfrm>
          <a:prstGeom prst="rect">
            <a:avLst/>
          </a:prstGeom>
          <a:solidFill>
            <a:srgbClr val="E6EBF0"/>
          </a:solidFill>
          <a:ln w="12700">
            <a:solidFill>
              <a:srgbClr val="FFFFFF"/>
            </a:solidFill>
            <a:prstDash val="solid"/>
          </a:ln>
        </p:spPr>
      </p:sp>
      <p:sp>
        <p:nvSpPr>
          <p:cNvPr id="12" name="Text 10"/>
          <p:cNvSpPr txBox="1"/>
          <p:nvPr/>
        </p:nvSpPr>
        <p:spPr>
          <a:xfrm>
            <a:off x="1524762"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3</a:t>
            </a:r>
            <a:endParaRPr lang="en-US" sz="1000" dirty="0"/>
          </a:p>
        </p:txBody>
      </p:sp>
      <p:sp>
        <p:nvSpPr>
          <p:cNvPr id="13" name="Shape 11"/>
          <p:cNvSpPr/>
          <p:nvPr/>
        </p:nvSpPr>
        <p:spPr>
          <a:xfrm>
            <a:off x="1831086" y="1572768"/>
            <a:ext cx="274320" cy="384048"/>
          </a:xfrm>
          <a:prstGeom prst="rect">
            <a:avLst/>
          </a:prstGeom>
          <a:solidFill>
            <a:srgbClr val="E6EBF0"/>
          </a:solidFill>
          <a:ln w="12700">
            <a:solidFill>
              <a:srgbClr val="FFFFFF"/>
            </a:solidFill>
            <a:prstDash val="solid"/>
          </a:ln>
        </p:spPr>
      </p:sp>
      <p:sp>
        <p:nvSpPr>
          <p:cNvPr id="14" name="Text 12"/>
          <p:cNvSpPr txBox="1"/>
          <p:nvPr/>
        </p:nvSpPr>
        <p:spPr>
          <a:xfrm>
            <a:off x="1831086"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4</a:t>
            </a:r>
            <a:endParaRPr lang="en-US" sz="1000" dirty="0"/>
          </a:p>
        </p:txBody>
      </p:sp>
      <p:sp>
        <p:nvSpPr>
          <p:cNvPr id="15" name="Shape 13"/>
          <p:cNvSpPr/>
          <p:nvPr/>
        </p:nvSpPr>
        <p:spPr>
          <a:xfrm>
            <a:off x="2137410" y="1572768"/>
            <a:ext cx="274320" cy="384048"/>
          </a:xfrm>
          <a:prstGeom prst="rect">
            <a:avLst/>
          </a:prstGeom>
          <a:solidFill>
            <a:srgbClr val="E6EBF0"/>
          </a:solidFill>
          <a:ln w="12700">
            <a:solidFill>
              <a:srgbClr val="FFFFFF"/>
            </a:solidFill>
            <a:prstDash val="solid"/>
          </a:ln>
        </p:spPr>
      </p:sp>
      <p:sp>
        <p:nvSpPr>
          <p:cNvPr id="16" name="Text 14"/>
          <p:cNvSpPr txBox="1"/>
          <p:nvPr/>
        </p:nvSpPr>
        <p:spPr>
          <a:xfrm>
            <a:off x="213741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5</a:t>
            </a:r>
            <a:endParaRPr lang="en-US" sz="1000" dirty="0"/>
          </a:p>
        </p:txBody>
      </p:sp>
      <p:sp>
        <p:nvSpPr>
          <p:cNvPr id="17" name="Shape 15"/>
          <p:cNvSpPr/>
          <p:nvPr/>
        </p:nvSpPr>
        <p:spPr>
          <a:xfrm>
            <a:off x="2443734" y="1572768"/>
            <a:ext cx="274320" cy="384048"/>
          </a:xfrm>
          <a:prstGeom prst="rect">
            <a:avLst/>
          </a:prstGeom>
          <a:solidFill>
            <a:srgbClr val="E6EBF0"/>
          </a:solidFill>
          <a:ln w="12700">
            <a:solidFill>
              <a:srgbClr val="FFFFFF"/>
            </a:solidFill>
            <a:prstDash val="solid"/>
          </a:ln>
        </p:spPr>
      </p:sp>
      <p:sp>
        <p:nvSpPr>
          <p:cNvPr id="18" name="Text 16"/>
          <p:cNvSpPr txBox="1"/>
          <p:nvPr/>
        </p:nvSpPr>
        <p:spPr>
          <a:xfrm>
            <a:off x="2443734"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6</a:t>
            </a:r>
            <a:endParaRPr lang="en-US" sz="1000" dirty="0"/>
          </a:p>
        </p:txBody>
      </p:sp>
      <p:sp>
        <p:nvSpPr>
          <p:cNvPr id="19" name="Shape 17"/>
          <p:cNvSpPr/>
          <p:nvPr/>
        </p:nvSpPr>
        <p:spPr>
          <a:xfrm>
            <a:off x="2750058" y="1572768"/>
            <a:ext cx="274320" cy="384048"/>
          </a:xfrm>
          <a:prstGeom prst="rect">
            <a:avLst/>
          </a:prstGeom>
          <a:solidFill>
            <a:srgbClr val="E6EBF0"/>
          </a:solidFill>
          <a:ln w="12700">
            <a:solidFill>
              <a:srgbClr val="FFFFFF"/>
            </a:solidFill>
            <a:prstDash val="solid"/>
          </a:ln>
        </p:spPr>
      </p:sp>
      <p:sp>
        <p:nvSpPr>
          <p:cNvPr id="20" name="Text 18"/>
          <p:cNvSpPr txBox="1"/>
          <p:nvPr/>
        </p:nvSpPr>
        <p:spPr>
          <a:xfrm>
            <a:off x="2750058"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7</a:t>
            </a:r>
            <a:endParaRPr lang="en-US" sz="1000" dirty="0"/>
          </a:p>
        </p:txBody>
      </p:sp>
      <p:sp>
        <p:nvSpPr>
          <p:cNvPr id="21" name="Shape 19"/>
          <p:cNvSpPr/>
          <p:nvPr/>
        </p:nvSpPr>
        <p:spPr>
          <a:xfrm>
            <a:off x="3056382" y="1572768"/>
            <a:ext cx="274320" cy="384048"/>
          </a:xfrm>
          <a:prstGeom prst="rect">
            <a:avLst/>
          </a:prstGeom>
          <a:solidFill>
            <a:srgbClr val="E6EBF0"/>
          </a:solidFill>
          <a:ln w="12700">
            <a:solidFill>
              <a:srgbClr val="FFFFFF"/>
            </a:solidFill>
            <a:prstDash val="solid"/>
          </a:ln>
        </p:spPr>
      </p:sp>
      <p:sp>
        <p:nvSpPr>
          <p:cNvPr id="22" name="Text 20"/>
          <p:cNvSpPr txBox="1"/>
          <p:nvPr/>
        </p:nvSpPr>
        <p:spPr>
          <a:xfrm>
            <a:off x="3056382"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8</a:t>
            </a:r>
            <a:endParaRPr lang="en-US" sz="1000" dirty="0"/>
          </a:p>
        </p:txBody>
      </p:sp>
      <p:sp>
        <p:nvSpPr>
          <p:cNvPr id="23" name="Shape 21"/>
          <p:cNvSpPr/>
          <p:nvPr/>
        </p:nvSpPr>
        <p:spPr>
          <a:xfrm>
            <a:off x="3362706" y="1572768"/>
            <a:ext cx="274320" cy="384048"/>
          </a:xfrm>
          <a:prstGeom prst="rect">
            <a:avLst/>
          </a:prstGeom>
          <a:solidFill>
            <a:srgbClr val="E6EBF0"/>
          </a:solidFill>
          <a:ln w="12700">
            <a:solidFill>
              <a:srgbClr val="FFFFFF"/>
            </a:solidFill>
            <a:prstDash val="solid"/>
          </a:ln>
        </p:spPr>
      </p:sp>
      <p:sp>
        <p:nvSpPr>
          <p:cNvPr id="24" name="Text 22"/>
          <p:cNvSpPr txBox="1"/>
          <p:nvPr/>
        </p:nvSpPr>
        <p:spPr>
          <a:xfrm>
            <a:off x="3362706"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9</a:t>
            </a:r>
            <a:endParaRPr lang="en-US" sz="1000" dirty="0"/>
          </a:p>
        </p:txBody>
      </p:sp>
      <p:sp>
        <p:nvSpPr>
          <p:cNvPr id="25" name="Shape 23"/>
          <p:cNvSpPr/>
          <p:nvPr/>
        </p:nvSpPr>
        <p:spPr>
          <a:xfrm>
            <a:off x="3669030" y="1572768"/>
            <a:ext cx="274320" cy="384048"/>
          </a:xfrm>
          <a:prstGeom prst="rect">
            <a:avLst/>
          </a:prstGeom>
          <a:solidFill>
            <a:srgbClr val="E6EBF0"/>
          </a:solidFill>
          <a:ln w="12700">
            <a:solidFill>
              <a:srgbClr val="FFFFFF"/>
            </a:solidFill>
            <a:prstDash val="solid"/>
          </a:ln>
        </p:spPr>
      </p:sp>
      <p:sp>
        <p:nvSpPr>
          <p:cNvPr id="26" name="Text 24"/>
          <p:cNvSpPr txBox="1"/>
          <p:nvPr/>
        </p:nvSpPr>
        <p:spPr>
          <a:xfrm>
            <a:off x="366903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10</a:t>
            </a:r>
            <a:endParaRPr lang="en-US" sz="1000" dirty="0"/>
          </a:p>
        </p:txBody>
      </p:sp>
      <p:sp>
        <p:nvSpPr>
          <p:cNvPr id="27" name="Shape 25"/>
          <p:cNvSpPr/>
          <p:nvPr/>
        </p:nvSpPr>
        <p:spPr>
          <a:xfrm>
            <a:off x="3975354" y="1572768"/>
            <a:ext cx="274320" cy="384048"/>
          </a:xfrm>
          <a:prstGeom prst="rect">
            <a:avLst/>
          </a:prstGeom>
          <a:solidFill>
            <a:srgbClr val="E6EBF0"/>
          </a:solidFill>
          <a:ln w="12700">
            <a:solidFill>
              <a:srgbClr val="FFFFFF"/>
            </a:solidFill>
            <a:prstDash val="solid"/>
          </a:ln>
        </p:spPr>
      </p:sp>
      <p:sp>
        <p:nvSpPr>
          <p:cNvPr id="28" name="Text 26"/>
          <p:cNvSpPr txBox="1"/>
          <p:nvPr/>
        </p:nvSpPr>
        <p:spPr>
          <a:xfrm>
            <a:off x="3975354"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11</a:t>
            </a:r>
            <a:endParaRPr lang="en-US" sz="1000" dirty="0"/>
          </a:p>
        </p:txBody>
      </p:sp>
      <p:sp>
        <p:nvSpPr>
          <p:cNvPr id="29" name="Shape 27"/>
          <p:cNvSpPr/>
          <p:nvPr/>
        </p:nvSpPr>
        <p:spPr>
          <a:xfrm>
            <a:off x="4281678" y="1572768"/>
            <a:ext cx="274320" cy="384048"/>
          </a:xfrm>
          <a:prstGeom prst="rect">
            <a:avLst/>
          </a:prstGeom>
          <a:solidFill>
            <a:srgbClr val="8CC7D8"/>
          </a:solidFill>
          <a:ln w="12700">
            <a:solidFill>
              <a:srgbClr val="FFFFFF"/>
            </a:solidFill>
            <a:prstDash val="solid"/>
          </a:ln>
        </p:spPr>
      </p:sp>
      <p:sp>
        <p:nvSpPr>
          <p:cNvPr id="30" name="Text 28"/>
          <p:cNvSpPr txBox="1"/>
          <p:nvPr/>
        </p:nvSpPr>
        <p:spPr>
          <a:xfrm>
            <a:off x="4281678"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0</a:t>
            </a:r>
            <a:endParaRPr lang="en-US" sz="1000" dirty="0"/>
          </a:p>
        </p:txBody>
      </p:sp>
      <p:sp>
        <p:nvSpPr>
          <p:cNvPr id="31" name="Shape 29"/>
          <p:cNvSpPr/>
          <p:nvPr/>
        </p:nvSpPr>
        <p:spPr>
          <a:xfrm>
            <a:off x="4588002" y="1572768"/>
            <a:ext cx="274320" cy="384048"/>
          </a:xfrm>
          <a:prstGeom prst="rect">
            <a:avLst/>
          </a:prstGeom>
          <a:solidFill>
            <a:srgbClr val="E6EBF0"/>
          </a:solidFill>
          <a:ln w="12700">
            <a:solidFill>
              <a:srgbClr val="FFFFFF"/>
            </a:solidFill>
            <a:prstDash val="solid"/>
          </a:ln>
        </p:spPr>
      </p:sp>
      <p:sp>
        <p:nvSpPr>
          <p:cNvPr id="32" name="Text 30"/>
          <p:cNvSpPr txBox="1"/>
          <p:nvPr/>
        </p:nvSpPr>
        <p:spPr>
          <a:xfrm>
            <a:off x="4588002"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a:t>
            </a:r>
            <a:endParaRPr lang="en-US" sz="1000" dirty="0"/>
          </a:p>
        </p:txBody>
      </p:sp>
      <p:sp>
        <p:nvSpPr>
          <p:cNvPr id="33" name="Shape 31"/>
          <p:cNvSpPr/>
          <p:nvPr/>
        </p:nvSpPr>
        <p:spPr>
          <a:xfrm>
            <a:off x="4894326" y="1572768"/>
            <a:ext cx="274320" cy="384048"/>
          </a:xfrm>
          <a:prstGeom prst="rect">
            <a:avLst/>
          </a:prstGeom>
          <a:solidFill>
            <a:srgbClr val="E6EBF0"/>
          </a:solidFill>
          <a:ln w="12700">
            <a:solidFill>
              <a:srgbClr val="FFFFFF"/>
            </a:solidFill>
            <a:prstDash val="solid"/>
          </a:ln>
        </p:spPr>
      </p:sp>
      <p:sp>
        <p:nvSpPr>
          <p:cNvPr id="34" name="Text 32"/>
          <p:cNvSpPr txBox="1"/>
          <p:nvPr/>
        </p:nvSpPr>
        <p:spPr>
          <a:xfrm>
            <a:off x="4894326"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2</a:t>
            </a:r>
            <a:endParaRPr lang="en-US" sz="1000" dirty="0"/>
          </a:p>
        </p:txBody>
      </p:sp>
      <p:sp>
        <p:nvSpPr>
          <p:cNvPr id="35" name="Shape 33"/>
          <p:cNvSpPr/>
          <p:nvPr/>
        </p:nvSpPr>
        <p:spPr>
          <a:xfrm>
            <a:off x="5200650" y="1572768"/>
            <a:ext cx="274320" cy="384048"/>
          </a:xfrm>
          <a:prstGeom prst="rect">
            <a:avLst/>
          </a:prstGeom>
          <a:solidFill>
            <a:srgbClr val="E6EBF0"/>
          </a:solidFill>
          <a:ln w="12700">
            <a:solidFill>
              <a:srgbClr val="FFFFFF"/>
            </a:solidFill>
            <a:prstDash val="solid"/>
          </a:ln>
        </p:spPr>
      </p:sp>
      <p:sp>
        <p:nvSpPr>
          <p:cNvPr id="36" name="Text 34"/>
          <p:cNvSpPr txBox="1"/>
          <p:nvPr/>
        </p:nvSpPr>
        <p:spPr>
          <a:xfrm>
            <a:off x="520065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3</a:t>
            </a:r>
            <a:endParaRPr lang="en-US" sz="1000" dirty="0"/>
          </a:p>
        </p:txBody>
      </p:sp>
      <p:sp>
        <p:nvSpPr>
          <p:cNvPr id="37" name="Shape 35"/>
          <p:cNvSpPr/>
          <p:nvPr/>
        </p:nvSpPr>
        <p:spPr>
          <a:xfrm>
            <a:off x="5506974" y="1572768"/>
            <a:ext cx="274320" cy="384048"/>
          </a:xfrm>
          <a:prstGeom prst="rect">
            <a:avLst/>
          </a:prstGeom>
          <a:solidFill>
            <a:srgbClr val="E6EBF0"/>
          </a:solidFill>
          <a:ln w="12700">
            <a:solidFill>
              <a:srgbClr val="FFFFFF"/>
            </a:solidFill>
            <a:prstDash val="solid"/>
          </a:ln>
        </p:spPr>
      </p:sp>
      <p:sp>
        <p:nvSpPr>
          <p:cNvPr id="38" name="Text 36"/>
          <p:cNvSpPr txBox="1"/>
          <p:nvPr/>
        </p:nvSpPr>
        <p:spPr>
          <a:xfrm>
            <a:off x="5506974"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4</a:t>
            </a:r>
            <a:endParaRPr lang="en-US" sz="1000" dirty="0"/>
          </a:p>
        </p:txBody>
      </p:sp>
      <p:sp>
        <p:nvSpPr>
          <p:cNvPr id="39" name="Shape 37"/>
          <p:cNvSpPr/>
          <p:nvPr/>
        </p:nvSpPr>
        <p:spPr>
          <a:xfrm>
            <a:off x="5813298" y="1572768"/>
            <a:ext cx="274320" cy="384048"/>
          </a:xfrm>
          <a:prstGeom prst="rect">
            <a:avLst/>
          </a:prstGeom>
          <a:solidFill>
            <a:srgbClr val="E6EBF0"/>
          </a:solidFill>
          <a:ln w="12700">
            <a:solidFill>
              <a:srgbClr val="FFFFFF"/>
            </a:solidFill>
            <a:prstDash val="solid"/>
          </a:ln>
        </p:spPr>
      </p:sp>
      <p:sp>
        <p:nvSpPr>
          <p:cNvPr id="40" name="Text 38"/>
          <p:cNvSpPr txBox="1"/>
          <p:nvPr/>
        </p:nvSpPr>
        <p:spPr>
          <a:xfrm>
            <a:off x="5813298"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5</a:t>
            </a:r>
            <a:endParaRPr lang="en-US" sz="1000" dirty="0"/>
          </a:p>
        </p:txBody>
      </p:sp>
      <p:sp>
        <p:nvSpPr>
          <p:cNvPr id="41" name="Shape 39"/>
          <p:cNvSpPr/>
          <p:nvPr/>
        </p:nvSpPr>
        <p:spPr>
          <a:xfrm>
            <a:off x="6119622" y="1572768"/>
            <a:ext cx="274320" cy="384048"/>
          </a:xfrm>
          <a:prstGeom prst="rect">
            <a:avLst/>
          </a:prstGeom>
          <a:solidFill>
            <a:srgbClr val="E6EBF0"/>
          </a:solidFill>
          <a:ln w="12700">
            <a:solidFill>
              <a:srgbClr val="FFFFFF"/>
            </a:solidFill>
            <a:prstDash val="solid"/>
          </a:ln>
        </p:spPr>
      </p:sp>
      <p:sp>
        <p:nvSpPr>
          <p:cNvPr id="42" name="Text 40"/>
          <p:cNvSpPr txBox="1"/>
          <p:nvPr/>
        </p:nvSpPr>
        <p:spPr>
          <a:xfrm>
            <a:off x="6119622"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6</a:t>
            </a:r>
            <a:endParaRPr lang="en-US" sz="1000" dirty="0"/>
          </a:p>
        </p:txBody>
      </p:sp>
      <p:sp>
        <p:nvSpPr>
          <p:cNvPr id="43" name="Shape 41"/>
          <p:cNvSpPr/>
          <p:nvPr/>
        </p:nvSpPr>
        <p:spPr>
          <a:xfrm>
            <a:off x="6425946" y="1572768"/>
            <a:ext cx="274320" cy="384048"/>
          </a:xfrm>
          <a:prstGeom prst="rect">
            <a:avLst/>
          </a:prstGeom>
          <a:solidFill>
            <a:srgbClr val="E6EBF0"/>
          </a:solidFill>
          <a:ln w="12700">
            <a:solidFill>
              <a:srgbClr val="FFFFFF"/>
            </a:solidFill>
            <a:prstDash val="solid"/>
          </a:ln>
        </p:spPr>
      </p:sp>
      <p:sp>
        <p:nvSpPr>
          <p:cNvPr id="44" name="Text 42"/>
          <p:cNvSpPr txBox="1"/>
          <p:nvPr/>
        </p:nvSpPr>
        <p:spPr>
          <a:xfrm>
            <a:off x="6425946"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7</a:t>
            </a:r>
            <a:endParaRPr lang="en-US" sz="1000" dirty="0"/>
          </a:p>
        </p:txBody>
      </p:sp>
      <p:sp>
        <p:nvSpPr>
          <p:cNvPr id="45" name="Shape 43"/>
          <p:cNvSpPr/>
          <p:nvPr/>
        </p:nvSpPr>
        <p:spPr>
          <a:xfrm>
            <a:off x="6732270" y="1572768"/>
            <a:ext cx="274320" cy="384048"/>
          </a:xfrm>
          <a:prstGeom prst="rect">
            <a:avLst/>
          </a:prstGeom>
          <a:solidFill>
            <a:srgbClr val="E6EBF0"/>
          </a:solidFill>
          <a:ln w="12700">
            <a:solidFill>
              <a:srgbClr val="FFFFFF"/>
            </a:solidFill>
            <a:prstDash val="solid"/>
          </a:ln>
        </p:spPr>
      </p:sp>
      <p:sp>
        <p:nvSpPr>
          <p:cNvPr id="46" name="Text 44"/>
          <p:cNvSpPr txBox="1"/>
          <p:nvPr/>
        </p:nvSpPr>
        <p:spPr>
          <a:xfrm>
            <a:off x="673227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8</a:t>
            </a:r>
            <a:endParaRPr lang="en-US" sz="1000" dirty="0"/>
          </a:p>
        </p:txBody>
      </p:sp>
      <p:sp>
        <p:nvSpPr>
          <p:cNvPr id="47" name="Shape 45"/>
          <p:cNvSpPr/>
          <p:nvPr/>
        </p:nvSpPr>
        <p:spPr>
          <a:xfrm>
            <a:off x="7038594" y="1572768"/>
            <a:ext cx="274320" cy="384048"/>
          </a:xfrm>
          <a:prstGeom prst="rect">
            <a:avLst/>
          </a:prstGeom>
          <a:solidFill>
            <a:srgbClr val="E6EBF0"/>
          </a:solidFill>
          <a:ln w="12700">
            <a:solidFill>
              <a:srgbClr val="FFFFFF"/>
            </a:solidFill>
            <a:prstDash val="solid"/>
          </a:ln>
        </p:spPr>
      </p:sp>
      <p:sp>
        <p:nvSpPr>
          <p:cNvPr id="48" name="Text 46"/>
          <p:cNvSpPr txBox="1"/>
          <p:nvPr/>
        </p:nvSpPr>
        <p:spPr>
          <a:xfrm>
            <a:off x="7038594"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9</a:t>
            </a:r>
            <a:endParaRPr lang="en-US" sz="1000" dirty="0"/>
          </a:p>
        </p:txBody>
      </p:sp>
      <p:sp>
        <p:nvSpPr>
          <p:cNvPr id="49" name="Shape 47"/>
          <p:cNvSpPr/>
          <p:nvPr/>
        </p:nvSpPr>
        <p:spPr>
          <a:xfrm>
            <a:off x="7344918" y="1572768"/>
            <a:ext cx="274320" cy="384048"/>
          </a:xfrm>
          <a:prstGeom prst="rect">
            <a:avLst/>
          </a:prstGeom>
          <a:solidFill>
            <a:srgbClr val="E6EBF0"/>
          </a:solidFill>
          <a:ln w="12700">
            <a:solidFill>
              <a:srgbClr val="FFFFFF"/>
            </a:solidFill>
            <a:prstDash val="solid"/>
          </a:ln>
        </p:spPr>
      </p:sp>
      <p:sp>
        <p:nvSpPr>
          <p:cNvPr id="50" name="Text 48"/>
          <p:cNvSpPr txBox="1"/>
          <p:nvPr/>
        </p:nvSpPr>
        <p:spPr>
          <a:xfrm>
            <a:off x="7344918"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10</a:t>
            </a:r>
            <a:endParaRPr lang="en-US" sz="1000" dirty="0"/>
          </a:p>
        </p:txBody>
      </p:sp>
      <p:sp>
        <p:nvSpPr>
          <p:cNvPr id="51" name="Shape 49"/>
          <p:cNvSpPr/>
          <p:nvPr/>
        </p:nvSpPr>
        <p:spPr>
          <a:xfrm>
            <a:off x="7651242" y="1572768"/>
            <a:ext cx="274320" cy="384048"/>
          </a:xfrm>
          <a:prstGeom prst="rect">
            <a:avLst/>
          </a:prstGeom>
          <a:solidFill>
            <a:srgbClr val="E8C2CA"/>
          </a:solidFill>
          <a:ln w="12700">
            <a:solidFill>
              <a:srgbClr val="FFFFFF"/>
            </a:solidFill>
            <a:prstDash val="solid"/>
          </a:ln>
        </p:spPr>
      </p:sp>
      <p:sp>
        <p:nvSpPr>
          <p:cNvPr id="52" name="Text 50"/>
          <p:cNvSpPr txBox="1"/>
          <p:nvPr/>
        </p:nvSpPr>
        <p:spPr>
          <a:xfrm>
            <a:off x="7651242"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11</a:t>
            </a:r>
            <a:endParaRPr lang="en-US" sz="1000" dirty="0"/>
          </a:p>
        </p:txBody>
      </p:sp>
      <p:sp>
        <p:nvSpPr>
          <p:cNvPr id="53" name="Shape 51"/>
          <p:cNvSpPr/>
          <p:nvPr/>
        </p:nvSpPr>
        <p:spPr>
          <a:xfrm>
            <a:off x="7957566" y="1572768"/>
            <a:ext cx="274320" cy="384048"/>
          </a:xfrm>
          <a:prstGeom prst="rect">
            <a:avLst/>
          </a:prstGeom>
          <a:solidFill>
            <a:srgbClr val="007FA3"/>
          </a:solidFill>
          <a:ln w="12700">
            <a:solidFill>
              <a:srgbClr val="FFFFFF"/>
            </a:solidFill>
            <a:prstDash val="solid"/>
          </a:ln>
        </p:spPr>
      </p:sp>
      <p:sp>
        <p:nvSpPr>
          <p:cNvPr id="54" name="Text 52"/>
          <p:cNvSpPr txBox="1"/>
          <p:nvPr/>
        </p:nvSpPr>
        <p:spPr>
          <a:xfrm>
            <a:off x="7957566" y="1572768"/>
            <a:ext cx="2743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8263890" y="1572768"/>
            <a:ext cx="274320" cy="384048"/>
          </a:xfrm>
          <a:prstGeom prst="rect">
            <a:avLst/>
          </a:prstGeom>
          <a:solidFill>
            <a:srgbClr val="E6EBF0"/>
          </a:solidFill>
          <a:ln w="12700">
            <a:solidFill>
              <a:srgbClr val="FFFFFF"/>
            </a:solidFill>
            <a:prstDash val="solid"/>
          </a:ln>
        </p:spPr>
      </p:sp>
      <p:sp>
        <p:nvSpPr>
          <p:cNvPr id="56" name="Text 54"/>
          <p:cNvSpPr txBox="1"/>
          <p:nvPr/>
        </p:nvSpPr>
        <p:spPr>
          <a:xfrm>
            <a:off x="8263890" y="1572768"/>
            <a:ext cx="274320" cy="384048"/>
          </a:xfrm>
          <a:prstGeom prst="rect">
            <a:avLst/>
          </a:prstGeom>
          <a:noFill/>
          <a:ln/>
        </p:spPr>
        <p:txBody>
          <a:bodyPr wrap="square" lIns="0" tIns="0" rIns="0" bIns="0" rtlCol="0" anchor="ctr"/>
          <a:lstStyle/>
          <a:p>
            <a:pPr algn="ctr" indent="0" marL="0">
              <a:buNone/>
            </a:pPr>
            <a:r>
              <a:rPr lang="en-US" sz="1000" dirty="0">
                <a:solidFill>
                  <a:srgbClr val="1F2A37"/>
                </a:solidFill>
                <a:latin typeface="Calibri" pitchFamily="34" charset="0"/>
                <a:ea typeface="Calibri" pitchFamily="34" charset="-122"/>
                <a:cs typeface="Calibri" pitchFamily="34" charset="-120"/>
              </a:rPr>
              <a:t>1</a:t>
            </a:r>
            <a:endParaRPr lang="en-US" sz="1000" dirty="0"/>
          </a:p>
        </p:txBody>
      </p:sp>
      <p:sp>
        <p:nvSpPr>
          <p:cNvPr id="57" name="Text 55"/>
          <p:cNvSpPr txBox="1"/>
          <p:nvPr/>
        </p:nvSpPr>
        <p:spPr>
          <a:xfrm>
            <a:off x="5029200" y="1271016"/>
            <a:ext cx="3657600" cy="228600"/>
          </a:xfrm>
          <a:prstGeom prst="rect">
            <a:avLst/>
          </a:prstGeom>
          <a:noFill/>
          <a:ln/>
        </p:spPr>
        <p:txBody>
          <a:bodyPr wrap="square" lIns="0" tIns="0" rIns="0" bIns="0" rtlCol="0" anchor="ctr"/>
          <a:lstStyle/>
          <a:p>
            <a:pPr algn="r" indent="0" marL="0">
              <a:buNone/>
            </a:pPr>
            <a:r>
              <a:rPr lang="en-US" sz="1000" dirty="0">
                <a:solidFill>
                  <a:srgbClr val="5B6675"/>
                </a:solidFill>
                <a:latin typeface="Calibri" pitchFamily="34" charset="0"/>
                <a:ea typeface="Calibri" pitchFamily="34" charset="-122"/>
                <a:cs typeface="Calibri" pitchFamily="34" charset="-120"/>
              </a:rPr>
              <a:t>number = transmitter (TX) that sent the ramp</a:t>
            </a:r>
            <a:endParaRPr lang="en-US" sz="1000" dirty="0"/>
          </a:p>
        </p:txBody>
      </p:sp>
      <p:sp>
        <p:nvSpPr>
          <p:cNvPr id="58" name="Shape 56"/>
          <p:cNvSpPr/>
          <p:nvPr/>
        </p:nvSpPr>
        <p:spPr>
          <a:xfrm>
            <a:off x="8094726" y="1956816"/>
            <a:ext cx="0" cy="201168"/>
          </a:xfrm>
          <a:prstGeom prst="line">
            <a:avLst/>
          </a:prstGeom>
          <a:noFill/>
          <a:ln w="19050">
            <a:solidFill>
              <a:srgbClr val="A8324A"/>
            </a:solidFill>
            <a:prstDash val="solid"/>
          </a:ln>
        </p:spPr>
      </p:sp>
      <p:sp>
        <p:nvSpPr>
          <p:cNvPr id="59" name="Shape 57"/>
          <p:cNvSpPr/>
          <p:nvPr/>
        </p:nvSpPr>
        <p:spPr>
          <a:xfrm>
            <a:off x="7788402" y="2157984"/>
            <a:ext cx="306324" cy="0"/>
          </a:xfrm>
          <a:prstGeom prst="line">
            <a:avLst/>
          </a:prstGeom>
          <a:noFill/>
          <a:ln w="19050">
            <a:solidFill>
              <a:srgbClr val="A8324A"/>
            </a:solidFill>
            <a:prstDash val="solid"/>
          </a:ln>
        </p:spPr>
      </p:sp>
      <p:sp>
        <p:nvSpPr>
          <p:cNvPr id="60" name="Shape 58"/>
          <p:cNvSpPr/>
          <p:nvPr/>
        </p:nvSpPr>
        <p:spPr>
          <a:xfrm flipV="1">
            <a:off x="7788402" y="1975104"/>
            <a:ext cx="0" cy="182880"/>
          </a:xfrm>
          <a:prstGeom prst="line">
            <a:avLst/>
          </a:prstGeom>
          <a:noFill/>
          <a:ln w="19050">
            <a:solidFill>
              <a:srgbClr val="A8324A"/>
            </a:solidFill>
            <a:prstDash val="solid"/>
            <a:tailEnd type="triangle"/>
          </a:ln>
        </p:spPr>
      </p:sp>
      <p:sp>
        <p:nvSpPr>
          <p:cNvPr id="61" name="Text 59"/>
          <p:cNvSpPr txBox="1"/>
          <p:nvPr/>
        </p:nvSpPr>
        <p:spPr>
          <a:xfrm>
            <a:off x="6645402" y="2048256"/>
            <a:ext cx="1051560" cy="228600"/>
          </a:xfrm>
          <a:prstGeom prst="rect">
            <a:avLst/>
          </a:prstGeom>
          <a:noFill/>
          <a:ln/>
        </p:spPr>
        <p:txBody>
          <a:bodyPr wrap="square" lIns="0" tIns="0" rIns="0" bIns="0" rtlCol="0" anchor="ctr"/>
          <a:lstStyle/>
          <a:p>
            <a:pPr algn="r" indent="0" marL="0">
              <a:buNone/>
            </a:pPr>
            <a:r>
              <a:rPr lang="en-US" sz="1100" b="1" dirty="0">
                <a:solidFill>
                  <a:srgbClr val="A8324A"/>
                </a:solidFill>
                <a:latin typeface="Calibri" pitchFamily="34" charset="0"/>
                <a:ea typeface="Calibri" pitchFamily="34" charset="-122"/>
                <a:cs typeface="Calibri" pitchFamily="34" charset="-120"/>
              </a:rPr>
              <a:t>lag 1</a:t>
            </a:r>
            <a:endParaRPr lang="en-US" sz="1100" dirty="0"/>
          </a:p>
        </p:txBody>
      </p:sp>
      <p:sp>
        <p:nvSpPr>
          <p:cNvPr id="62" name="Shape 60"/>
          <p:cNvSpPr/>
          <p:nvPr/>
        </p:nvSpPr>
        <p:spPr>
          <a:xfrm>
            <a:off x="8094726" y="2157984"/>
            <a:ext cx="0" cy="347472"/>
          </a:xfrm>
          <a:prstGeom prst="line">
            <a:avLst/>
          </a:prstGeom>
          <a:noFill/>
          <a:ln w="19050">
            <a:solidFill>
              <a:srgbClr val="007FA3"/>
            </a:solidFill>
            <a:prstDash val="solid"/>
          </a:ln>
        </p:spPr>
      </p:sp>
      <p:sp>
        <p:nvSpPr>
          <p:cNvPr id="63" name="Shape 61"/>
          <p:cNvSpPr/>
          <p:nvPr/>
        </p:nvSpPr>
        <p:spPr>
          <a:xfrm>
            <a:off x="4418838" y="2505456"/>
            <a:ext cx="3675888" cy="0"/>
          </a:xfrm>
          <a:prstGeom prst="line">
            <a:avLst/>
          </a:prstGeom>
          <a:noFill/>
          <a:ln w="19050">
            <a:solidFill>
              <a:srgbClr val="007FA3"/>
            </a:solidFill>
            <a:prstDash val="solid"/>
          </a:ln>
        </p:spPr>
      </p:sp>
      <p:sp>
        <p:nvSpPr>
          <p:cNvPr id="64" name="Shape 62"/>
          <p:cNvSpPr/>
          <p:nvPr/>
        </p:nvSpPr>
        <p:spPr>
          <a:xfrm flipV="1">
            <a:off x="4418838" y="1975104"/>
            <a:ext cx="0" cy="530352"/>
          </a:xfrm>
          <a:prstGeom prst="line">
            <a:avLst/>
          </a:prstGeom>
          <a:noFill/>
          <a:ln w="19050">
            <a:solidFill>
              <a:srgbClr val="007FA3"/>
            </a:solidFill>
            <a:prstDash val="solid"/>
            <a:tailEnd type="triangle"/>
          </a:ln>
        </p:spPr>
      </p:sp>
      <p:sp>
        <p:nvSpPr>
          <p:cNvPr id="65" name="Text 63"/>
          <p:cNvSpPr txBox="1"/>
          <p:nvPr/>
        </p:nvSpPr>
        <p:spPr>
          <a:xfrm>
            <a:off x="4510278" y="2258568"/>
            <a:ext cx="1280160" cy="228600"/>
          </a:xfrm>
          <a:prstGeom prst="rect">
            <a:avLst/>
          </a:prstGeom>
          <a:noFill/>
          <a:ln/>
        </p:spPr>
        <p:txBody>
          <a:bodyPr wrap="square" lIns="0" tIns="0" rIns="0" bIns="0" rtlCol="0" anchor="ctr"/>
          <a:lstStyle/>
          <a:p>
            <a:pPr indent="0" marL="0">
              <a:buNone/>
            </a:pPr>
            <a:r>
              <a:rPr lang="en-US" sz="1100" b="1" dirty="0">
                <a:solidFill>
                  <a:srgbClr val="007FA3"/>
                </a:solidFill>
                <a:latin typeface="Calibri" pitchFamily="34" charset="0"/>
                <a:ea typeface="Calibri" pitchFamily="34" charset="-122"/>
                <a:cs typeface="Calibri" pitchFamily="34" charset="-120"/>
              </a:rPr>
              <a:t>lag 12 = nTx</a:t>
            </a:r>
            <a:endParaRPr lang="en-US" sz="1100" dirty="0"/>
          </a:p>
        </p:txBody>
      </p:sp>
      <p:sp>
        <p:nvSpPr>
          <p:cNvPr id="66" name="Shape 64"/>
          <p:cNvSpPr/>
          <p:nvPr/>
        </p:nvSpPr>
        <p:spPr>
          <a:xfrm>
            <a:off x="457200" y="2926080"/>
            <a:ext cx="3977640" cy="1417320"/>
          </a:xfrm>
          <a:prstGeom prst="roundRect">
            <a:avLst>
              <a:gd name="adj" fmla="val 5161"/>
            </a:avLst>
          </a:prstGeom>
          <a:solidFill>
            <a:srgbClr val="F7EDEF"/>
          </a:solidFill>
          <a:ln w="12700">
            <a:solidFill>
              <a:srgbClr val="F7EDEF"/>
            </a:solidFill>
            <a:prstDash val="solid"/>
          </a:ln>
        </p:spPr>
      </p:sp>
      <p:sp>
        <p:nvSpPr>
          <p:cNvPr id="67" name="Text 65"/>
          <p:cNvSpPr txBox="1"/>
          <p:nvPr/>
        </p:nvSpPr>
        <p:spPr>
          <a:xfrm>
            <a:off x="566928" y="2999232"/>
            <a:ext cx="3749040" cy="1508760"/>
          </a:xfrm>
          <a:prstGeom prst="rect">
            <a:avLst/>
          </a:prstGeom>
          <a:noFill/>
          <a:ln/>
        </p:spPr>
        <p:txBody>
          <a:bodyPr wrap="square" lIns="0" tIns="0" rIns="0" bIns="0" rtlCol="0" anchor="t"/>
          <a:lstStyle/>
          <a:p>
            <a:pPr indent="0" marL="0">
              <a:spcAft>
                <a:spcPts val="600"/>
              </a:spcAft>
              <a:buNone/>
            </a:pPr>
            <a:r>
              <a:rPr lang="en-US" sz="1400" b="1" dirty="0">
                <a:solidFill>
                  <a:srgbClr val="A8324A"/>
                </a:solidFill>
                <a:latin typeface="Calibri" pitchFamily="34" charset="0"/>
                <a:ea typeface="Calibri" pitchFamily="34" charset="-122"/>
                <a:cs typeface="Calibri" pitchFamily="34" charset="-120"/>
              </a:rPr>
              <a:t>Lag 1 — as first built</a:t>
            </a:r>
            <a:endParaRPr lang="en-US" sz="1400" dirty="0"/>
          </a:p>
          <a:p>
            <a:pPr indent="0" marL="0">
              <a:spcAft>
                <a:spcPts val="600"/>
              </a:spcAft>
              <a:buNone/>
            </a:pPr>
            <a:r>
              <a:rPr lang="en-US" sz="1250" dirty="0">
                <a:solidFill>
                  <a:srgbClr val="1F2A37"/>
                </a:solidFill>
                <a:latin typeface="Calibri" pitchFamily="34" charset="0"/>
                <a:ea typeface="Calibri" pitchFamily="34" charset="-122"/>
                <a:cs typeface="Calibri" pitchFamily="34" charset="-120"/>
              </a:rPr>
              <a:t>Ramp m−1 came from a different antenna 11 times in 12. The phase change between them is the array steering phase (where the target is), not Doppler (how it moves), so a slow-time predictor has nothing smooth to track.</a:t>
            </a:r>
            <a:endParaRPr lang="en-US" sz="1400" dirty="0"/>
          </a:p>
        </p:txBody>
      </p:sp>
      <p:sp>
        <p:nvSpPr>
          <p:cNvPr id="68" name="Shape 66"/>
          <p:cNvSpPr/>
          <p:nvPr/>
        </p:nvSpPr>
        <p:spPr>
          <a:xfrm>
            <a:off x="4709160" y="2926080"/>
            <a:ext cx="3977640" cy="1417320"/>
          </a:xfrm>
          <a:prstGeom prst="roundRect">
            <a:avLst>
              <a:gd name="adj" fmla="val 5161"/>
            </a:avLst>
          </a:prstGeom>
          <a:solidFill>
            <a:srgbClr val="E4F1F6"/>
          </a:solidFill>
          <a:ln w="12700">
            <a:solidFill>
              <a:srgbClr val="E4F1F6"/>
            </a:solidFill>
            <a:prstDash val="solid"/>
          </a:ln>
        </p:spPr>
      </p:sp>
      <p:sp>
        <p:nvSpPr>
          <p:cNvPr id="69" name="Text 67"/>
          <p:cNvSpPr txBox="1"/>
          <p:nvPr/>
        </p:nvSpPr>
        <p:spPr>
          <a:xfrm>
            <a:off x="4818888" y="2999232"/>
            <a:ext cx="3749040" cy="1508760"/>
          </a:xfrm>
          <a:prstGeom prst="rect">
            <a:avLst/>
          </a:prstGeom>
          <a:noFill/>
          <a:ln/>
        </p:spPr>
        <p:txBody>
          <a:bodyPr wrap="square" lIns="0" tIns="0" rIns="0" bIns="0" rtlCol="0" anchor="t"/>
          <a:lstStyle/>
          <a:p>
            <a:pPr indent="0" marL="0">
              <a:spcAft>
                <a:spcPts val="600"/>
              </a:spcAft>
              <a:buNone/>
            </a:pPr>
            <a:r>
              <a:rPr lang="en-US" sz="1400" b="1" dirty="0">
                <a:solidFill>
                  <a:srgbClr val="007FA3"/>
                </a:solidFill>
                <a:latin typeface="Calibri" pitchFamily="34" charset="0"/>
                <a:ea typeface="Calibri" pitchFamily="34" charset="-122"/>
                <a:cs typeface="Calibri" pitchFamily="34" charset="-120"/>
              </a:rPr>
              <a:t>Lag nTx — corrected</a:t>
            </a:r>
            <a:endParaRPr lang="en-US" sz="1400" dirty="0"/>
          </a:p>
          <a:p>
            <a:pPr indent="0" marL="0">
              <a:spcAft>
                <a:spcPts val="600"/>
              </a:spcAft>
              <a:buNone/>
            </a:pPr>
            <a:r>
              <a:rPr lang="en-US" sz="1250" dirty="0">
                <a:solidFill>
                  <a:srgbClr val="1F2A37"/>
                </a:solidFill>
                <a:latin typeface="Calibri" pitchFamily="34" charset="0"/>
                <a:ea typeface="Calibri" pitchFamily="34" charset="-122"/>
                <a:cs typeface="Calibri" pitchFamily="34" charset="-120"/>
              </a:rPr>
              <a:t>Ramp m−12 is the same transmitter, one TDM cycle earlier. That is the true slow-time neighbour: only Doppler changes between them, which is exactly what DRHE and LPC were designed to predict.</a:t>
            </a:r>
            <a:endParaRPr lang="en-US" sz="1400" dirty="0"/>
          </a:p>
        </p:txBody>
      </p:sp>
      <p:sp>
        <p:nvSpPr>
          <p:cNvPr id="70" name="Text 6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007FA3"/>
                </a:solidFill>
                <a:latin typeface="Calibri" pitchFamily="34" charset="0"/>
                <a:ea typeface="Calibri" pitchFamily="34" charset="-122"/>
                <a:cs typeface="Calibri" pitchFamily="34" charset="-120"/>
              </a:rPr>
              <a:t>1 · THE PREDICTION-LAG PROBLEM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Compression ratio against prediction lag</a:t>
            </a:r>
            <a:endParaRPr lang="en-US" sz="2600" dirty="0"/>
          </a:p>
        </p:txBody>
      </p:sp>
      <p:graphicFrame>
        <p:nvGraphicFramePr>
          <p:cNvPr id="4" name="Chart 0" descr=""/>
          <p:cNvGraphicFramePr/>
          <p:nvPr/>
        </p:nvGraphicFramePr>
        <p:xfrm>
          <a:off x="320040" y="1051560"/>
          <a:ext cx="553212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1097280"/>
            <a:ext cx="2606040" cy="1024128"/>
          </a:xfrm>
          <a:prstGeom prst="roundRect">
            <a:avLst>
              <a:gd name="adj" fmla="val 7143"/>
            </a:avLst>
          </a:prstGeom>
          <a:solidFill>
            <a:srgbClr val="F7EDEF"/>
          </a:solidFill>
          <a:ln w="12700">
            <a:solidFill>
              <a:srgbClr val="F7EDEF"/>
            </a:solidFill>
            <a:prstDash val="solid"/>
          </a:ln>
        </p:spPr>
      </p:sp>
      <p:sp>
        <p:nvSpPr>
          <p:cNvPr id="6" name="Text 3"/>
          <p:cNvSpPr txBox="1"/>
          <p:nvPr/>
        </p:nvSpPr>
        <p:spPr>
          <a:xfrm>
            <a:off x="6126480" y="1143000"/>
            <a:ext cx="2514600" cy="960120"/>
          </a:xfrm>
          <a:prstGeom prst="rect">
            <a:avLst/>
          </a:prstGeom>
          <a:noFill/>
          <a:ln/>
        </p:spPr>
        <p:txBody>
          <a:bodyPr wrap="square" lIns="1016" tIns="1016" rIns="1016" bIns="1016" rtlCol="0" anchor="t"/>
          <a:lstStyle/>
          <a:p>
            <a:pPr indent="0" marL="0">
              <a:spcAft>
                <a:spcPts val="200"/>
              </a:spcAft>
              <a:buNone/>
            </a:pPr>
            <a:r>
              <a:rPr lang="en-US" sz="1300" b="1" dirty="0">
                <a:solidFill>
                  <a:srgbClr val="A8324A"/>
                </a:solidFill>
                <a:latin typeface="Calibri" pitchFamily="34" charset="0"/>
                <a:ea typeface="Calibri" pitchFamily="34" charset="-122"/>
                <a:cs typeface="Calibri" pitchFamily="34" charset="-120"/>
              </a:rPr>
              <a:t>L = 1 (as built)</a:t>
            </a:r>
            <a:endParaRPr lang="en-US" sz="1300" dirty="0"/>
          </a:p>
          <a:p>
            <a:pPr indent="0" marL="0">
              <a:spcAft>
                <a:spcPts val="200"/>
              </a:spcAft>
              <a:buNone/>
            </a:pPr>
            <a:r>
              <a:rPr lang="en-US" sz="1300" b="1" dirty="0">
                <a:solidFill>
                  <a:srgbClr val="1F2A37"/>
                </a:solidFill>
                <a:latin typeface="Calibri" pitchFamily="34" charset="0"/>
                <a:ea typeface="Calibri" pitchFamily="34" charset="-122"/>
                <a:cs typeface="Calibri" pitchFamily="34" charset="-120"/>
              </a:rPr>
              <a:t>DRHE 3.310 · LPC 3.385</a:t>
            </a:r>
            <a:endParaRPr lang="en-US" sz="1300" dirty="0"/>
          </a:p>
          <a:p>
            <a:pPr indent="0" marL="0">
              <a:spcAft>
                <a:spcPts val="200"/>
              </a:spcAft>
              <a:buNone/>
            </a:pPr>
            <a:r>
              <a:rPr lang="en-US" sz="1150" dirty="0">
                <a:solidFill>
                  <a:srgbClr val="5B6675"/>
                </a:solidFill>
                <a:latin typeface="Calibri" pitchFamily="34" charset="0"/>
                <a:ea typeface="Calibri" pitchFamily="34" charset="-122"/>
                <a:cs typeface="Calibri" pitchFamily="34" charset="-120"/>
              </a:rPr>
              <a:t>both below no prediction, 3.479</a:t>
            </a:r>
            <a:endParaRPr lang="en-US" sz="1300" dirty="0"/>
          </a:p>
        </p:txBody>
      </p:sp>
      <p:sp>
        <p:nvSpPr>
          <p:cNvPr id="7" name="Shape 4"/>
          <p:cNvSpPr/>
          <p:nvPr/>
        </p:nvSpPr>
        <p:spPr>
          <a:xfrm>
            <a:off x="6080760" y="2240280"/>
            <a:ext cx="2606040" cy="1024128"/>
          </a:xfrm>
          <a:prstGeom prst="roundRect">
            <a:avLst>
              <a:gd name="adj" fmla="val 7143"/>
            </a:avLst>
          </a:prstGeom>
          <a:solidFill>
            <a:srgbClr val="E4F1F6"/>
          </a:solidFill>
          <a:ln w="12700">
            <a:solidFill>
              <a:srgbClr val="E4F1F6"/>
            </a:solidFill>
            <a:prstDash val="solid"/>
          </a:ln>
        </p:spPr>
      </p:sp>
      <p:sp>
        <p:nvSpPr>
          <p:cNvPr id="8" name="Text 5"/>
          <p:cNvSpPr txBox="1"/>
          <p:nvPr/>
        </p:nvSpPr>
        <p:spPr>
          <a:xfrm>
            <a:off x="6126480" y="2286000"/>
            <a:ext cx="2514600" cy="960120"/>
          </a:xfrm>
          <a:prstGeom prst="rect">
            <a:avLst/>
          </a:prstGeom>
          <a:noFill/>
          <a:ln/>
        </p:spPr>
        <p:txBody>
          <a:bodyPr wrap="square" lIns="1016" tIns="1016" rIns="1016" bIns="1016" rtlCol="0" anchor="t"/>
          <a:lstStyle/>
          <a:p>
            <a:pPr indent="0" marL="0">
              <a:spcAft>
                <a:spcPts val="200"/>
              </a:spcAft>
              <a:buNone/>
            </a:pPr>
            <a:r>
              <a:rPr lang="en-US" sz="1300" b="1" dirty="0">
                <a:solidFill>
                  <a:srgbClr val="007FA3"/>
                </a:solidFill>
                <a:latin typeface="Calibri" pitchFamily="34" charset="0"/>
                <a:ea typeface="Calibri" pitchFamily="34" charset="-122"/>
                <a:cs typeface="Calibri" pitchFamily="34" charset="-120"/>
              </a:rPr>
              <a:t>L = 12 = nTx (corrected)</a:t>
            </a:r>
            <a:endParaRPr lang="en-US" sz="1300" dirty="0"/>
          </a:p>
          <a:p>
            <a:pPr indent="0" marL="0">
              <a:spcAft>
                <a:spcPts val="200"/>
              </a:spcAft>
              <a:buNone/>
            </a:pPr>
            <a:r>
              <a:rPr lang="en-US" sz="1300" b="1" dirty="0">
                <a:solidFill>
                  <a:srgbClr val="1F2A37"/>
                </a:solidFill>
                <a:latin typeface="Calibri" pitchFamily="34" charset="0"/>
                <a:ea typeface="Calibri" pitchFamily="34" charset="-122"/>
                <a:cs typeface="Calibri" pitchFamily="34" charset="-120"/>
              </a:rPr>
              <a:t>DRHE 3.751 · LPC 3.697</a:t>
            </a:r>
            <a:endParaRPr lang="en-US" sz="1300" dirty="0"/>
          </a:p>
          <a:p>
            <a:pPr indent="0" marL="0">
              <a:spcAft>
                <a:spcPts val="200"/>
              </a:spcAft>
              <a:buNone/>
            </a:pPr>
            <a:r>
              <a:rPr lang="en-US" sz="1150" dirty="0">
                <a:solidFill>
                  <a:srgbClr val="5B6675"/>
                </a:solidFill>
                <a:latin typeface="Calibri" pitchFamily="34" charset="0"/>
                <a:ea typeface="Calibri" pitchFamily="34" charset="-122"/>
                <a:cs typeface="Calibri" pitchFamily="34" charset="-120"/>
              </a:rPr>
              <a:t>+7.8 % and +6.3 % over no prediction</a:t>
            </a:r>
            <a:endParaRPr lang="en-US" sz="1300" dirty="0"/>
          </a:p>
        </p:txBody>
      </p:sp>
      <p:sp>
        <p:nvSpPr>
          <p:cNvPr id="9" name="Shape 6"/>
          <p:cNvSpPr/>
          <p:nvPr/>
        </p:nvSpPr>
        <p:spPr>
          <a:xfrm>
            <a:off x="6080760" y="3383280"/>
            <a:ext cx="2606040" cy="1234440"/>
          </a:xfrm>
          <a:prstGeom prst="roundRect">
            <a:avLst>
              <a:gd name="adj" fmla="val 5926"/>
            </a:avLst>
          </a:prstGeom>
          <a:solidFill>
            <a:srgbClr val="EEF4F7"/>
          </a:solidFill>
          <a:ln w="12700">
            <a:solidFill>
              <a:srgbClr val="EEF4F7"/>
            </a:solidFill>
            <a:prstDash val="solid"/>
          </a:ln>
        </p:spPr>
      </p:sp>
      <p:sp>
        <p:nvSpPr>
          <p:cNvPr id="10" name="Text 7"/>
          <p:cNvSpPr txBox="1"/>
          <p:nvPr/>
        </p:nvSpPr>
        <p:spPr>
          <a:xfrm>
            <a:off x="6126480" y="3429000"/>
            <a:ext cx="2514600" cy="1170432"/>
          </a:xfrm>
          <a:prstGeom prst="rect">
            <a:avLst/>
          </a:prstGeom>
          <a:noFill/>
          <a:ln/>
        </p:spPr>
        <p:txBody>
          <a:bodyPr wrap="square" lIns="1016" tIns="1016" rIns="1016" bIns="1016" rtlCol="0" anchor="t"/>
          <a:lstStyle/>
          <a:p>
            <a:pPr indent="0" marL="0">
              <a:spcAft>
                <a:spcPts val="400"/>
              </a:spcAft>
              <a:buNone/>
            </a:pPr>
            <a:r>
              <a:rPr lang="en-US" sz="1150" b="1" dirty="0">
                <a:solidFill>
                  <a:srgbClr val="1F2A37"/>
                </a:solidFill>
                <a:latin typeface="Calibri" pitchFamily="34" charset="0"/>
                <a:ea typeface="Calibri" pitchFamily="34" charset="-122"/>
                <a:cs typeface="Calibri" pitchFamily="34" charset="-120"/>
              </a:rPr>
              <a:t>Only multiples of 12 help. </a:t>
            </a:r>
            <a:pPr indent="0" marL="0">
              <a:spcAft>
                <a:spcPts val="400"/>
              </a:spcAft>
              <a:buNone/>
            </a:pPr>
            <a:r>
              <a:rPr lang="en-US" sz="1150" dirty="0">
                <a:solidFill>
                  <a:srgbClr val="1F2A37"/>
                </a:solidFill>
                <a:latin typeface="Calibri" pitchFamily="34" charset="0"/>
                <a:ea typeface="Calibri" pitchFamily="34" charset="-122"/>
                <a:cs typeface="Calibri" pitchFamily="34" charset="-120"/>
              </a:rPr>
              <a:t>LPC also rises at L = 6, 18, 30 because its second tap, 2L, lands on a multiple of 12. Any other lag is no better than doing nothing.</a:t>
            </a:r>
            <a:endParaRPr lang="en-US" sz="1150" dirty="0"/>
          </a:p>
        </p:txBody>
      </p:sp>
      <p:sp>
        <p:nvSpPr>
          <p:cNvPr id="11" name="Text 8"/>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Per-frame CR with 256-bit padding, mean of 50 frames, 4 RX, Kiem's fixed dictionary. L = 1 and 12 reproduce the HLS C-simulation to 5 decimals.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007FA3"/>
                </a:solidFill>
                <a:latin typeface="Calibri" pitchFamily="34" charset="0"/>
                <a:ea typeface="Calibri" pitchFamily="34" charset="-122"/>
                <a:cs typeface="Calibri" pitchFamily="34" charset="-120"/>
              </a:rPr>
              <a:t>1 · THE PREDICTION-LAG PROBLEM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As first built, both predictors lost to doing nothing</a:t>
            </a:r>
            <a:endParaRPr lang="en-US" sz="2600" dirty="0"/>
          </a:p>
        </p:txBody>
      </p:sp>
      <p:graphicFrame>
        <p:nvGraphicFramePr>
          <p:cNvPr id="4" name="Chart 0" descr=""/>
          <p:cNvGraphicFramePr/>
          <p:nvPr/>
        </p:nvGraphicFramePr>
        <p:xfrm>
          <a:off x="320040" y="1051560"/>
          <a:ext cx="484632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0" y="1188720"/>
          <a:ext cx="3200400" cy="914400"/>
        </p:xfrm>
        <a:graphic>
          <a:graphicData uri="http://schemas.openxmlformats.org/drawingml/2006/table">
            <a:tbl>
              <a:tblPr/>
              <a:tblGrid>
                <a:gridCol w="1371600"/>
                <a:gridCol w="914400"/>
                <a:gridCol w="914400"/>
              </a:tblGrid>
              <a:tr h="329184">
                <a:tc>
                  <a:txBody>
                    <a:bodyPr/>
                    <a:lstStyle/>
                    <a:p>
                      <a:pPr indent="0" marL="0">
                        <a:buNone/>
                      </a:pPr>
                      <a:r>
                        <a:rPr lang="en-US" sz="1300" b="1" dirty="0">
                          <a:solidFill>
                            <a:srgbClr val="5B6675"/>
                          </a:solidFill>
                          <a:latin typeface="Calibri" pitchFamily="34" charset="0"/>
                          <a:ea typeface="Calibri" pitchFamily="34" charset="-122"/>
                          <a:cs typeface="Calibri" pitchFamily="34" charset="-120"/>
                        </a:rPr>
                        <a:t>vs no prediction</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5B6675"/>
                          </a:solidFill>
                          <a:latin typeface="Calibri" pitchFamily="34" charset="0"/>
                          <a:ea typeface="Calibri" pitchFamily="34" charset="-122"/>
                          <a:cs typeface="Calibri" pitchFamily="34" charset="-120"/>
                        </a:rPr>
                        <a:t>lag 1</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5B6675"/>
                          </a:solidFill>
                          <a:latin typeface="Calibri" pitchFamily="34" charset="0"/>
                          <a:ea typeface="Calibri" pitchFamily="34" charset="-122"/>
                          <a:cs typeface="Calibri" pitchFamily="34" charset="-120"/>
                        </a:rPr>
                        <a:t>lag nTx</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29184">
                <a:tc>
                  <a:txBody>
                    <a:bodyPr/>
                    <a:lstStyle/>
                    <a:p>
                      <a:pPr indent="0" marL="0">
                        <a:buNone/>
                      </a:pPr>
                      <a:r>
                        <a:rPr lang="en-US" sz="1300" b="1" dirty="0">
                          <a:solidFill>
                            <a:srgbClr val="007FA3"/>
                          </a:solidFill>
                          <a:latin typeface="Calibri" pitchFamily="34" charset="0"/>
                          <a:ea typeface="Calibri" pitchFamily="34" charset="-122"/>
                          <a:cs typeface="Calibri" pitchFamily="34" charset="-120"/>
                        </a:rPr>
                        <a:t>DRHE</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37"/>
                          </a:solidFill>
                          <a:latin typeface="Calibri" pitchFamily="34" charset="0"/>
                          <a:ea typeface="Calibri" pitchFamily="34" charset="-122"/>
                          <a:cs typeface="Calibri" pitchFamily="34" charset="-120"/>
                        </a:rPr>
                        <a:t>−4.9 %</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F2A37"/>
                          </a:solidFill>
                          <a:latin typeface="Calibri" pitchFamily="34" charset="0"/>
                          <a:ea typeface="Calibri" pitchFamily="34" charset="-122"/>
                          <a:cs typeface="Calibri" pitchFamily="34" charset="-120"/>
                        </a:rPr>
                        <a:t>+7.8 %</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r h="329184">
                <a:tc>
                  <a:txBody>
                    <a:bodyPr/>
                    <a:lstStyle/>
                    <a:p>
                      <a:pPr indent="0" marL="0">
                        <a:buNone/>
                      </a:pPr>
                      <a:r>
                        <a:rPr lang="en-US" sz="1300" b="1" dirty="0">
                          <a:solidFill>
                            <a:srgbClr val="C96A12"/>
                          </a:solidFill>
                          <a:latin typeface="Calibri" pitchFamily="34" charset="0"/>
                          <a:ea typeface="Calibri" pitchFamily="34" charset="-122"/>
                          <a:cs typeface="Calibri" pitchFamily="34" charset="-120"/>
                        </a:rPr>
                        <a:t>LPC</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37"/>
                          </a:solidFill>
                          <a:latin typeface="Calibri" pitchFamily="34" charset="0"/>
                          <a:ea typeface="Calibri" pitchFamily="34" charset="-122"/>
                          <a:cs typeface="Calibri" pitchFamily="34" charset="-120"/>
                        </a:rPr>
                        <a:t>−2.7 %</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F2A37"/>
                          </a:solidFill>
                          <a:latin typeface="Calibri" pitchFamily="34" charset="0"/>
                          <a:ea typeface="Calibri" pitchFamily="34" charset="-122"/>
                          <a:cs typeface="Calibri" pitchFamily="34" charset="-120"/>
                        </a:rPr>
                        <a:t>+6.3 %</a:t>
                      </a:r>
                      <a:endParaRPr lang="en-US" sz="13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0" y="2514600"/>
            <a:ext cx="3200400" cy="2103120"/>
          </a:xfrm>
          <a:prstGeom prst="roundRect">
            <a:avLst>
              <a:gd name="adj" fmla="val 3478"/>
            </a:avLst>
          </a:prstGeom>
          <a:solidFill>
            <a:srgbClr val="EEF4F7"/>
          </a:solidFill>
          <a:ln w="12700">
            <a:solidFill>
              <a:srgbClr val="EEF4F7"/>
            </a:solidFill>
            <a:prstDash val="solid"/>
          </a:ln>
        </p:spPr>
      </p:sp>
      <p:sp>
        <p:nvSpPr>
          <p:cNvPr id="7" name="Text 3"/>
          <p:cNvSpPr txBox="1"/>
          <p:nvPr/>
        </p:nvSpPr>
        <p:spPr>
          <a:xfrm>
            <a:off x="5532120" y="2578608"/>
            <a:ext cx="3108960" cy="2011680"/>
          </a:xfrm>
          <a:prstGeom prst="rect">
            <a:avLst/>
          </a:prstGeom>
          <a:noFill/>
          <a:ln/>
        </p:spPr>
        <p:txBody>
          <a:bodyPr wrap="square" lIns="1016" tIns="1016" rIns="1016" bIns="1016" rtlCol="0" anchor="t"/>
          <a:lstStyle/>
          <a:p>
            <a:pPr marL="152400" indent="-152400">
              <a:spcAft>
                <a:spcPts val="400"/>
              </a:spcAft>
              <a:buSzPct val="100000"/>
              <a:buChar char="•"/>
            </a:pPr>
            <a:r>
              <a:rPr lang="en-US" sz="1200" dirty="0">
                <a:solidFill>
                  <a:srgbClr val="1F2A37"/>
                </a:solidFill>
                <a:latin typeface="Calibri" pitchFamily="34" charset="0"/>
                <a:ea typeface="Calibri" pitchFamily="34" charset="-122"/>
                <a:cs typeface="Calibri" pitchFamily="34" charset="-120"/>
              </a:rPr>
              <a:t>Coding the FX16 values with no predictor at all gave CR 3.479.</a:t>
            </a:r>
            <a:endParaRPr lang="en-US" sz="1300" dirty="0"/>
          </a:p>
          <a:p>
            <a:pPr marL="152400" indent="-152400">
              <a:spcAft>
                <a:spcPts val="400"/>
              </a:spcAft>
              <a:buSzPct val="100000"/>
              <a:buChar char="•"/>
            </a:pPr>
            <a:r>
              <a:rPr lang="en-US" sz="1200" dirty="0">
                <a:solidFill>
                  <a:srgbClr val="1F2A37"/>
                </a:solidFill>
                <a:latin typeface="Calibri" pitchFamily="34" charset="0"/>
                <a:ea typeface="Calibri" pitchFamily="34" charset="-122"/>
                <a:cs typeface="Calibri" pitchFamily="34" charset="-120"/>
              </a:rPr>
              <a:t>The benchmark ratios (3.30, 3.37) looked right because most of the ratio is not prediction: 1.64× is unused int16 headroom and 2.13× is spectral sparsity.</a:t>
            </a:r>
            <a:endParaRPr lang="en-US" sz="1300" dirty="0"/>
          </a:p>
          <a:p>
            <a:pPr marL="152400" indent="-152400">
              <a:spcAft>
                <a:spcPts val="400"/>
              </a:spcAft>
              <a:buSzPct val="100000"/>
              <a:buChar char="•"/>
            </a:pPr>
            <a:r>
              <a:rPr lang="en-US" sz="1200" dirty="0">
                <a:solidFill>
                  <a:srgbClr val="1F2A37"/>
                </a:solidFill>
                <a:latin typeface="Calibri" pitchFamily="34" charset="0"/>
                <a:ea typeface="Calibri" pitchFamily="34" charset="-122"/>
                <a:cs typeface="Calibri" pitchFamily="34" charset="-120"/>
              </a:rPr>
              <a:t>Every sample is still reconstructed exactly in all four designs (MaxDiff = 0).</a:t>
            </a:r>
            <a:endParaRPr lang="en-US" sz="1300" dirty="0"/>
          </a:p>
        </p:txBody>
      </p:sp>
      <p:sp>
        <p:nvSpPr>
          <p:cNvPr id="8" name="Text 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007FA3"/>
                </a:solidFill>
                <a:latin typeface="Calibri" pitchFamily="34" charset="0"/>
                <a:ea typeface="Calibri" pitchFamily="34" charset="-122"/>
                <a:cs typeface="Calibri" pitchFamily="34" charset="-120"/>
              </a:rPr>
              <a:t>1 · THE PREDICTION-LAG PROBLEM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The residual tail, before and after the fix</a:t>
            </a:r>
            <a:endParaRPr lang="en-US" sz="2600" dirty="0"/>
          </a:p>
        </p:txBody>
      </p:sp>
      <p:graphicFrame>
        <p:nvGraphicFramePr>
          <p:cNvPr id="4" name="Chart 0" descr=""/>
          <p:cNvGraphicFramePr/>
          <p:nvPr/>
        </p:nvGraphicFramePr>
        <p:xfrm>
          <a:off x="320040" y="1097280"/>
          <a:ext cx="51206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715000" y="1188720"/>
          <a:ext cx="2971800" cy="914400"/>
        </p:xfrm>
        <a:graphic>
          <a:graphicData uri="http://schemas.openxmlformats.org/drawingml/2006/table">
            <a:tbl>
              <a:tblPr/>
              <a:tblGrid>
                <a:gridCol w="1965960"/>
                <a:gridCol w="1005840"/>
              </a:tblGrid>
              <a:tr h="292608">
                <a:tc gridSpan="2">
                  <a:txBody>
                    <a:bodyPr/>
                    <a:lstStyle/>
                    <a:p>
                      <a:pPr indent="0" marL="0">
                        <a:buNone/>
                      </a:pPr>
                      <a:r>
                        <a:rPr lang="en-US" sz="1200" b="1" dirty="0">
                          <a:solidFill>
                            <a:srgbClr val="5B6675"/>
                          </a:solidFill>
                          <a:latin typeface="Calibri" pitchFamily="34" charset="0"/>
                          <a:ea typeface="Calibri" pitchFamily="34" charset="-122"/>
                          <a:cs typeface="Calibri" pitchFamily="34" charset="-120"/>
                        </a:rPr>
                        <a:t>Share of values in categories 0–2 (cost ≤ 4 bits)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hMerge="1">
                  <a:tcPr/>
                </a:tc>
              </a:tr>
              <a:tr h="29260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No prediction</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dirty="0">
                          <a:solidFill>
                            <a:srgbClr val="1F2A37"/>
                          </a:solidFill>
                          <a:latin typeface="Calibri" pitchFamily="34" charset="0"/>
                          <a:ea typeface="Calibri" pitchFamily="34" charset="-122"/>
                          <a:cs typeface="Calibri" pitchFamily="34" charset="-120"/>
                        </a:rPr>
                        <a:t>76.1 %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260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DRHE, lag 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dirty="0">
                          <a:solidFill>
                            <a:srgbClr val="1F2A37"/>
                          </a:solidFill>
                          <a:latin typeface="Calibri" pitchFamily="34" charset="0"/>
                          <a:ea typeface="Calibri" pitchFamily="34" charset="-122"/>
                          <a:cs typeface="Calibri" pitchFamily="34" charset="-120"/>
                        </a:rPr>
                        <a:t>64.5 %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260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DRHE, lag 12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b="1" dirty="0">
                          <a:solidFill>
                            <a:srgbClr val="1F2A37"/>
                          </a:solidFill>
                          <a:latin typeface="Calibri" pitchFamily="34" charset="0"/>
                          <a:ea typeface="Calibri" pitchFamily="34" charset="-122"/>
                          <a:cs typeface="Calibri" pitchFamily="34" charset="-120"/>
                        </a:rPr>
                        <a:t>84.6 %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260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LPC, lags 12, 24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b="1" dirty="0">
                          <a:solidFill>
                            <a:srgbClr val="1F2A37"/>
                          </a:solidFill>
                          <a:latin typeface="Calibri" pitchFamily="34" charset="0"/>
                          <a:ea typeface="Calibri" pitchFamily="34" charset="-122"/>
                          <a:cs typeface="Calibri" pitchFamily="34" charset="-120"/>
                        </a:rPr>
                        <a:t>92.9 %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 name="Shape 2"/>
          <p:cNvSpPr/>
          <p:nvPr/>
        </p:nvSpPr>
        <p:spPr>
          <a:xfrm>
            <a:off x="5715000" y="3154680"/>
            <a:ext cx="2971800" cy="1463040"/>
          </a:xfrm>
          <a:prstGeom prst="roundRect">
            <a:avLst>
              <a:gd name="adj" fmla="val 5000"/>
            </a:avLst>
          </a:prstGeom>
          <a:solidFill>
            <a:srgbClr val="EEF4F7"/>
          </a:solidFill>
          <a:ln w="12700">
            <a:solidFill>
              <a:srgbClr val="EEF4F7"/>
            </a:solidFill>
            <a:prstDash val="solid"/>
          </a:ln>
        </p:spPr>
      </p:sp>
      <p:sp>
        <p:nvSpPr>
          <p:cNvPr id="7" name="Text 3"/>
          <p:cNvSpPr txBox="1"/>
          <p:nvPr/>
        </p:nvSpPr>
        <p:spPr>
          <a:xfrm>
            <a:off x="5760720" y="3200400"/>
            <a:ext cx="2880360" cy="1371600"/>
          </a:xfrm>
          <a:prstGeom prst="rect">
            <a:avLst/>
          </a:prstGeom>
          <a:noFill/>
          <a:ln/>
        </p:spPr>
        <p:txBody>
          <a:bodyPr wrap="square" lIns="1016" tIns="1016" rIns="1016" bIns="1016" rtlCol="0" anchor="t"/>
          <a:lstStyle/>
          <a:p>
            <a:pPr indent="0" marL="0">
              <a:spcAft>
                <a:spcPts val="400"/>
              </a:spcAft>
              <a:buNone/>
            </a:pPr>
            <a:r>
              <a:rPr lang="en-US" sz="1200" b="1" dirty="0">
                <a:solidFill>
                  <a:srgbClr val="1F2A37"/>
                </a:solidFill>
                <a:latin typeface="Calibri" pitchFamily="34" charset="0"/>
                <a:ea typeface="Calibri" pitchFamily="34" charset="-122"/>
                <a:cs typeface="Calibri" pitchFamily="34" charset="-120"/>
              </a:rPr>
              <a:t>Why a few big residuals matter: </a:t>
            </a:r>
            <a:pPr indent="0" marL="0">
              <a:spcAft>
                <a:spcPts val="400"/>
              </a:spcAft>
              <a:buNone/>
            </a:pPr>
            <a:r>
              <a:rPr lang="en-US" sz="1200" dirty="0">
                <a:solidFill>
                  <a:srgbClr val="1F2A37"/>
                </a:solidFill>
                <a:latin typeface="Calibri" pitchFamily="34" charset="0"/>
                <a:ea typeface="Calibri" pitchFamily="34" charset="-122"/>
                <a:cs typeface="Calibri" pitchFamily="34" charset="-120"/>
              </a:rPr>
              <a:t>a residual of 16–31 costs 10 bits, 128–255 costs 16. At lag 1, one value in eighteen was eating one bit in seven.</a:t>
            </a:r>
            <a:endParaRPr lang="en-US" sz="1200" dirty="0"/>
          </a:p>
        </p:txBody>
      </p:sp>
      <p:sp>
        <p:nvSpPr>
          <p:cNvPr id="8" name="Text 4"/>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Five audit frames, 4 RX. Category shares from the independent Python implementation.</a:t>
            </a:r>
            <a:endParaRPr lang="en-US" sz="900" dirty="0"/>
          </a:p>
        </p:txBody>
      </p:sp>
      <p:sp>
        <p:nvSpPr>
          <p:cNvPr id="9" name="Text 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C96A12"/>
                </a:solidFill>
                <a:latin typeface="Calibri" pitchFamily="34" charset="0"/>
                <a:ea typeface="Calibri" pitchFamily="34" charset="-122"/>
                <a:cs typeface="Calibri" pitchFamily="34" charset="-120"/>
              </a:rPr>
              <a:t>2 · DRHE VS LPC</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Why LPC lost less on the wrong axis</a:t>
            </a:r>
            <a:endParaRPr lang="en-US" sz="2600" dirty="0"/>
          </a:p>
        </p:txBody>
      </p:sp>
      <p:graphicFrame>
        <p:nvGraphicFramePr>
          <p:cNvPr id="4" name="Chart 0" descr=""/>
          <p:cNvGraphicFramePr/>
          <p:nvPr/>
        </p:nvGraphicFramePr>
        <p:xfrm>
          <a:off x="320040" y="1051560"/>
          <a:ext cx="502920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32120" y="1097280"/>
            <a:ext cx="1554480" cy="2377440"/>
          </a:xfrm>
          <a:prstGeom prst="roundRect">
            <a:avLst>
              <a:gd name="adj" fmla="val 4706"/>
            </a:avLst>
          </a:prstGeom>
          <a:solidFill>
            <a:srgbClr val="EEF4F7"/>
          </a:solidFill>
          <a:ln w="12700">
            <a:solidFill>
              <a:srgbClr val="EEF4F7"/>
            </a:solidFill>
            <a:prstDash val="solid"/>
          </a:ln>
        </p:spPr>
      </p:sp>
      <p:sp>
        <p:nvSpPr>
          <p:cNvPr id="6" name="Text 3"/>
          <p:cNvSpPr txBox="1"/>
          <p:nvPr/>
        </p:nvSpPr>
        <p:spPr>
          <a:xfrm>
            <a:off x="5532120" y="1170432"/>
            <a:ext cx="1554480" cy="274320"/>
          </a:xfrm>
          <a:prstGeom prst="rect">
            <a:avLst/>
          </a:prstGeom>
          <a:noFill/>
          <a:ln/>
        </p:spPr>
        <p:txBody>
          <a:bodyPr wrap="square" lIns="0" tIns="0" rIns="0" bIns="0" rtlCol="0" anchor="ctr"/>
          <a:lstStyle/>
          <a:p>
            <a:pPr algn="ctr" indent="0" marL="0">
              <a:buNone/>
            </a:pPr>
            <a:r>
              <a:rPr lang="en-US" sz="1200" b="1" dirty="0">
                <a:solidFill>
                  <a:srgbClr val="A8324A"/>
                </a:solidFill>
                <a:latin typeface="Calibri" pitchFamily="34" charset="0"/>
                <a:ea typeface="Calibri" pitchFamily="34" charset="-122"/>
                <a:cs typeface="Calibri" pitchFamily="34" charset="-120"/>
              </a:rPr>
              <a:t>lags 1, 2</a:t>
            </a:r>
            <a:endParaRPr lang="en-US" sz="1200" dirty="0"/>
          </a:p>
        </p:txBody>
      </p:sp>
      <p:sp>
        <p:nvSpPr>
          <p:cNvPr id="7" name="Text 4"/>
          <p:cNvSpPr txBox="1"/>
          <p:nvPr/>
        </p:nvSpPr>
        <p:spPr>
          <a:xfrm>
            <a:off x="5532120" y="1481328"/>
            <a:ext cx="1554480" cy="502920"/>
          </a:xfrm>
          <a:prstGeom prst="rect">
            <a:avLst/>
          </a:prstGeom>
          <a:noFill/>
          <a:ln/>
        </p:spPr>
        <p:txBody>
          <a:bodyPr wrap="square" lIns="0" tIns="0" rIns="0" bIns="0" rtlCol="0" anchor="ctr"/>
          <a:lstStyle/>
          <a:p>
            <a:pPr algn="ctr" indent="0" marL="0">
              <a:buNone/>
            </a:pPr>
            <a:r>
              <a:rPr lang="en-US" sz="2800" b="1" dirty="0">
                <a:solidFill>
                  <a:srgbClr val="1F2A37"/>
                </a:solidFill>
                <a:latin typeface="Cambria" pitchFamily="34" charset="0"/>
                <a:ea typeface="Cambria" pitchFamily="34" charset="-122"/>
                <a:cs typeface="Cambria" pitchFamily="34" charset="-120"/>
              </a:rPr>
              <a:t>−0.02</a:t>
            </a:r>
            <a:endParaRPr lang="en-US" sz="2800" dirty="0"/>
          </a:p>
        </p:txBody>
      </p:sp>
      <p:sp>
        <p:nvSpPr>
          <p:cNvPr id="8" name="Text 5"/>
          <p:cNvSpPr txBox="1"/>
          <p:nvPr/>
        </p:nvSpPr>
        <p:spPr>
          <a:xfrm>
            <a:off x="5532120" y="1965960"/>
            <a:ext cx="1554480" cy="22860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median fitted a₁</a:t>
            </a:r>
            <a:endParaRPr lang="en-US" sz="1050" dirty="0"/>
          </a:p>
        </p:txBody>
      </p:sp>
      <p:sp>
        <p:nvSpPr>
          <p:cNvPr id="9" name="Text 6"/>
          <p:cNvSpPr txBox="1"/>
          <p:nvPr/>
        </p:nvSpPr>
        <p:spPr>
          <a:xfrm>
            <a:off x="5532120" y="2286000"/>
            <a:ext cx="1554480" cy="502920"/>
          </a:xfrm>
          <a:prstGeom prst="rect">
            <a:avLst/>
          </a:prstGeom>
          <a:noFill/>
          <a:ln/>
        </p:spPr>
        <p:txBody>
          <a:bodyPr wrap="square" lIns="0" tIns="0" rIns="0" bIns="0" rtlCol="0" anchor="ctr"/>
          <a:lstStyle/>
          <a:p>
            <a:pPr algn="ctr" indent="0" marL="0">
              <a:buNone/>
            </a:pPr>
            <a:r>
              <a:rPr lang="en-US" sz="2800" b="1" dirty="0">
                <a:solidFill>
                  <a:srgbClr val="1F2A37"/>
                </a:solidFill>
                <a:latin typeface="Cambria" pitchFamily="34" charset="0"/>
                <a:ea typeface="Cambria" pitchFamily="34" charset="-122"/>
                <a:cs typeface="Cambria" pitchFamily="34" charset="-120"/>
              </a:rPr>
              <a:t>97.7 %</a:t>
            </a:r>
            <a:endParaRPr lang="en-US" sz="2800" dirty="0"/>
          </a:p>
        </p:txBody>
      </p:sp>
      <p:sp>
        <p:nvSpPr>
          <p:cNvPr id="10" name="Text 7"/>
          <p:cNvSpPr txBox="1"/>
          <p:nvPr/>
        </p:nvSpPr>
        <p:spPr>
          <a:xfrm>
            <a:off x="5577840" y="2770632"/>
            <a:ext cx="1463040" cy="64008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of the raw energy left in the residual</a:t>
            </a:r>
            <a:endParaRPr lang="en-US" sz="1050" dirty="0"/>
          </a:p>
        </p:txBody>
      </p:sp>
      <p:sp>
        <p:nvSpPr>
          <p:cNvPr id="11" name="Shape 8"/>
          <p:cNvSpPr/>
          <p:nvPr/>
        </p:nvSpPr>
        <p:spPr>
          <a:xfrm>
            <a:off x="7132320" y="1097280"/>
            <a:ext cx="1554480" cy="2377440"/>
          </a:xfrm>
          <a:prstGeom prst="roundRect">
            <a:avLst>
              <a:gd name="adj" fmla="val 4706"/>
            </a:avLst>
          </a:prstGeom>
          <a:solidFill>
            <a:srgbClr val="EEF4F7"/>
          </a:solidFill>
          <a:ln w="12700">
            <a:solidFill>
              <a:srgbClr val="EEF4F7"/>
            </a:solidFill>
            <a:prstDash val="solid"/>
          </a:ln>
        </p:spPr>
      </p:sp>
      <p:sp>
        <p:nvSpPr>
          <p:cNvPr id="12" name="Text 9"/>
          <p:cNvSpPr txBox="1"/>
          <p:nvPr/>
        </p:nvSpPr>
        <p:spPr>
          <a:xfrm>
            <a:off x="7132320" y="1170432"/>
            <a:ext cx="1554480" cy="274320"/>
          </a:xfrm>
          <a:prstGeom prst="rect">
            <a:avLst/>
          </a:prstGeom>
          <a:noFill/>
          <a:ln/>
        </p:spPr>
        <p:txBody>
          <a:bodyPr wrap="square" lIns="0" tIns="0" rIns="0" bIns="0" rtlCol="0" anchor="ctr"/>
          <a:lstStyle/>
          <a:p>
            <a:pPr algn="ctr" indent="0" marL="0">
              <a:buNone/>
            </a:pPr>
            <a:r>
              <a:rPr lang="en-US" sz="1200" b="1" dirty="0">
                <a:solidFill>
                  <a:srgbClr val="007FA3"/>
                </a:solidFill>
                <a:latin typeface="Calibri" pitchFamily="34" charset="0"/>
                <a:ea typeface="Calibri" pitchFamily="34" charset="-122"/>
                <a:cs typeface="Calibri" pitchFamily="34" charset="-120"/>
              </a:rPr>
              <a:t>lags 12, 24</a:t>
            </a:r>
            <a:endParaRPr lang="en-US" sz="1200" dirty="0"/>
          </a:p>
        </p:txBody>
      </p:sp>
      <p:sp>
        <p:nvSpPr>
          <p:cNvPr id="13" name="Text 10"/>
          <p:cNvSpPr txBox="1"/>
          <p:nvPr/>
        </p:nvSpPr>
        <p:spPr>
          <a:xfrm>
            <a:off x="7132320" y="1481328"/>
            <a:ext cx="1554480" cy="502920"/>
          </a:xfrm>
          <a:prstGeom prst="rect">
            <a:avLst/>
          </a:prstGeom>
          <a:noFill/>
          <a:ln/>
        </p:spPr>
        <p:txBody>
          <a:bodyPr wrap="square" lIns="0" tIns="0" rIns="0" bIns="0" rtlCol="0" anchor="ctr"/>
          <a:lstStyle/>
          <a:p>
            <a:pPr algn="ctr" indent="0" marL="0">
              <a:buNone/>
            </a:pPr>
            <a:r>
              <a:rPr lang="en-US" sz="2800" b="1" dirty="0">
                <a:solidFill>
                  <a:srgbClr val="1F2A37"/>
                </a:solidFill>
                <a:latin typeface="Cambria" pitchFamily="34" charset="0"/>
                <a:ea typeface="Cambria" pitchFamily="34" charset="-122"/>
                <a:cs typeface="Cambria" pitchFamily="34" charset="-120"/>
              </a:rPr>
              <a:t>0.40</a:t>
            </a:r>
            <a:endParaRPr lang="en-US" sz="2800" dirty="0"/>
          </a:p>
        </p:txBody>
      </p:sp>
      <p:sp>
        <p:nvSpPr>
          <p:cNvPr id="14" name="Text 11"/>
          <p:cNvSpPr txBox="1"/>
          <p:nvPr/>
        </p:nvSpPr>
        <p:spPr>
          <a:xfrm>
            <a:off x="7132320" y="1965960"/>
            <a:ext cx="1554480" cy="22860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median fitted a₁</a:t>
            </a:r>
            <a:endParaRPr lang="en-US" sz="1050" dirty="0"/>
          </a:p>
        </p:txBody>
      </p:sp>
      <p:sp>
        <p:nvSpPr>
          <p:cNvPr id="15" name="Text 12"/>
          <p:cNvSpPr txBox="1"/>
          <p:nvPr/>
        </p:nvSpPr>
        <p:spPr>
          <a:xfrm>
            <a:off x="7132320" y="2286000"/>
            <a:ext cx="1554480" cy="502920"/>
          </a:xfrm>
          <a:prstGeom prst="rect">
            <a:avLst/>
          </a:prstGeom>
          <a:noFill/>
          <a:ln/>
        </p:spPr>
        <p:txBody>
          <a:bodyPr wrap="square" lIns="0" tIns="0" rIns="0" bIns="0" rtlCol="0" anchor="ctr"/>
          <a:lstStyle/>
          <a:p>
            <a:pPr algn="ctr" indent="0" marL="0">
              <a:buNone/>
            </a:pPr>
            <a:r>
              <a:rPr lang="en-US" sz="2800" b="1" dirty="0">
                <a:solidFill>
                  <a:srgbClr val="1F2A37"/>
                </a:solidFill>
                <a:latin typeface="Cambria" pitchFamily="34" charset="0"/>
                <a:ea typeface="Cambria" pitchFamily="34" charset="-122"/>
                <a:cs typeface="Cambria" pitchFamily="34" charset="-120"/>
              </a:rPr>
              <a:t>63 %</a:t>
            </a:r>
            <a:endParaRPr lang="en-US" sz="2800" dirty="0"/>
          </a:p>
        </p:txBody>
      </p:sp>
      <p:sp>
        <p:nvSpPr>
          <p:cNvPr id="16" name="Text 13"/>
          <p:cNvSpPr txBox="1"/>
          <p:nvPr/>
        </p:nvSpPr>
        <p:spPr>
          <a:xfrm>
            <a:off x="7178040" y="2770632"/>
            <a:ext cx="1463040" cy="640080"/>
          </a:xfrm>
          <a:prstGeom prst="rect">
            <a:avLst/>
          </a:prstGeom>
          <a:noFill/>
          <a:ln/>
        </p:spPr>
        <p:txBody>
          <a:bodyPr wrap="square" lIns="0" tIns="0" rIns="0" bIns="0" rtlCol="0" anchor="ctr"/>
          <a:lstStyle/>
          <a:p>
            <a:pPr algn="ctr" indent="0" marL="0">
              <a:buNone/>
            </a:pPr>
            <a:r>
              <a:rPr lang="en-US" sz="1050" dirty="0">
                <a:solidFill>
                  <a:srgbClr val="5B6675"/>
                </a:solidFill>
                <a:latin typeface="Calibri" pitchFamily="34" charset="0"/>
                <a:ea typeface="Calibri" pitchFamily="34" charset="-122"/>
                <a:cs typeface="Calibri" pitchFamily="34" charset="-120"/>
              </a:rPr>
              <a:t>of the raw energy left in the residual</a:t>
            </a:r>
            <a:endParaRPr lang="en-US" sz="1050" dirty="0"/>
          </a:p>
        </p:txBody>
      </p:sp>
      <p:sp>
        <p:nvSpPr>
          <p:cNvPr id="17" name="Shape 14"/>
          <p:cNvSpPr/>
          <p:nvPr/>
        </p:nvSpPr>
        <p:spPr>
          <a:xfrm>
            <a:off x="5532120" y="3611880"/>
            <a:ext cx="3154680" cy="1005840"/>
          </a:xfrm>
          <a:prstGeom prst="roundRect">
            <a:avLst>
              <a:gd name="adj" fmla="val 7273"/>
            </a:avLst>
          </a:prstGeom>
          <a:solidFill>
            <a:srgbClr val="FFFFFF"/>
          </a:solidFill>
          <a:ln w="12700">
            <a:solidFill>
              <a:srgbClr val="FFFFFF"/>
            </a:solidFill>
            <a:prstDash val="solid"/>
          </a:ln>
        </p:spPr>
      </p:sp>
      <p:sp>
        <p:nvSpPr>
          <p:cNvPr id="18" name="Text 15"/>
          <p:cNvSpPr txBox="1"/>
          <p:nvPr/>
        </p:nvSpPr>
        <p:spPr>
          <a:xfrm>
            <a:off x="5532120" y="3630168"/>
            <a:ext cx="3154680" cy="987552"/>
          </a:xfrm>
          <a:prstGeom prst="rect">
            <a:avLst/>
          </a:prstGeom>
          <a:noFill/>
          <a:ln/>
        </p:spPr>
        <p:txBody>
          <a:bodyPr wrap="square" lIns="1016" tIns="1016" rIns="1016" bIns="1016" rtlCol="0" anchor="t"/>
          <a:lstStyle/>
          <a:p>
            <a:pPr indent="0" marL="0">
              <a:spcAft>
                <a:spcPts val="400"/>
              </a:spcAft>
              <a:buNone/>
            </a:pPr>
            <a:r>
              <a:rPr lang="en-US" sz="1150" b="1" dirty="0">
                <a:solidFill>
                  <a:srgbClr val="1F2A37"/>
                </a:solidFill>
                <a:latin typeface="Calibri" pitchFamily="34" charset="0"/>
                <a:ea typeface="Calibri" pitchFamily="34" charset="-122"/>
                <a:cs typeface="Calibri" pitchFamily="34" charset="-120"/>
              </a:rPr>
              <a:t>A fitted model's worst case is “predict nothing”; a fixed model's is “predict wrongly”. </a:t>
            </a:r>
            <a:pPr indent="0" marL="0">
              <a:spcAft>
                <a:spcPts val="400"/>
              </a:spcAft>
              <a:buNone/>
            </a:pPr>
            <a:r>
              <a:rPr lang="en-US" sz="1150" dirty="0">
                <a:solidFill>
                  <a:srgbClr val="1F2A37"/>
                </a:solidFill>
                <a:latin typeface="Calibri" pitchFamily="34" charset="0"/>
                <a:ea typeface="Calibri" pitchFamily="34" charset="-122"/>
                <a:cs typeface="Calibri" pitchFamily="34" charset="-120"/>
              </a:rPr>
              <a:t>On the right axis LPC's residuals are the smaller of the two (4.102 vs 4.240).</a:t>
            </a:r>
            <a:endParaRPr lang="en-US" sz="1150" dirty="0"/>
          </a:p>
        </p:txBody>
      </p:sp>
      <p:sp>
        <p:nvSpPr>
          <p:cNvPr id="19" name="Text 16"/>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Five audit frames; coefficient statistics over all 51,200 fitted sets (50 frames × 128 bins × 4 RX × I/Q).</a:t>
            </a:r>
            <a:endParaRPr lang="en-US" sz="900" dirty="0"/>
          </a:p>
        </p:txBody>
      </p:sp>
      <p:sp>
        <p:nvSpPr>
          <p:cNvPr id="20" name="Text 1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C96A12"/>
                </a:solidFill>
                <a:latin typeface="Calibri" pitchFamily="34" charset="0"/>
                <a:ea typeface="Calibri" pitchFamily="34" charset="-122"/>
                <a:cs typeface="Calibri" pitchFamily="34" charset="-120"/>
              </a:rPr>
              <a:t>2 · DRHE VS LPC</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The correction holds on every one of the 50 frames</a:t>
            </a:r>
            <a:endParaRPr lang="en-US" sz="2600" dirty="0"/>
          </a:p>
        </p:txBody>
      </p:sp>
      <p:graphicFrame>
        <p:nvGraphicFramePr>
          <p:cNvPr id="4" name="Chart 0" descr=""/>
          <p:cNvGraphicFramePr/>
          <p:nvPr/>
        </p:nvGraphicFramePr>
        <p:xfrm>
          <a:off x="320040" y="1051560"/>
          <a:ext cx="850392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370832"/>
            <a:ext cx="8229600" cy="32004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Means: </a:t>
            </a:r>
            <a:pPr indent="0" marL="0">
              <a:buNone/>
            </a:pPr>
            <a:r>
              <a:rPr lang="en-US" sz="1250" dirty="0">
                <a:solidFill>
                  <a:srgbClr val="1F2A37"/>
                </a:solidFill>
                <a:latin typeface="Calibri" pitchFamily="34" charset="0"/>
                <a:ea typeface="Calibri" pitchFamily="34" charset="-122"/>
                <a:cs typeface="Calibri" pitchFamily="34" charset="-120"/>
              </a:rPr>
              <a:t>DRHE 3.310 → 3.751 (+13.3 %)   ·   LPC 3.385 → 3.697 (+9.2 %)   ·   MaxDiff = 0 on every frame</a:t>
            </a:r>
            <a:endParaRPr lang="en-US" sz="1250" dirty="0"/>
          </a:p>
        </p:txBody>
      </p:sp>
      <p:sp>
        <p:nvSpPr>
          <p:cNvPr id="6" name="Text 3"/>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Vitis HLS C-simulation, 4 RX. Light lines: as built; dark lines: corrected.</a:t>
            </a:r>
            <a:endParaRPr lang="en-US" sz="900" dirty="0"/>
          </a:p>
        </p:txBody>
      </p:sp>
      <p:sp>
        <p:nvSpPr>
          <p:cNvPr id="7" name="Text 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C96A12"/>
                </a:solidFill>
                <a:latin typeface="Calibri" pitchFamily="34" charset="0"/>
                <a:ea typeface="Calibri" pitchFamily="34" charset="-122"/>
                <a:cs typeface="Calibri" pitchFamily="34" charset="-120"/>
              </a:rPr>
              <a:t>2 · DRHE VS LPC</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Level on ratio; DRHE wins on structure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394960" cy="914400"/>
        </p:xfrm>
        <a:graphic>
          <a:graphicData uri="http://schemas.openxmlformats.org/drawingml/2006/table">
            <a:tbl>
              <a:tblPr/>
              <a:tblGrid>
                <a:gridCol w="2468880"/>
                <a:gridCol w="1463040"/>
                <a:gridCol w="1463040"/>
              </a:tblGrid>
              <a:tr h="329184">
                <a:tc>
                  <a:txBody>
                    <a:bodyPr/>
                    <a:lstStyle/>
                    <a:p>
                      <a:pPr algn="l"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007FA3"/>
                          </a:solidFill>
                          <a:latin typeface="Calibri" pitchFamily="34" charset="0"/>
                          <a:ea typeface="Calibri" pitchFamily="34" charset="-122"/>
                          <a:cs typeface="Calibri" pitchFamily="34" charset="-120"/>
                        </a:rPr>
                        <a:t>DRHE, lag 12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C96A12"/>
                          </a:solidFill>
                          <a:latin typeface="Calibri" pitchFamily="34" charset="0"/>
                          <a:ea typeface="Calibri" pitchFamily="34" charset="-122"/>
                          <a:cs typeface="Calibri" pitchFamily="34" charset="-120"/>
                        </a:rPr>
                        <a:t>LPC, lags 12, 24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Compression ratio (Kiem's dictionary)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3.751</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3.697</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Lossless (50 frames, csim + cosim)</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LUT / FF (post-route)</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34,804 / 23,514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34,503 / 20,186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BRAM_18K / DSP</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80 / 132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216 / 158</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Fmax (MHz)</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131.0</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106.3</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Frame latency (cycles)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61,253</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325,166</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Frame buffer</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3.0 Mibit</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First output</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immediately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after a full frame</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29184">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Side information</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b="1" dirty="0">
                          <a:solidFill>
                            <a:srgbClr val="1F2A37"/>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l" indent="0" marL="0">
                        <a:buNone/>
                      </a:pPr>
                      <a:r>
                        <a:rPr lang="en-US" sz="1200" dirty="0">
                          <a:solidFill>
                            <a:srgbClr val="1F2A37"/>
                          </a:solidFill>
                          <a:latin typeface="Calibri" pitchFamily="34" charset="0"/>
                          <a:ea typeface="Calibri" pitchFamily="34" charset="-122"/>
                          <a:cs typeface="Calibri" pitchFamily="34" charset="-120"/>
                        </a:rPr>
                        <a:t>1.04 %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 name="Shape 2"/>
          <p:cNvSpPr/>
          <p:nvPr/>
        </p:nvSpPr>
        <p:spPr>
          <a:xfrm>
            <a:off x="6126480" y="1097280"/>
            <a:ext cx="2560320" cy="3474720"/>
          </a:xfrm>
          <a:prstGeom prst="roundRect">
            <a:avLst>
              <a:gd name="adj" fmla="val 2857"/>
            </a:avLst>
          </a:prstGeom>
          <a:solidFill>
            <a:srgbClr val="EEF4F7"/>
          </a:solidFill>
          <a:ln w="12700">
            <a:solidFill>
              <a:srgbClr val="EEF4F7"/>
            </a:solidFill>
            <a:prstDash val="solid"/>
          </a:ln>
        </p:spPr>
      </p:sp>
      <p:sp>
        <p:nvSpPr>
          <p:cNvPr id="6" name="Text 3"/>
          <p:cNvSpPr txBox="1"/>
          <p:nvPr/>
        </p:nvSpPr>
        <p:spPr>
          <a:xfrm>
            <a:off x="6199632" y="1188720"/>
            <a:ext cx="2423160" cy="3337560"/>
          </a:xfrm>
          <a:prstGeom prst="rect">
            <a:avLst/>
          </a:prstGeom>
          <a:noFill/>
          <a:ln/>
        </p:spPr>
        <p:txBody>
          <a:bodyPr wrap="square" lIns="1016" tIns="1016" rIns="1016" bIns="1016" rtlCol="0" anchor="t"/>
          <a:lstStyle/>
          <a:p>
            <a:pPr indent="0" marL="0">
              <a:spcAft>
                <a:spcPts val="800"/>
              </a:spcAft>
              <a:buNone/>
            </a:pPr>
            <a:r>
              <a:rPr lang="en-US" sz="1500" b="1" dirty="0">
                <a:solidFill>
                  <a:srgbClr val="007FA3"/>
                </a:solidFill>
                <a:latin typeface="Calibri" pitchFamily="34" charset="0"/>
                <a:ea typeface="Calibri" pitchFamily="34" charset="-122"/>
                <a:cs typeface="Calibri" pitchFamily="34" charset="-120"/>
              </a:rPr>
              <a:t>Verdict</a:t>
            </a:r>
            <a:endParaRPr lang="en-US" sz="1250" dirty="0"/>
          </a:p>
          <a:p>
            <a:pPr indent="0" marL="0">
              <a:spcAft>
                <a:spcPts val="800"/>
              </a:spcAft>
              <a:buNone/>
            </a:pPr>
            <a:r>
              <a:rPr lang="en-US" sz="1250" dirty="0">
                <a:solidFill>
                  <a:srgbClr val="1F2A37"/>
                </a:solidFill>
                <a:latin typeface="Calibri" pitchFamily="34" charset="0"/>
                <a:ea typeface="Calibri" pitchFamily="34" charset="-122"/>
                <a:cs typeface="Calibri" pitchFamily="34" charset="-120"/>
              </a:rPr>
              <a:t>Logic is almost level once implemented — the HLS estimate that made LPC look 30 % cheaper did not survive routing.</a:t>
            </a:r>
            <a:endParaRPr lang="en-US" sz="1250" dirty="0"/>
          </a:p>
          <a:p>
            <a:pPr indent="0" marL="0">
              <a:spcAft>
                <a:spcPts val="800"/>
              </a:spcAft>
              <a:buNone/>
            </a:pPr>
            <a:r>
              <a:rPr lang="en-US" sz="1250" dirty="0">
                <a:solidFill>
                  <a:srgbClr val="1F2A37"/>
                </a:solidFill>
                <a:latin typeface="Calibri" pitchFamily="34" charset="0"/>
                <a:ea typeface="Calibri" pitchFamily="34" charset="-122"/>
                <a:cs typeface="Calibri" pitchFamily="34" charset="-120"/>
              </a:rPr>
              <a:t>LPC's real costs are memory and a frame of latency: it cannot emit a bit until the whole frame is in.</a:t>
            </a:r>
            <a:endParaRPr lang="en-US" sz="1250" dirty="0"/>
          </a:p>
          <a:p>
            <a:pPr indent="0" marL="0">
              <a:spcAft>
                <a:spcPts val="800"/>
              </a:spcAft>
              <a:buNone/>
            </a:pPr>
            <a:r>
              <a:rPr lang="en-US" sz="1250" b="1" dirty="0">
                <a:solidFill>
                  <a:srgbClr val="1F2A37"/>
                </a:solidFill>
                <a:latin typeface="Calibri" pitchFamily="34" charset="0"/>
                <a:ea typeface="Calibri" pitchFamily="34" charset="-122"/>
                <a:cs typeface="Calibri" pitchFamily="34" charset="-120"/>
              </a:rPr>
              <a:t>For a streaming sensor-edge IP, DRHE is the better design.</a:t>
            </a:r>
            <a:endParaRPr lang="en-US" sz="1250" dirty="0"/>
          </a:p>
        </p:txBody>
      </p:sp>
      <p:sp>
        <p:nvSpPr>
          <p:cNvPr id="7" name="Text 4"/>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xcku5p-ffvb676-2-e, 100 MHz target, Vivado out-of-context place and route. Bold = better of the two.</a:t>
            </a:r>
            <a:endParaRPr lang="en-US" sz="900" dirty="0"/>
          </a:p>
        </p:txBody>
      </p:sp>
      <p:sp>
        <p:nvSpPr>
          <p:cNvPr id="8" name="Text 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6A4BC4"/>
                </a:solidFill>
                <a:latin typeface="Calibri" pitchFamily="34" charset="0"/>
                <a:ea typeface="Calibri" pitchFamily="34" charset="-122"/>
                <a:cs typeface="Calibri" pitchFamily="34" charset="-120"/>
              </a:rPr>
              <a:t>3 · THE HUFFMAN DICTIONARY</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Kiem's dictionary charges at least 4 bits</a:t>
            </a:r>
            <a:endParaRPr lang="en-US" sz="2600" dirty="0"/>
          </a:p>
        </p:txBody>
      </p:sp>
      <p:graphicFrame>
        <p:nvGraphicFramePr>
          <p:cNvPr id="4" name="Chart 0" descr=""/>
          <p:cNvGraphicFramePr/>
          <p:nvPr/>
        </p:nvGraphicFramePr>
        <p:xfrm>
          <a:off x="320040" y="1097280"/>
          <a:ext cx="41148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1097280"/>
          <a:ext cx="4251960" cy="30175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57200" y="4206240"/>
            <a:ext cx="8229600" cy="502920"/>
          </a:xfrm>
          <a:prstGeom prst="roundRect">
            <a:avLst>
              <a:gd name="adj" fmla="val 14545"/>
            </a:avLst>
          </a:prstGeom>
          <a:solidFill>
            <a:srgbClr val="EEF4F7"/>
          </a:solidFill>
          <a:ln w="12700">
            <a:solidFill>
              <a:srgbClr val="EEF4F7"/>
            </a:solidFill>
            <a:prstDash val="solid"/>
          </a:ln>
        </p:spPr>
      </p:sp>
      <p:sp>
        <p:nvSpPr>
          <p:cNvPr id="7" name="Text 3"/>
          <p:cNvSpPr txBox="1"/>
          <p:nvPr/>
        </p:nvSpPr>
        <p:spPr>
          <a:xfrm>
            <a:off x="548640" y="4224528"/>
            <a:ext cx="8046720" cy="457200"/>
          </a:xfrm>
          <a:prstGeom prst="rect">
            <a:avLst/>
          </a:prstGeom>
          <a:noFill/>
          <a:ln/>
        </p:spPr>
        <p:txBody>
          <a:bodyPr wrap="square" lIns="0" tIns="0" rIns="0" bIns="0" rtlCol="0" anchor="ctr"/>
          <a:lstStyle/>
          <a:p>
            <a:pPr indent="0" marL="0">
              <a:buNone/>
            </a:pPr>
            <a:r>
              <a:rPr lang="en-US" sz="1150" b="1" dirty="0">
                <a:solidFill>
                  <a:srgbClr val="1F2A37"/>
                </a:solidFill>
                <a:latin typeface="Calibri" pitchFamily="34" charset="0"/>
                <a:ea typeface="Calibri" pitchFamily="34" charset="-122"/>
                <a:cs typeface="Calibri" pitchFamily="34" charset="-120"/>
              </a:rPr>
              <a:t>Cost = Huffman codeword for the category + one payload bit per category level. </a:t>
            </a:r>
            <a:pPr indent="0" marL="0">
              <a:buNone/>
            </a:pPr>
            <a:r>
              <a:rPr lang="en-US" sz="1150" dirty="0">
                <a:solidFill>
                  <a:srgbClr val="1F2A37"/>
                </a:solidFill>
                <a:latin typeface="Calibri" pitchFamily="34" charset="0"/>
                <a:ea typeface="Calibri" pitchFamily="34" charset="-122"/>
                <a:cs typeface="Calibri" pitchFamily="34" charset="-120"/>
              </a:rPr>
              <a:t>Kiem's short codes sit on categories 2–4 (his residuals were 6–8 LSB). 93 % of corrected-LPC residuals are in 0–2, all charged 4 bits, so CR can never exceed 4.0.</a:t>
            </a:r>
            <a:endParaRPr lang="en-US" sz="1150" dirty="0"/>
          </a:p>
        </p:txBody>
      </p:sp>
      <p:sp>
        <p:nvSpPr>
          <p:cNvPr id="8" name="Text 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6A4BC4"/>
                </a:solidFill>
                <a:latin typeface="Calibri" pitchFamily="34" charset="0"/>
                <a:ea typeface="Calibri" pitchFamily="34" charset="-122"/>
                <a:cs typeface="Calibri" pitchFamily="34" charset="-120"/>
              </a:rPr>
              <a:t>3 · THE HUFFMAN DICTIONARY</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A matched dictionary puts LPC ahead</a:t>
            </a:r>
            <a:endParaRPr lang="en-US" sz="2600" dirty="0"/>
          </a:p>
        </p:txBody>
      </p:sp>
      <p:graphicFrame>
        <p:nvGraphicFramePr>
          <p:cNvPr id="4" name="Chart 0" descr=""/>
          <p:cNvGraphicFramePr/>
          <p:nvPr/>
        </p:nvGraphicFramePr>
        <p:xfrm>
          <a:off x="320040" y="105156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035040" y="1097280"/>
            <a:ext cx="2651760" cy="548640"/>
          </a:xfrm>
          <a:prstGeom prst="rect">
            <a:avLst/>
          </a:prstGeom>
          <a:noFill/>
          <a:ln/>
        </p:spPr>
        <p:txBody>
          <a:bodyPr wrap="square" lIns="0" tIns="0" rIns="0" bIns="0" rtlCol="0" anchor="ctr"/>
          <a:lstStyle/>
          <a:p>
            <a:pPr indent="0" marL="0">
              <a:buNone/>
            </a:pPr>
            <a:r>
              <a:rPr lang="en-US" sz="3200" b="1" dirty="0">
                <a:solidFill>
                  <a:srgbClr val="C96A12"/>
                </a:solidFill>
                <a:latin typeface="Cambria" pitchFamily="34" charset="0"/>
                <a:ea typeface="Cambria" pitchFamily="34" charset="-122"/>
                <a:cs typeface="Cambria" pitchFamily="34" charset="-120"/>
              </a:rPr>
              <a:t>+18.4 %</a:t>
            </a:r>
            <a:endParaRPr lang="en-US" sz="3200" dirty="0"/>
          </a:p>
        </p:txBody>
      </p:sp>
      <p:sp>
        <p:nvSpPr>
          <p:cNvPr id="6" name="Text 3"/>
          <p:cNvSpPr txBox="1"/>
          <p:nvPr/>
        </p:nvSpPr>
        <p:spPr>
          <a:xfrm>
            <a:off x="6035040" y="1627632"/>
            <a:ext cx="2651760" cy="274320"/>
          </a:xfrm>
          <a:prstGeom prst="rect">
            <a:avLst/>
          </a:prstGeom>
          <a:noFill/>
          <a:ln/>
        </p:spPr>
        <p:txBody>
          <a:bodyPr wrap="square" lIns="0" tIns="0" rIns="0" bIns="0" rtlCol="0" anchor="ctr"/>
          <a:lstStyle/>
          <a:p>
            <a:pPr indent="0" marL="0">
              <a:buNone/>
            </a:pPr>
            <a:r>
              <a:rPr lang="en-US" sz="1150" dirty="0">
                <a:solidFill>
                  <a:srgbClr val="5B6675"/>
                </a:solidFill>
                <a:latin typeface="Calibri" pitchFamily="34" charset="0"/>
                <a:ea typeface="Calibri" pitchFamily="34" charset="-122"/>
                <a:cs typeface="Calibri" pitchFamily="34" charset="-120"/>
              </a:rPr>
              <a:t>LPC, lags 12, 24: 3.691 → 4.371</a:t>
            </a:r>
            <a:endParaRPr lang="en-US" sz="1150" dirty="0"/>
          </a:p>
        </p:txBody>
      </p:sp>
      <p:sp>
        <p:nvSpPr>
          <p:cNvPr id="7" name="Text 4"/>
          <p:cNvSpPr txBox="1"/>
          <p:nvPr/>
        </p:nvSpPr>
        <p:spPr>
          <a:xfrm>
            <a:off x="6035040" y="1965960"/>
            <a:ext cx="2651760" cy="548640"/>
          </a:xfrm>
          <a:prstGeom prst="rect">
            <a:avLst/>
          </a:prstGeom>
          <a:noFill/>
          <a:ln/>
        </p:spPr>
        <p:txBody>
          <a:bodyPr wrap="square" lIns="0" tIns="0" rIns="0" bIns="0" rtlCol="0" anchor="ctr"/>
          <a:lstStyle/>
          <a:p>
            <a:pPr indent="0" marL="0">
              <a:buNone/>
            </a:pPr>
            <a:r>
              <a:rPr lang="en-US" sz="3200" b="1" dirty="0">
                <a:solidFill>
                  <a:srgbClr val="007FA3"/>
                </a:solidFill>
                <a:latin typeface="Cambria" pitchFamily="34" charset="0"/>
                <a:ea typeface="Cambria" pitchFamily="34" charset="-122"/>
                <a:cs typeface="Cambria" pitchFamily="34" charset="-120"/>
              </a:rPr>
              <a:t>+12.2 %</a:t>
            </a:r>
            <a:endParaRPr lang="en-US" sz="3200" dirty="0"/>
          </a:p>
        </p:txBody>
      </p:sp>
      <p:sp>
        <p:nvSpPr>
          <p:cNvPr id="8" name="Text 5"/>
          <p:cNvSpPr txBox="1"/>
          <p:nvPr/>
        </p:nvSpPr>
        <p:spPr>
          <a:xfrm>
            <a:off x="6035040" y="2496312"/>
            <a:ext cx="2651760" cy="274320"/>
          </a:xfrm>
          <a:prstGeom prst="rect">
            <a:avLst/>
          </a:prstGeom>
          <a:noFill/>
          <a:ln/>
        </p:spPr>
        <p:txBody>
          <a:bodyPr wrap="square" lIns="0" tIns="0" rIns="0" bIns="0" rtlCol="0" anchor="ctr"/>
          <a:lstStyle/>
          <a:p>
            <a:pPr indent="0" marL="0">
              <a:buNone/>
            </a:pPr>
            <a:r>
              <a:rPr lang="en-US" sz="1150" dirty="0">
                <a:solidFill>
                  <a:srgbClr val="5B6675"/>
                </a:solidFill>
                <a:latin typeface="Calibri" pitchFamily="34" charset="0"/>
                <a:ea typeface="Calibri" pitchFamily="34" charset="-122"/>
                <a:cs typeface="Calibri" pitchFamily="34" charset="-120"/>
              </a:rPr>
              <a:t>DRHE, lag 12: 3.748 → 4.207</a:t>
            </a:r>
            <a:endParaRPr lang="en-US" sz="1150" dirty="0"/>
          </a:p>
        </p:txBody>
      </p:sp>
      <p:sp>
        <p:nvSpPr>
          <p:cNvPr id="9" name="Shape 6"/>
          <p:cNvSpPr/>
          <p:nvPr/>
        </p:nvSpPr>
        <p:spPr>
          <a:xfrm>
            <a:off x="6035040" y="2926080"/>
            <a:ext cx="2651760" cy="1691640"/>
          </a:xfrm>
          <a:prstGeom prst="roundRect">
            <a:avLst>
              <a:gd name="adj" fmla="val 4324"/>
            </a:avLst>
          </a:prstGeom>
          <a:solidFill>
            <a:srgbClr val="EEF4F7"/>
          </a:solidFill>
          <a:ln w="12700">
            <a:solidFill>
              <a:srgbClr val="EEF4F7"/>
            </a:solidFill>
            <a:prstDash val="solid"/>
          </a:ln>
        </p:spPr>
      </p:sp>
      <p:sp>
        <p:nvSpPr>
          <p:cNvPr id="10" name="Text 7"/>
          <p:cNvSpPr txBox="1"/>
          <p:nvPr/>
        </p:nvSpPr>
        <p:spPr>
          <a:xfrm>
            <a:off x="6053328" y="2971800"/>
            <a:ext cx="2606040" cy="1645920"/>
          </a:xfrm>
          <a:prstGeom prst="rect">
            <a:avLst/>
          </a:prstGeom>
          <a:noFill/>
          <a:ln/>
        </p:spPr>
        <p:txBody>
          <a:bodyPr wrap="square" lIns="1016" tIns="1016" rIns="1016" bIns="1016" rtlCol="0" anchor="t"/>
          <a:lstStyle/>
          <a:p>
            <a:pPr marL="152400" indent="-152400">
              <a:spcAft>
                <a:spcPts val="400"/>
              </a:spcAft>
              <a:buSzPct val="100000"/>
              <a:buChar char="•"/>
            </a:pPr>
            <a:r>
              <a:rPr lang="en-US" sz="1150" dirty="0">
                <a:solidFill>
                  <a:srgbClr val="1F2A37"/>
                </a:solidFill>
                <a:latin typeface="Calibri" pitchFamily="34" charset="0"/>
                <a:ea typeface="Calibri" pitchFamily="34" charset="-122"/>
                <a:cs typeface="Calibri" pitchFamily="34" charset="-120"/>
              </a:rPr>
              <a:t>Largest gain where residuals are smallest; 3–8 % for the uncorrected designs.</a:t>
            </a:r>
            <a:endParaRPr lang="en-US" sz="1300" dirty="0"/>
          </a:p>
          <a:p>
            <a:pPr marL="152400" indent="-152400">
              <a:spcAft>
                <a:spcPts val="400"/>
              </a:spcAft>
              <a:buSzPct val="100000"/>
              <a:buChar char="•"/>
            </a:pPr>
            <a:r>
              <a:rPr lang="en-US" sz="1150" dirty="0">
                <a:solidFill>
                  <a:srgbClr val="1F2A37"/>
                </a:solidFill>
                <a:latin typeface="Calibri" pitchFamily="34" charset="0"/>
                <a:ea typeface="Calibri" pitchFamily="34" charset="-122"/>
                <a:cs typeface="Calibri" pitchFamily="34" charset="-120"/>
              </a:rPr>
              <a:t>Trained on 5 frames, tested on the other 45; every category keeps a code, so it stays lossless.</a:t>
            </a:r>
            <a:endParaRPr lang="en-US" sz="1300" dirty="0"/>
          </a:p>
          <a:p>
            <a:pPr marL="152400" indent="-152400">
              <a:spcAft>
                <a:spcPts val="400"/>
              </a:spcAft>
              <a:buSzPct val="100000"/>
              <a:buChar char="•"/>
            </a:pPr>
            <a:r>
              <a:rPr lang="en-US" sz="1150" dirty="0">
                <a:solidFill>
                  <a:srgbClr val="1F2A37"/>
                </a:solidFill>
                <a:latin typeface="Calibri" pitchFamily="34" charset="0"/>
                <a:ea typeface="Calibri" pitchFamily="34" charset="-122"/>
                <a:cs typeface="Calibri" pitchFamily="34" charset="-120"/>
              </a:rPr>
              <a:t>Hardware change: a 16-entry ROM (not yet synthesised).</a:t>
            </a:r>
            <a:endParaRPr lang="en-US" sz="1300" dirty="0"/>
          </a:p>
        </p:txBody>
      </p:sp>
      <p:sp>
        <p:nvSpPr>
          <p:cNvPr id="11" name="Text 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6A4BC4"/>
                </a:solidFill>
                <a:latin typeface="Calibri" pitchFamily="34" charset="0"/>
                <a:ea typeface="Calibri" pitchFamily="34" charset="-122"/>
                <a:cs typeface="Calibri" pitchFamily="34" charset="-120"/>
              </a:rPr>
              <a:t>3 · THE HUFFMAN DICTIONARY</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The gap is the dictionary, not the scheme</a:t>
            </a:r>
            <a:endParaRPr lang="en-US" sz="2600" dirty="0"/>
          </a:p>
        </p:txBody>
      </p:sp>
      <p:graphicFrame>
        <p:nvGraphicFramePr>
          <p:cNvPr id="4" name="Chart 0" descr=""/>
          <p:cNvGraphicFramePr/>
          <p:nvPr/>
        </p:nvGraphicFramePr>
        <p:xfrm>
          <a:off x="320040" y="1051560"/>
          <a:ext cx="493776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577840" y="1143000"/>
          <a:ext cx="3108960" cy="914400"/>
        </p:xfrm>
        <a:graphic>
          <a:graphicData uri="http://schemas.openxmlformats.org/drawingml/2006/table">
            <a:tbl>
              <a:tblPr/>
              <a:tblGrid>
                <a:gridCol w="2103120"/>
                <a:gridCol w="1005840"/>
              </a:tblGrid>
              <a:tr h="301752">
                <a:tc gridSpan="2">
                  <a:txBody>
                    <a:bodyPr/>
                    <a:lstStyle/>
                    <a:p>
                      <a:pPr indent="0" marL="0">
                        <a:buNone/>
                      </a:pPr>
                      <a:r>
                        <a:rPr lang="en-US" sz="1200" b="1" dirty="0">
                          <a:solidFill>
                            <a:srgbClr val="5B6675"/>
                          </a:solidFill>
                          <a:latin typeface="Calibri" pitchFamily="34" charset="0"/>
                          <a:ea typeface="Calibri" pitchFamily="34" charset="-122"/>
                          <a:cs typeface="Calibri" pitchFamily="34" charset="-120"/>
                        </a:rPr>
                        <a:t>Fixed coder above entropy</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hMerge="1">
                  <a:tcPr/>
                </a:tc>
              </a:tr>
              <a:tr h="30175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Raw FX16 codes</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dirty="0">
                          <a:solidFill>
                            <a:srgbClr val="1F2A37"/>
                          </a:solidFill>
                          <a:latin typeface="Calibri" pitchFamily="34" charset="0"/>
                          <a:ea typeface="Calibri" pitchFamily="34" charset="-122"/>
                          <a:cs typeface="Calibri" pitchFamily="34" charset="-120"/>
                        </a:rPr>
                        <a:t>12.0 %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0175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DRHE lag 1 (as built)</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dirty="0">
                          <a:solidFill>
                            <a:srgbClr val="1F2A37"/>
                          </a:solidFill>
                          <a:latin typeface="Calibri" pitchFamily="34" charset="0"/>
                          <a:ea typeface="Calibri" pitchFamily="34" charset="-122"/>
                          <a:cs typeface="Calibri" pitchFamily="34" charset="-120"/>
                        </a:rPr>
                        <a:t>6.2 %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0175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DRHE lag 12</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b="1" dirty="0">
                          <a:solidFill>
                            <a:srgbClr val="1F2A37"/>
                          </a:solidFill>
                          <a:latin typeface="Calibri" pitchFamily="34" charset="0"/>
                          <a:ea typeface="Calibri" pitchFamily="34" charset="-122"/>
                          <a:cs typeface="Calibri" pitchFamily="34" charset="-120"/>
                        </a:rPr>
                        <a:t>20.6 %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0175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LPC lags 12, 24</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r" indent="0" marL="0">
                        <a:buNone/>
                      </a:pPr>
                      <a:r>
                        <a:rPr lang="en-US" sz="1200" b="1" dirty="0">
                          <a:solidFill>
                            <a:srgbClr val="1F2A37"/>
                          </a:solidFill>
                          <a:latin typeface="Calibri" pitchFamily="34" charset="0"/>
                          <a:ea typeface="Calibri" pitchFamily="34" charset="-122"/>
                          <a:cs typeface="Calibri" pitchFamily="34" charset="-120"/>
                        </a:rPr>
                        <a:t>34.9 %</a:t>
                      </a:r>
                      <a:endParaRPr lang="en-US" sz="1200" dirty="0">
                        <a:latin typeface="Calibri" charset="0"/>
                        <a:ea typeface="Calibri" charset="0"/>
                        <a:cs typeface="Calibri" charset="0"/>
                      </a:endParaRPr>
                    </a:p>
                  </a:txBody>
                  <a:tcPr marL="91440" marR="91440" marT="45720" marB="45720">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 name="Shape 2"/>
          <p:cNvSpPr/>
          <p:nvPr/>
        </p:nvSpPr>
        <p:spPr>
          <a:xfrm>
            <a:off x="5577840" y="2880360"/>
            <a:ext cx="3108960" cy="1737360"/>
          </a:xfrm>
          <a:prstGeom prst="roundRect">
            <a:avLst>
              <a:gd name="adj" fmla="val 4211"/>
            </a:avLst>
          </a:prstGeom>
          <a:solidFill>
            <a:srgbClr val="EEF4F7"/>
          </a:solidFill>
          <a:ln w="12700">
            <a:solidFill>
              <a:srgbClr val="EEF4F7"/>
            </a:solidFill>
            <a:prstDash val="solid"/>
          </a:ln>
        </p:spPr>
      </p:sp>
      <p:sp>
        <p:nvSpPr>
          <p:cNvPr id="7" name="Text 3"/>
          <p:cNvSpPr txBox="1"/>
          <p:nvPr/>
        </p:nvSpPr>
        <p:spPr>
          <a:xfrm>
            <a:off x="5623560" y="2926080"/>
            <a:ext cx="3017520" cy="1645920"/>
          </a:xfrm>
          <a:prstGeom prst="rect">
            <a:avLst/>
          </a:prstGeom>
          <a:noFill/>
          <a:ln/>
        </p:spPr>
        <p:txBody>
          <a:bodyPr wrap="square" lIns="1016" tIns="1016" rIns="1016" bIns="1016" rtlCol="0" anchor="t"/>
          <a:lstStyle/>
          <a:p>
            <a:pPr indent="0" marL="0">
              <a:spcAft>
                <a:spcPts val="400"/>
              </a:spcAft>
              <a:buNone/>
            </a:pPr>
            <a:r>
              <a:rPr lang="en-US" sz="1150" b="1" dirty="0">
                <a:solidFill>
                  <a:srgbClr val="1F2A37"/>
                </a:solidFill>
                <a:latin typeface="Calibri" pitchFamily="34" charset="0"/>
                <a:ea typeface="Calibri" pitchFamily="34" charset="-122"/>
                <a:cs typeface="Calibri" pitchFamily="34" charset="-120"/>
              </a:rPr>
              <a:t>An S4 code matched to the data sits only 2–7 % above entropy. </a:t>
            </a:r>
            <a:pPr indent="0" marL="0">
              <a:spcAft>
                <a:spcPts val="400"/>
              </a:spcAft>
              <a:buNone/>
            </a:pPr>
            <a:r>
              <a:rPr lang="en-US" sz="1150" dirty="0">
                <a:solidFill>
                  <a:srgbClr val="1F2A37"/>
                </a:solidFill>
                <a:latin typeface="Calibri" pitchFamily="34" charset="0"/>
                <a:ea typeface="Calibri" pitchFamily="34" charset="-122"/>
                <a:cs typeface="Calibri" pitchFamily="34" charset="-120"/>
              </a:rPr>
              <a:t>The coder looked near-optimal before the fix (6.2 %) because the residuals it saw were the size it was built for. Fixing the predictor moved the bottleneck into the dictionary.</a:t>
            </a:r>
            <a:endParaRPr lang="en-US" sz="1150" dirty="0"/>
          </a:p>
        </p:txBody>
      </p:sp>
      <p:sp>
        <p:nvSpPr>
          <p:cNvPr id="8" name="Text 4"/>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Five audit frames, 4 RX, residual bits only (LPC coefficient table excluded).</a:t>
            </a:r>
            <a:endParaRPr lang="en-US" sz="900" dirty="0"/>
          </a:p>
        </p:txBody>
      </p:sp>
      <p:sp>
        <p:nvSpPr>
          <p:cNvPr id="9" name="Text 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A8324A"/>
                </a:solidFill>
                <a:latin typeface="Calibri" pitchFamily="34" charset="0"/>
                <a:ea typeface="Calibri" pitchFamily="34" charset="-122"/>
                <a:cs typeface="Calibri" pitchFamily="34" charset="-120"/>
              </a:rPr>
              <a:t>4 · COMPARISON WITH KIEM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The baseline: Kiem's thesis, and how this work differs</a:t>
            </a:r>
            <a:endParaRPr lang="en-US" sz="2600" dirty="0"/>
          </a:p>
        </p:txBody>
      </p:sp>
      <p:sp>
        <p:nvSpPr>
          <p:cNvPr id="4" name="Shape 2"/>
          <p:cNvSpPr/>
          <p:nvPr/>
        </p:nvSpPr>
        <p:spPr>
          <a:xfrm>
            <a:off x="457200" y="1097280"/>
            <a:ext cx="3977640" cy="3017520"/>
          </a:xfrm>
          <a:prstGeom prst="roundRect">
            <a:avLst>
              <a:gd name="adj" fmla="val 2424"/>
            </a:avLst>
          </a:prstGeom>
          <a:solidFill>
            <a:srgbClr val="F7EDEF"/>
          </a:solidFill>
          <a:ln w="12700">
            <a:solidFill>
              <a:srgbClr val="F7EDEF"/>
            </a:solidFill>
            <a:prstDash val="solid"/>
          </a:ln>
        </p:spPr>
      </p:sp>
      <p:sp>
        <p:nvSpPr>
          <p:cNvPr id="5" name="Text 3"/>
          <p:cNvSpPr txBox="1"/>
          <p:nvPr/>
        </p:nvSpPr>
        <p:spPr>
          <a:xfrm>
            <a:off x="594360" y="1188720"/>
            <a:ext cx="3703320" cy="365760"/>
          </a:xfrm>
          <a:prstGeom prst="rect">
            <a:avLst/>
          </a:prstGeom>
          <a:noFill/>
          <a:ln/>
        </p:spPr>
        <p:txBody>
          <a:bodyPr wrap="square" lIns="0" tIns="0" rIns="0" bIns="0" rtlCol="0" anchor="ctr"/>
          <a:lstStyle/>
          <a:p>
            <a:pPr indent="0" marL="0">
              <a:buNone/>
            </a:pPr>
            <a:r>
              <a:rPr lang="en-US" sz="1600" b="1" dirty="0">
                <a:solidFill>
                  <a:srgbClr val="A8324A"/>
                </a:solidFill>
                <a:latin typeface="Cambria" pitchFamily="34" charset="0"/>
                <a:ea typeface="Cambria" pitchFamily="34" charset="-122"/>
                <a:cs typeface="Cambria" pitchFamily="34" charset="-120"/>
              </a:rPr>
              <a:t>Kiem (TU Graz, 2025)</a:t>
            </a:r>
            <a:endParaRPr lang="en-US" sz="1600" dirty="0"/>
          </a:p>
        </p:txBody>
      </p:sp>
      <p:sp>
        <p:nvSpPr>
          <p:cNvPr id="6" name="Text 4"/>
          <p:cNvSpPr txBox="1"/>
          <p:nvPr/>
        </p:nvSpPr>
        <p:spPr>
          <a:xfrm>
            <a:off x="548640" y="1645920"/>
            <a:ext cx="3794760" cy="2423160"/>
          </a:xfrm>
          <a:prstGeom prst="rect">
            <a:avLst/>
          </a:prstGeom>
          <a:noFill/>
          <a:ln/>
        </p:spPr>
        <p:txBody>
          <a:bodyPr wrap="square" lIns="1016" tIns="1016" rIns="1016" bIns="1016" rtlCol="0" anchor="t"/>
          <a:lstStyle/>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One MMIC, one transmitter, 4 RX, 512 × 512, 14-bit ADC.</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All compression results from his own recordings (not public); a synthetic scene only for illustration.</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Design-space study → DRHE: CR 3.25 in simulation, 3.17 on hardware.</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LPC-Huffman (raw ADC, fast time) ruled out without being run.</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Fixed-point HLS on a Zynq XCZU3CG at 100 MHz.</a:t>
            </a:r>
            <a:endParaRPr lang="en-US" sz="1300" dirty="0"/>
          </a:p>
        </p:txBody>
      </p:sp>
      <p:sp>
        <p:nvSpPr>
          <p:cNvPr id="7" name="Shape 5"/>
          <p:cNvSpPr/>
          <p:nvPr/>
        </p:nvSpPr>
        <p:spPr>
          <a:xfrm>
            <a:off x="4709160" y="1097280"/>
            <a:ext cx="3977640" cy="3017520"/>
          </a:xfrm>
          <a:prstGeom prst="roundRect">
            <a:avLst>
              <a:gd name="adj" fmla="val 2424"/>
            </a:avLst>
          </a:prstGeom>
          <a:solidFill>
            <a:srgbClr val="E4F1F6"/>
          </a:solidFill>
          <a:ln w="12700">
            <a:solidFill>
              <a:srgbClr val="E4F1F6"/>
            </a:solidFill>
            <a:prstDash val="solid"/>
          </a:ln>
        </p:spPr>
      </p:sp>
      <p:sp>
        <p:nvSpPr>
          <p:cNvPr id="8" name="Text 6"/>
          <p:cNvSpPr txBox="1"/>
          <p:nvPr/>
        </p:nvSpPr>
        <p:spPr>
          <a:xfrm>
            <a:off x="4846320" y="1188720"/>
            <a:ext cx="3703320" cy="365760"/>
          </a:xfrm>
          <a:prstGeom prst="rect">
            <a:avLst/>
          </a:prstGeom>
          <a:noFill/>
          <a:ln/>
        </p:spPr>
        <p:txBody>
          <a:bodyPr wrap="square" lIns="0" tIns="0" rIns="0" bIns="0" rtlCol="0" anchor="ctr"/>
          <a:lstStyle/>
          <a:p>
            <a:pPr indent="0" marL="0">
              <a:buNone/>
            </a:pPr>
            <a:r>
              <a:rPr lang="en-US" sz="1600" b="1" dirty="0">
                <a:solidFill>
                  <a:srgbClr val="007FA3"/>
                </a:solidFill>
                <a:latin typeface="Cambria" pitchFamily="34" charset="0"/>
                <a:ea typeface="Cambria" pitchFamily="34" charset="-122"/>
                <a:cs typeface="Cambria" pitchFamily="34" charset="-120"/>
              </a:rPr>
              <a:t>This thesis</a:t>
            </a:r>
            <a:endParaRPr lang="en-US" sz="1600" dirty="0"/>
          </a:p>
        </p:txBody>
      </p:sp>
      <p:sp>
        <p:nvSpPr>
          <p:cNvPr id="9" name="Text 7"/>
          <p:cNvSpPr txBox="1"/>
          <p:nvPr/>
        </p:nvSpPr>
        <p:spPr>
          <a:xfrm>
            <a:off x="4800600" y="1645920"/>
            <a:ext cx="3794760" cy="2423160"/>
          </a:xfrm>
          <a:prstGeom prst="rect">
            <a:avLst/>
          </a:prstGeom>
          <a:noFill/>
          <a:ln/>
        </p:spPr>
        <p:txBody>
          <a:bodyPr wrap="square" lIns="1016" tIns="1016" rIns="1016" bIns="1016" rtlCol="0" anchor="t"/>
          <a:lstStyle/>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Public ColoRadar cascade: 12 TX in TDM, 16 RX, 4 RX to hardware.</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DRHE exactly as Kiem specified, plus a slow-time LPC sharing his coder.</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Both with decoders, bit-exact over 50 frames, placed and routed on xcku5p.</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Kiem's MATLAB simulation rebuilt from his text alone and run with every coder.</a:t>
            </a:r>
            <a:endParaRPr lang="en-US" sz="1300" dirty="0"/>
          </a:p>
          <a:p>
            <a:pPr marL="152400" indent="-152400">
              <a:spcAft>
                <a:spcPts val="600"/>
              </a:spcAft>
              <a:buSzPct val="100000"/>
              <a:buChar char="•"/>
            </a:pPr>
            <a:r>
              <a:rPr lang="en-US" sz="1300" dirty="0">
                <a:solidFill>
                  <a:srgbClr val="1F2A37"/>
                </a:solidFill>
                <a:latin typeface="Calibri" pitchFamily="34" charset="0"/>
                <a:ea typeface="Calibri" pitchFamily="34" charset="-122"/>
                <a:cs typeface="Calibri" pitchFamily="34" charset="-120"/>
              </a:rPr>
              <a:t>Every Kiem result set against ours, one by one.</a:t>
            </a:r>
            <a:endParaRPr lang="en-US" sz="1300" dirty="0"/>
          </a:p>
        </p:txBody>
      </p:sp>
      <p:sp>
        <p:nvSpPr>
          <p:cNvPr id="10" name="Text 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A8324A"/>
                </a:solidFill>
                <a:latin typeface="Calibri" pitchFamily="34" charset="0"/>
                <a:ea typeface="Calibri" pitchFamily="34" charset="-122"/>
                <a:cs typeface="Calibri" pitchFamily="34" charset="-120"/>
              </a:rPr>
              <a:t>4 · COMPARISON WITH KIEM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Kiem's 3.25 depends on the noise level</a:t>
            </a:r>
            <a:endParaRPr lang="en-US" sz="2600" dirty="0"/>
          </a:p>
        </p:txBody>
      </p:sp>
      <p:graphicFrame>
        <p:nvGraphicFramePr>
          <p:cNvPr id="4" name="Chart 0" descr=""/>
          <p:cNvGraphicFramePr/>
          <p:nvPr/>
        </p:nvGraphicFramePr>
        <p:xfrm>
          <a:off x="320040" y="105156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097280"/>
            <a:ext cx="2743200" cy="1097280"/>
          </a:xfrm>
          <a:prstGeom prst="roundRect">
            <a:avLst>
              <a:gd name="adj" fmla="val 6667"/>
            </a:avLst>
          </a:prstGeom>
          <a:solidFill>
            <a:srgbClr val="E4F1F6"/>
          </a:solidFill>
          <a:ln w="12700">
            <a:solidFill>
              <a:srgbClr val="E4F1F6"/>
            </a:solidFill>
            <a:prstDash val="solid"/>
          </a:ln>
        </p:spPr>
      </p:sp>
      <p:sp>
        <p:nvSpPr>
          <p:cNvPr id="6" name="Text 3"/>
          <p:cNvSpPr txBox="1"/>
          <p:nvPr/>
        </p:nvSpPr>
        <p:spPr>
          <a:xfrm>
            <a:off x="5989320" y="1133856"/>
            <a:ext cx="2651760" cy="1042416"/>
          </a:xfrm>
          <a:prstGeom prst="rect">
            <a:avLst/>
          </a:prstGeom>
          <a:noFill/>
          <a:ln/>
        </p:spPr>
        <p:txBody>
          <a:bodyPr wrap="square" lIns="1016" tIns="1016" rIns="1016" bIns="1016" rtlCol="0" anchor="t"/>
          <a:lstStyle/>
          <a:p>
            <a:pPr indent="0" marL="0">
              <a:spcAft>
                <a:spcPts val="200"/>
              </a:spcAft>
              <a:buNone/>
            </a:pPr>
            <a:r>
              <a:rPr lang="en-US" sz="1150" b="1" dirty="0">
                <a:solidFill>
                  <a:srgbClr val="007FA3"/>
                </a:solidFill>
                <a:latin typeface="Calibri" pitchFamily="34" charset="0"/>
                <a:ea typeface="Calibri" pitchFamily="34" charset="-122"/>
                <a:cs typeface="Calibri" pitchFamily="34" charset="-120"/>
              </a:rPr>
              <a:t>Reproduced at −87.9 dBFS</a:t>
            </a:r>
            <a:endParaRPr lang="en-US" sz="1150" dirty="0"/>
          </a:p>
          <a:p>
            <a:pPr indent="0" marL="0">
              <a:spcAft>
                <a:spcPts val="200"/>
              </a:spcAft>
              <a:buNone/>
            </a:pPr>
            <a:r>
              <a:rPr lang="en-US" sz="1150" dirty="0">
                <a:solidFill>
                  <a:srgbClr val="1F2A37"/>
                </a:solidFill>
                <a:latin typeface="Calibri" pitchFamily="34" charset="0"/>
                <a:ea typeface="Calibri" pitchFamily="34" charset="-122"/>
                <a:cs typeface="Calibri" pitchFamily="34" charset="-120"/>
              </a:rPr>
              <a:t>3.25 with run-length coding, 3.24 without — his exact pattern. FX16 noise there: 4.6 LSB.</a:t>
            </a:r>
            <a:endParaRPr lang="en-US" sz="1150" dirty="0"/>
          </a:p>
        </p:txBody>
      </p:sp>
      <p:sp>
        <p:nvSpPr>
          <p:cNvPr id="7" name="Shape 4"/>
          <p:cNvSpPr/>
          <p:nvPr/>
        </p:nvSpPr>
        <p:spPr>
          <a:xfrm>
            <a:off x="5943600" y="2286000"/>
            <a:ext cx="2743200" cy="1051560"/>
          </a:xfrm>
          <a:prstGeom prst="roundRect">
            <a:avLst>
              <a:gd name="adj" fmla="val 6957"/>
            </a:avLst>
          </a:prstGeom>
          <a:solidFill>
            <a:srgbClr val="F7EDEF"/>
          </a:solidFill>
          <a:ln w="12700">
            <a:solidFill>
              <a:srgbClr val="F7EDEF"/>
            </a:solidFill>
            <a:prstDash val="solid"/>
          </a:ln>
        </p:spPr>
      </p:sp>
      <p:sp>
        <p:nvSpPr>
          <p:cNvPr id="8" name="Text 5"/>
          <p:cNvSpPr txBox="1"/>
          <p:nvPr/>
        </p:nvSpPr>
        <p:spPr>
          <a:xfrm>
            <a:off x="5989320" y="2322576"/>
            <a:ext cx="2651760" cy="996696"/>
          </a:xfrm>
          <a:prstGeom prst="rect">
            <a:avLst/>
          </a:prstGeom>
          <a:noFill/>
          <a:ln/>
        </p:spPr>
        <p:txBody>
          <a:bodyPr wrap="square" lIns="1016" tIns="1016" rIns="1016" bIns="1016" rtlCol="0" anchor="t"/>
          <a:lstStyle/>
          <a:p>
            <a:pPr indent="0" marL="0">
              <a:spcAft>
                <a:spcPts val="200"/>
              </a:spcAft>
              <a:buNone/>
            </a:pPr>
            <a:r>
              <a:rPr lang="en-US" sz="1150" b="1" dirty="0">
                <a:solidFill>
                  <a:srgbClr val="A8324A"/>
                </a:solidFill>
                <a:latin typeface="Calibri" pitchFamily="34" charset="0"/>
                <a:ea typeface="Calibri" pitchFamily="34" charset="-122"/>
                <a:cs typeface="Calibri" pitchFamily="34" charset="-120"/>
              </a:rPr>
              <a:t>His scene at −75 dBFS gives 2.28</a:t>
            </a:r>
            <a:endParaRPr lang="en-US" sz="1150" dirty="0"/>
          </a:p>
          <a:p>
            <a:pPr indent="0" marL="0">
              <a:spcAft>
                <a:spcPts val="200"/>
              </a:spcAft>
              <a:buNone/>
            </a:pPr>
            <a:r>
              <a:rPr lang="en-US" sz="1150" dirty="0">
                <a:solidFill>
                  <a:srgbClr val="1F2A37"/>
                </a:solidFill>
                <a:latin typeface="Calibri" pitchFamily="34" charset="0"/>
                <a:ea typeface="Calibri" pitchFamily="34" charset="-122"/>
                <a:cs typeface="Calibri" pitchFamily="34" charset="-120"/>
              </a:rPr>
              <a:t>His 3.25 comes from recordings whose residuals matched his dictionary (6–8 LSB).</a:t>
            </a:r>
            <a:endParaRPr lang="en-US" sz="1150" dirty="0"/>
          </a:p>
        </p:txBody>
      </p:sp>
      <p:sp>
        <p:nvSpPr>
          <p:cNvPr id="9" name="Shape 6"/>
          <p:cNvSpPr/>
          <p:nvPr/>
        </p:nvSpPr>
        <p:spPr>
          <a:xfrm>
            <a:off x="5943600" y="3429000"/>
            <a:ext cx="2743200" cy="1188720"/>
          </a:xfrm>
          <a:prstGeom prst="roundRect">
            <a:avLst>
              <a:gd name="adj" fmla="val 6154"/>
            </a:avLst>
          </a:prstGeom>
          <a:solidFill>
            <a:srgbClr val="EEF4F7"/>
          </a:solidFill>
          <a:ln w="12700">
            <a:solidFill>
              <a:srgbClr val="EEF4F7"/>
            </a:solidFill>
            <a:prstDash val="solid"/>
          </a:ln>
        </p:spPr>
      </p:sp>
      <p:sp>
        <p:nvSpPr>
          <p:cNvPr id="10" name="Text 7"/>
          <p:cNvSpPr txBox="1"/>
          <p:nvPr/>
        </p:nvSpPr>
        <p:spPr>
          <a:xfrm>
            <a:off x="5989320" y="3465576"/>
            <a:ext cx="2651760" cy="1133856"/>
          </a:xfrm>
          <a:prstGeom prst="rect">
            <a:avLst/>
          </a:prstGeom>
          <a:noFill/>
          <a:ln/>
        </p:spPr>
        <p:txBody>
          <a:bodyPr wrap="square" lIns="1016" tIns="1016" rIns="1016" bIns="1016" rtlCol="0" anchor="t"/>
          <a:lstStyle/>
          <a:p>
            <a:pPr indent="0" marL="0">
              <a:spcAft>
                <a:spcPts val="200"/>
              </a:spcAft>
              <a:buNone/>
            </a:pPr>
            <a:r>
              <a:rPr lang="en-US" sz="1150" b="1" dirty="0">
                <a:solidFill>
                  <a:srgbClr val="1F2A37"/>
                </a:solidFill>
                <a:latin typeface="Calibri" pitchFamily="34" charset="0"/>
                <a:ea typeface="Calibri" pitchFamily="34" charset="-122"/>
                <a:cs typeface="Calibri" pitchFamily="34" charset="-120"/>
              </a:rPr>
              <a:t>Our early 1.1, explained</a:t>
            </a:r>
            <a:endParaRPr lang="en-US" sz="1150" dirty="0"/>
          </a:p>
          <a:p>
            <a:pPr indent="0" marL="0">
              <a:spcAft>
                <a:spcPts val="200"/>
              </a:spcAft>
              <a:buNone/>
            </a:pPr>
            <a:r>
              <a:rPr lang="en-US" sz="1150" dirty="0">
                <a:solidFill>
                  <a:srgbClr val="1F2A37"/>
                </a:solidFill>
                <a:latin typeface="Calibri" pitchFamily="34" charset="0"/>
                <a:ea typeface="Calibri" pitchFamily="34" charset="-122"/>
                <a:cs typeface="Calibri" pitchFamily="34" charset="-120"/>
              </a:rPr>
              <a:t>A 4× FX16 scaling difference plus a noise floor ~17 dB higher than the level that gives 3.25.</a:t>
            </a:r>
            <a:endParaRPr lang="en-US" sz="1150" dirty="0"/>
          </a:p>
        </p:txBody>
      </p:sp>
      <p:sp>
        <p:nvSpPr>
          <p:cNvPr id="11" name="Text 8"/>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kiem_replication/results/noise_sweep.csv. Slow-time LPC uses Kiem's fixed dictionary; DRHE uses his R4S4 + RLE coder with an ideal dictionary.</a:t>
            </a:r>
            <a:endParaRPr lang="en-US" sz="900" dirty="0"/>
          </a:p>
        </p:txBody>
      </p:sp>
      <p:sp>
        <p:nvSpPr>
          <p:cNvPr id="12" name="Text 9"/>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A8324A"/>
                </a:solidFill>
                <a:latin typeface="Calibri" pitchFamily="34" charset="0"/>
                <a:ea typeface="Calibri" pitchFamily="34" charset="-122"/>
                <a:cs typeface="Calibri" pitchFamily="34" charset="-120"/>
              </a:rPr>
              <a:t>4 · COMPARISON WITH KIEM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Kiem's results against ours, one by one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48840"/>
                <a:gridCol w="1371600"/>
                <a:gridCol w="3337560"/>
                <a:gridCol w="1371600"/>
              </a:tblGrid>
              <a:tr h="292608">
                <a:tc>
                  <a:txBody>
                    <a:bodyPr/>
                    <a:lstStyle/>
                    <a:p>
                      <a:pPr indent="0" marL="0">
                        <a:buNone/>
                      </a:pPr>
                      <a:r>
                        <a:rPr lang="en-US" sz="1150" b="1" dirty="0">
                          <a:solidFill>
                            <a:srgbClr val="5B6675"/>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50" b="1" dirty="0">
                          <a:solidFill>
                            <a:srgbClr val="5B6675"/>
                          </a:solidFill>
                          <a:latin typeface="Calibri" pitchFamily="34" charset="0"/>
                          <a:ea typeface="Calibri" pitchFamily="34" charset="-122"/>
                          <a:cs typeface="Calibri" pitchFamily="34" charset="-120"/>
                        </a:rPr>
                        <a:t>Kiem</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50" b="1" dirty="0">
                          <a:solidFill>
                            <a:srgbClr val="5B6675"/>
                          </a:solidFill>
                          <a:latin typeface="Calibri" pitchFamily="34" charset="0"/>
                          <a:ea typeface="Calibri" pitchFamily="34" charset="-122"/>
                          <a:cs typeface="Calibri" pitchFamily="34" charset="-120"/>
                        </a:rPr>
                        <a:t>This thesis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50" b="1" dirty="0">
                          <a:solidFill>
                            <a:srgbClr val="5B6675"/>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DRHE algorithm (his §3.5.3)</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specified</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identical residuals and bits, two independent implementations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007FA3"/>
                          </a:solidFill>
                          <a:latin typeface="Calibri" pitchFamily="34" charset="0"/>
                          <a:ea typeface="Calibri" pitchFamily="34" charset="-122"/>
                          <a:cs typeface="Calibri" pitchFamily="34" charset="-120"/>
                        </a:rPr>
                        <a:t>same</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Run-length coding adds little</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3.25 vs 3.24</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3.25 vs 3.24 (replica); 3.466 vs 3.457 on ColoRadar</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007FA3"/>
                          </a:solidFill>
                          <a:latin typeface="Calibri" pitchFamily="34" charset="0"/>
                          <a:ea typeface="Calibri" pitchFamily="34" charset="-122"/>
                          <a:cs typeface="Calibri" pitchFamily="34" charset="-120"/>
                        </a:rPr>
                        <a:t>agrees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DRHE compression ratio</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3.25 sim · 3.17 HW</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3.310 (lag 1) · 3.751 (lag 12) on ColoRadar</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5B6675"/>
                          </a:solidFill>
                          <a:latin typeface="Calibri" pitchFamily="34" charset="0"/>
                          <a:ea typeface="Calibri" pitchFamily="34" charset="-122"/>
                          <a:cs typeface="Calibri" pitchFamily="34" charset="-120"/>
                        </a:rPr>
                        <a:t>not comparable</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Fixed dictionary costs little</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yes, on his data</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0.3 % on his scene; 12–18 % on corrected ColoRadar</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C96A12"/>
                          </a:solidFill>
                          <a:latin typeface="Calibri" pitchFamily="34" charset="0"/>
                          <a:ea typeface="Calibri" pitchFamily="34" charset="-122"/>
                          <a:cs typeface="Calibri" pitchFamily="34" charset="-120"/>
                        </a:rPr>
                        <a:t>data-dependent</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LPC is less promising</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not run</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his LPC-Huffman 1.32–1.54 on his scene; our LPC 3.697 vs DRHE 3.751</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C96A12"/>
                          </a:solidFill>
                          <a:latin typeface="Calibri" pitchFamily="34" charset="0"/>
                          <a:ea typeface="Calibri" pitchFamily="34" charset="-122"/>
                          <a:cs typeface="Calibri" pitchFamily="34" charset="-120"/>
                        </a:rPr>
                        <a:t>true for his LPC</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DRHE best of his design space</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rgbClr val="1F2A37"/>
                          </a:solidFill>
                          <a:latin typeface="Calibri" pitchFamily="34" charset="0"/>
                          <a:ea typeface="Calibri" pitchFamily="34" charset="-122"/>
                          <a:cs typeface="Calibri" pitchFamily="34" charset="-120"/>
                        </a:rPr>
                        <a:t>yes among lossless; BAQ 3.76 but 10.4 % missed detections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b="1" dirty="0">
                          <a:solidFill>
                            <a:srgbClr val="007FA3"/>
                          </a:solidFill>
                          <a:latin typeface="Calibri" pitchFamily="34" charset="0"/>
                          <a:ea typeface="Calibri" pitchFamily="34" charset="-122"/>
                          <a:cs typeface="Calibri" pitchFamily="34" charset="-120"/>
                        </a:rPr>
                        <a:t>agrees</a:t>
                      </a:r>
                      <a:endParaRPr lang="en-US" sz="115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 name="Shape 2"/>
          <p:cNvSpPr/>
          <p:nvPr/>
        </p:nvSpPr>
        <p:spPr>
          <a:xfrm>
            <a:off x="457200" y="4315968"/>
            <a:ext cx="8229600" cy="411480"/>
          </a:xfrm>
          <a:prstGeom prst="roundRect">
            <a:avLst>
              <a:gd name="adj" fmla="val 17778"/>
            </a:avLst>
          </a:prstGeom>
          <a:solidFill>
            <a:srgbClr val="EEF4F7"/>
          </a:solidFill>
          <a:ln w="12700">
            <a:solidFill>
              <a:srgbClr val="EEF4F7"/>
            </a:solidFill>
            <a:prstDash val="solid"/>
          </a:ln>
        </p:spPr>
      </p:sp>
      <p:sp>
        <p:nvSpPr>
          <p:cNvPr id="6" name="Text 3"/>
          <p:cNvSpPr txBox="1"/>
          <p:nvPr/>
        </p:nvSpPr>
        <p:spPr>
          <a:xfrm>
            <a:off x="548640" y="4315968"/>
            <a:ext cx="8046720" cy="411480"/>
          </a:xfrm>
          <a:prstGeom prst="rect">
            <a:avLst/>
          </a:prstGeom>
          <a:noFill/>
          <a:ln/>
        </p:spPr>
        <p:txBody>
          <a:bodyPr wrap="square" lIns="0" tIns="0" rIns="0" bIns="0" rtlCol="0" anchor="ctr"/>
          <a:lstStyle/>
          <a:p>
            <a:pPr indent="0" marL="0">
              <a:buNone/>
            </a:pPr>
            <a:r>
              <a:rPr lang="en-US" sz="1100" b="1" dirty="0">
                <a:solidFill>
                  <a:srgbClr val="1F2A37"/>
                </a:solidFill>
                <a:latin typeface="Calibri" pitchFamily="34" charset="0"/>
                <a:ea typeface="Calibri" pitchFamily="34" charset="-122"/>
                <a:cs typeface="Calibri" pitchFamily="34" charset="-120"/>
              </a:rPr>
              <a:t>3.30 ≈ 3.25 is a coincidence of two mechanisms: </a:t>
            </a:r>
            <a:pPr indent="0" marL="0">
              <a:buNone/>
            </a:pPr>
            <a:r>
              <a:rPr lang="en-US" sz="1100" dirty="0">
                <a:solidFill>
                  <a:srgbClr val="1F2A37"/>
                </a:solidFill>
                <a:latin typeface="Calibri" pitchFamily="34" charset="0"/>
                <a:ea typeface="Calibri" pitchFamily="34" charset="-122"/>
                <a:cs typeface="Calibri" pitchFamily="34" charset="-120"/>
              </a:rPr>
              <a:t>ours is mostly unused int16 headroom (1.64×) and sparsity (2.13×); his is a dictionary matched to his residual size.</a:t>
            </a:r>
            <a:endParaRPr lang="en-US" sz="1100" dirty="0"/>
          </a:p>
        </p:txBody>
      </p:sp>
      <p:sp>
        <p:nvSpPr>
          <p:cNvPr id="7" name="Text 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56032"/>
            <a:ext cx="8229600" cy="228600"/>
          </a:xfrm>
          <a:prstGeom prst="rect">
            <a:avLst/>
          </a:prstGeom>
          <a:noFill/>
          <a:ln/>
        </p:spPr>
        <p:txBody>
          <a:bodyPr wrap="square" lIns="0" tIns="0" rIns="0" bIns="0" rtlCol="0" anchor="ctr"/>
          <a:lstStyle/>
          <a:p>
            <a:pPr indent="0" marL="0">
              <a:buNone/>
            </a:pPr>
            <a:r>
              <a:rPr lang="en-US" sz="1050" b="1" spc="200" kern="0" dirty="0">
                <a:solidFill>
                  <a:srgbClr val="A8324A"/>
                </a:solidFill>
                <a:latin typeface="Calibri" pitchFamily="34" charset="0"/>
                <a:ea typeface="Calibri" pitchFamily="34" charset="-122"/>
                <a:cs typeface="Calibri" pitchFamily="34" charset="-120"/>
              </a:rPr>
              <a:t>4 · COMPARISON WITH KIEM</a:t>
            </a:r>
            <a:endParaRPr lang="en-US" sz="1050" dirty="0"/>
          </a:p>
        </p:txBody>
      </p:sp>
      <p:sp>
        <p:nvSpPr>
          <p:cNvPr id="3" name="Text 1"/>
          <p:cNvSpPr txBox="1"/>
          <p:nvPr/>
        </p:nvSpPr>
        <p:spPr>
          <a:xfrm>
            <a:off x="457200" y="475488"/>
            <a:ext cx="8229600" cy="566928"/>
          </a:xfrm>
          <a:prstGeom prst="rect">
            <a:avLst/>
          </a:prstGeom>
          <a:noFill/>
          <a:ln/>
        </p:spPr>
        <p:txBody>
          <a:bodyPr wrap="square" lIns="0" tIns="0" rIns="0" bIns="0" rtlCol="0" anchor="t"/>
          <a:lstStyle/>
          <a:p>
            <a:pPr indent="0" marL="0">
              <a:buNone/>
            </a:pPr>
            <a:r>
              <a:rPr lang="en-US" sz="2600" b="1" dirty="0">
                <a:solidFill>
                  <a:srgbClr val="1F2A37"/>
                </a:solidFill>
                <a:latin typeface="Cambria" pitchFamily="34" charset="0"/>
                <a:ea typeface="Cambria" pitchFamily="34" charset="-122"/>
                <a:cs typeface="Cambria" pitchFamily="34" charset="-120"/>
              </a:rPr>
              <a:t>Hardware: one cause for every difference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394960" cy="914400"/>
        </p:xfrm>
        <a:graphic>
          <a:graphicData uri="http://schemas.openxmlformats.org/drawingml/2006/table">
            <a:tbl>
              <a:tblPr/>
              <a:tblGrid>
                <a:gridCol w="1417320"/>
                <a:gridCol w="1417320"/>
                <a:gridCol w="1325880"/>
                <a:gridCol w="1234440"/>
              </a:tblGrid>
              <a:tr h="365760">
                <a:tc>
                  <a:txBody>
                    <a:bodyPr/>
                    <a:lstStyle/>
                    <a:p>
                      <a:pPr indent="0" marL="0">
                        <a:buNone/>
                      </a:pPr>
                      <a:r>
                        <a:rPr lang="en-US" sz="1100" b="1" dirty="0">
                          <a:solidFill>
                            <a:srgbClr val="5B6675"/>
                          </a:solidFill>
                          <a:latin typeface="Calibri" pitchFamily="34" charset="0"/>
                          <a:ea typeface="Calibri" pitchFamily="34" charset="-122"/>
                          <a:cs typeface="Calibri" pitchFamily="34" charset="-120"/>
                        </a:rPr>
                        <a:t>Post-route</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00" b="1" dirty="0">
                          <a:solidFill>
                            <a:srgbClr val="A8324A"/>
                          </a:solidFill>
                          <a:latin typeface="Calibri" pitchFamily="34" charset="0"/>
                          <a:ea typeface="Calibri" pitchFamily="34" charset="-122"/>
                          <a:cs typeface="Calibri" pitchFamily="34" charset="-120"/>
                        </a:rPr>
                        <a:t>Kiem (published)</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00" b="1" dirty="0">
                          <a:solidFill>
                            <a:srgbClr val="5B6675"/>
                          </a:solidFill>
                          <a:latin typeface="Calibri" pitchFamily="34" charset="0"/>
                          <a:ea typeface="Calibri" pitchFamily="34" charset="-122"/>
                          <a:cs typeface="Calibri" pitchFamily="34" charset="-120"/>
                        </a:rPr>
                        <a:t>Replica of Kiem (our tools)</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c>
                  <a:txBody>
                    <a:bodyPr/>
                    <a:lstStyle/>
                    <a:p>
                      <a:pPr indent="0" marL="0">
                        <a:buNone/>
                      </a:pPr>
                      <a:r>
                        <a:rPr lang="en-US" sz="1100" b="1" dirty="0">
                          <a:solidFill>
                            <a:srgbClr val="007FA3"/>
                          </a:solidFill>
                          <a:latin typeface="Calibri" pitchFamily="34" charset="0"/>
                          <a:ea typeface="Calibri" pitchFamily="34" charset="-122"/>
                          <a:cs typeface="Calibri" pitchFamily="34" charset="-120"/>
                        </a:rPr>
                        <a:t>DRHE-1 (ours)</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3F5F7"/>
                    </a:solidFill>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LUT</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45,892</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17,141</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35,343</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FF</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9,243</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5,050</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23,546</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DSP</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BRAM (36 Kb tiles)</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Initiation interval</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Clock</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100 MHz met</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129.5 MHz</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135.5 MHz</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365760">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Throughput</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11.92 Gibit/s (theoretical)</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11.54 Gbit/s measured</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5.14 Gbit/s measured</a:t>
                      </a:r>
                      <a:endParaRPr lang="en-US" sz="1100" dirty="0">
                        <a:latin typeface="Calibri" charset="0"/>
                        <a:ea typeface="Calibri" charset="0"/>
                        <a:cs typeface="Calibri" charset="0"/>
                      </a:endParaRPr>
                    </a:p>
                  </a:txBody>
                  <a:tcPr marL="91440" marR="91440" marT="45720" marB="4572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 name="Shape 2"/>
          <p:cNvSpPr/>
          <p:nvPr/>
        </p:nvSpPr>
        <p:spPr>
          <a:xfrm>
            <a:off x="6126480" y="1097280"/>
            <a:ext cx="2560320" cy="2971800"/>
          </a:xfrm>
          <a:prstGeom prst="roundRect">
            <a:avLst>
              <a:gd name="adj" fmla="val 2857"/>
            </a:avLst>
          </a:prstGeom>
          <a:solidFill>
            <a:srgbClr val="EEF4F7"/>
          </a:solidFill>
          <a:ln w="12700">
            <a:solidFill>
              <a:srgbClr val="EEF4F7"/>
            </a:solidFill>
            <a:prstDash val="solid"/>
          </a:ln>
        </p:spPr>
      </p:sp>
      <p:sp>
        <p:nvSpPr>
          <p:cNvPr id="6" name="Text 3"/>
          <p:cNvSpPr txBox="1"/>
          <p:nvPr/>
        </p:nvSpPr>
        <p:spPr>
          <a:xfrm>
            <a:off x="6172200" y="1170432"/>
            <a:ext cx="2468880" cy="2834640"/>
          </a:xfrm>
          <a:prstGeom prst="rect">
            <a:avLst/>
          </a:prstGeom>
          <a:noFill/>
          <a:ln/>
        </p:spPr>
        <p:txBody>
          <a:bodyPr wrap="square" lIns="1016" tIns="1016" rIns="1016" bIns="1016" rtlCol="0" anchor="t"/>
          <a:lstStyle/>
          <a:p>
            <a:pPr marL="152400" indent="-152400">
              <a:spcAft>
                <a:spcPts val="600"/>
              </a:spcAft>
              <a:buSzPct val="100000"/>
              <a:buChar char="•"/>
            </a:pPr>
            <a:r>
              <a:rPr lang="en-US" sz="1150" b="1" dirty="0">
                <a:solidFill>
                  <a:srgbClr val="1F2A37"/>
                </a:solidFill>
                <a:latin typeface="Calibri" pitchFamily="34" charset="0"/>
                <a:ea typeface="Calibri" pitchFamily="34" charset="-122"/>
                <a:cs typeface="Calibri" pitchFamily="34" charset="-120"/>
              </a:rPr>
              <a:t>Float datapath </a:t>
            </a:r>
            <a:pPr indent="0" marL="0">
              <a:spcAft>
                <a:spcPts val="600"/>
              </a:spcAft>
              <a:buNone/>
            </a:pPr>
            <a:r>
              <a:rPr lang="en-US" sz="1150" dirty="0">
                <a:solidFill>
                  <a:srgbClr val="1F2A37"/>
                </a:solidFill>
                <a:latin typeface="Calibri" pitchFamily="34" charset="0"/>
                <a:ea typeface="Calibri" pitchFamily="34" charset="-122"/>
                <a:cs typeface="Calibri" pitchFamily="34" charset="-120"/>
              </a:rPr>
              <a:t>is most of the logic, every extra DSP and 2× the BRAM (32-bit state).</a:t>
            </a:r>
            <a:endParaRPr lang="en-US" sz="1300" dirty="0"/>
          </a:p>
          <a:p>
            <a:pPr marL="152400" indent="-152400">
              <a:spcAft>
                <a:spcPts val="600"/>
              </a:spcAft>
              <a:buSzPct val="100000"/>
              <a:buChar char="•"/>
            </a:pPr>
            <a:r>
              <a:rPr lang="en-US" sz="1150" b="1" dirty="0">
                <a:solidFill>
                  <a:srgbClr val="1F2A37"/>
                </a:solidFill>
                <a:latin typeface="Calibri" pitchFamily="34" charset="0"/>
                <a:ea typeface="Calibri" pitchFamily="34" charset="-122"/>
                <a:cs typeface="Calibri" pitchFamily="34" charset="-120"/>
              </a:rPr>
              <a:t>Fixed-point DRHE </a:t>
            </a:r>
            <a:pPr indent="0" marL="0">
              <a:spcAft>
                <a:spcPts val="600"/>
              </a:spcAft>
              <a:buNone/>
            </a:pPr>
            <a:r>
              <a:rPr lang="en-US" sz="1150" dirty="0">
                <a:solidFill>
                  <a:srgbClr val="1F2A37"/>
                </a:solidFill>
                <a:latin typeface="Calibri" pitchFamily="34" charset="0"/>
                <a:ea typeface="Calibri" pitchFamily="34" charset="-122"/>
                <a:cs typeface="Calibri" pitchFamily="34" charset="-120"/>
              </a:rPr>
              <a:t>compresses within 0.07 % of the float design.</a:t>
            </a:r>
            <a:endParaRPr lang="en-US" sz="1300" dirty="0"/>
          </a:p>
          <a:p>
            <a:pPr marL="152400" indent="-152400">
              <a:spcAft>
                <a:spcPts val="600"/>
              </a:spcAft>
              <a:buSzPct val="100000"/>
              <a:buChar char="•"/>
            </a:pPr>
            <a:r>
              <a:rPr lang="en-US" sz="1150" b="1" dirty="0">
                <a:solidFill>
                  <a:srgbClr val="1F2A37"/>
                </a:solidFill>
                <a:latin typeface="Calibri" pitchFamily="34" charset="0"/>
                <a:ea typeface="Calibri" pitchFamily="34" charset="-122"/>
                <a:cs typeface="Calibri" pitchFamily="34" charset="-120"/>
              </a:rPr>
              <a:t>II = 2 </a:t>
            </a:r>
            <a:pPr indent="0" marL="0">
              <a:spcAft>
                <a:spcPts val="600"/>
              </a:spcAft>
              <a:buNone/>
            </a:pPr>
            <a:r>
              <a:rPr lang="en-US" sz="1150" dirty="0">
                <a:solidFill>
                  <a:srgbClr val="1F2A37"/>
                </a:solidFill>
                <a:latin typeface="Calibri" pitchFamily="34" charset="0"/>
                <a:ea typeface="Calibri" pitchFamily="34" charset="-122"/>
                <a:cs typeface="Calibri" pitchFamily="34" charset="-120"/>
              </a:rPr>
              <a:t>is one extra state-clearing write per cycle; the ladder reaches II = 1.</a:t>
            </a:r>
            <a:endParaRPr lang="en-US" sz="1300" dirty="0"/>
          </a:p>
          <a:p>
            <a:pPr marL="152400" indent="-152400">
              <a:spcAft>
                <a:spcPts val="600"/>
              </a:spcAft>
              <a:buSzPct val="100000"/>
              <a:buChar char="•"/>
            </a:pPr>
            <a:r>
              <a:rPr lang="en-US" sz="1150" b="1" dirty="0">
                <a:solidFill>
                  <a:srgbClr val="1F2A37"/>
                </a:solidFill>
                <a:latin typeface="Calibri" pitchFamily="34" charset="0"/>
                <a:ea typeface="Calibri" pitchFamily="34" charset="-122"/>
                <a:cs typeface="Calibri" pitchFamily="34" charset="-120"/>
              </a:rPr>
              <a:t>Throughput gap is exactly 2× </a:t>
            </a:r>
            <a:pPr indent="0" marL="0">
              <a:spcAft>
                <a:spcPts val="600"/>
              </a:spcAft>
              <a:buNone/>
            </a:pPr>
            <a:r>
              <a:rPr lang="en-US" sz="1150" dirty="0">
                <a:solidFill>
                  <a:srgbClr val="1F2A37"/>
                </a:solidFill>
                <a:latin typeface="Calibri" pitchFamily="34" charset="0"/>
                <a:ea typeface="Calibri" pitchFamily="34" charset="-122"/>
                <a:cs typeface="Calibri" pitchFamily="34" charset="-120"/>
              </a:rPr>
              <a:t>theoretical vs theoretical; his figure is in binary units.</a:t>
            </a:r>
            <a:endParaRPr lang="en-US" sz="1300" dirty="0"/>
          </a:p>
        </p:txBody>
      </p:sp>
      <p:sp>
        <p:nvSpPr>
          <p:cNvPr id="7" name="Text 4"/>
          <p:cNvSpPr txBox="1"/>
          <p:nvPr/>
        </p:nvSpPr>
        <p:spPr>
          <a:xfrm>
            <a:off x="457200" y="4754880"/>
            <a:ext cx="8229600" cy="228600"/>
          </a:xfrm>
          <a:prstGeom prst="rect">
            <a:avLst/>
          </a:prstGeom>
          <a:noFill/>
          <a:ln/>
        </p:spPr>
        <p:txBody>
          <a:bodyPr wrap="square" lIns="0" tIns="0" rIns="0" bIns="0" rtlCol="0" anchor="ctr"/>
          <a:lstStyle/>
          <a:p>
            <a:pPr indent="0" marL="0">
              <a:buNone/>
            </a:pPr>
            <a:r>
              <a:rPr lang="en-US" sz="900" dirty="0">
                <a:solidFill>
                  <a:srgbClr val="5B6675"/>
                </a:solidFill>
                <a:latin typeface="Calibri" pitchFamily="34" charset="0"/>
                <a:ea typeface="Calibri" pitchFamily="34" charset="-122"/>
                <a:cs typeface="Calibri" pitchFamily="34" charset="-120"/>
              </a:rPr>
              <a:t>Replica and DRHE-1 built with Vitis/Vivado 2026.1 on xcku5p; Kiem: Vitis 2022.2, XCZU3CG. A ladder of single-change variants links the replica to DRHE-1.</a:t>
            </a:r>
            <a:endParaRPr lang="en-US" sz="900" dirty="0"/>
          </a:p>
        </p:txBody>
      </p:sp>
      <p:sp>
        <p:nvSpPr>
          <p:cNvPr id="8" name="Text 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5B667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12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to take away</a:t>
            </a:r>
            <a:endParaRPr lang="en-US" sz="3000" dirty="0"/>
          </a:p>
        </p:txBody>
      </p:sp>
      <p:sp>
        <p:nvSpPr>
          <p:cNvPr id="3" name="Shape 1"/>
          <p:cNvSpPr/>
          <p:nvPr/>
        </p:nvSpPr>
        <p:spPr>
          <a:xfrm>
            <a:off x="548640" y="1280160"/>
            <a:ext cx="384048" cy="384048"/>
          </a:xfrm>
          <a:prstGeom prst="ellipse">
            <a:avLst/>
          </a:prstGeom>
          <a:solidFill>
            <a:srgbClr val="007FA3"/>
          </a:solidFill>
          <a:ln w="12700">
            <a:solidFill>
              <a:srgbClr val="007FA3"/>
            </a:solidFill>
            <a:prstDash val="solid"/>
          </a:ln>
        </p:spPr>
      </p:sp>
      <p:sp>
        <p:nvSpPr>
          <p:cNvPr id="4" name="Text 2"/>
          <p:cNvSpPr txBox="1"/>
          <p:nvPr/>
        </p:nvSpPr>
        <p:spPr>
          <a:xfrm>
            <a:off x="548640" y="1280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txBox="1"/>
          <p:nvPr/>
        </p:nvSpPr>
        <p:spPr>
          <a:xfrm>
            <a:off x="1097280" y="1216152"/>
            <a:ext cx="75895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Predict along the right axis.</a:t>
            </a:r>
            <a:endParaRPr lang="en-US" sz="1500" dirty="0"/>
          </a:p>
          <a:p>
            <a:pPr indent="0" marL="0">
              <a:buNone/>
            </a:pPr>
            <a:r>
              <a:rPr lang="en-US" sz="1200" dirty="0">
                <a:solidFill>
                  <a:srgbClr val="C3CFDB"/>
                </a:solidFill>
                <a:latin typeface="Calibri" pitchFamily="34" charset="0"/>
                <a:ea typeface="Calibri" pitchFamily="34" charset="-122"/>
                <a:cs typeface="Calibri" pitchFamily="34" charset="-120"/>
              </a:rPr>
              <a:t>On a 12-TX TDM cascade the slow-time neighbour is ramp m − 12. At lag 1 both predictors lost to no prediction; at lag 12 they gain 7.8 % (DRHE) and 6.3 % (LPC), still bit-exact.</a:t>
            </a:r>
            <a:endParaRPr lang="en-US" sz="1500" dirty="0"/>
          </a:p>
        </p:txBody>
      </p:sp>
      <p:sp>
        <p:nvSpPr>
          <p:cNvPr id="6" name="Shape 4"/>
          <p:cNvSpPr/>
          <p:nvPr/>
        </p:nvSpPr>
        <p:spPr>
          <a:xfrm>
            <a:off x="548640" y="2148840"/>
            <a:ext cx="384048" cy="384048"/>
          </a:xfrm>
          <a:prstGeom prst="ellipse">
            <a:avLst/>
          </a:prstGeom>
          <a:solidFill>
            <a:srgbClr val="C96A12"/>
          </a:solidFill>
          <a:ln w="12700">
            <a:solidFill>
              <a:srgbClr val="C96A12"/>
            </a:solidFill>
            <a:prstDash val="solid"/>
          </a:ln>
        </p:spPr>
      </p:sp>
      <p:sp>
        <p:nvSpPr>
          <p:cNvPr id="7" name="Text 5"/>
          <p:cNvSpPr txBox="1"/>
          <p:nvPr/>
        </p:nvSpPr>
        <p:spPr>
          <a:xfrm>
            <a:off x="548640" y="2148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txBox="1"/>
          <p:nvPr/>
        </p:nvSpPr>
        <p:spPr>
          <a:xfrm>
            <a:off x="1097280" y="2084832"/>
            <a:ext cx="75895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DRHE and LPC are level on ratio.</a:t>
            </a:r>
            <a:endParaRPr lang="en-US" sz="1500" dirty="0"/>
          </a:p>
          <a:p>
            <a:pPr indent="0" marL="0">
              <a:buNone/>
            </a:pPr>
            <a:r>
              <a:rPr lang="en-US" sz="1200" dirty="0">
                <a:solidFill>
                  <a:srgbClr val="C3CFDB"/>
                </a:solidFill>
                <a:latin typeface="Calibri" pitchFamily="34" charset="0"/>
                <a:ea typeface="Calibri" pitchFamily="34" charset="-122"/>
                <a:cs typeface="Calibri" pitchFamily="34" charset="-120"/>
              </a:rPr>
              <a:t>LPC's residuals are smaller, DRHE has no side information. DRHE wins on structure: no frame buffer, first output immediately, a fifth of the latency.</a:t>
            </a:r>
            <a:endParaRPr lang="en-US" sz="1500" dirty="0"/>
          </a:p>
        </p:txBody>
      </p:sp>
      <p:sp>
        <p:nvSpPr>
          <p:cNvPr id="9" name="Shape 7"/>
          <p:cNvSpPr/>
          <p:nvPr/>
        </p:nvSpPr>
        <p:spPr>
          <a:xfrm>
            <a:off x="548640" y="3017520"/>
            <a:ext cx="384048" cy="384048"/>
          </a:xfrm>
          <a:prstGeom prst="ellipse">
            <a:avLst/>
          </a:prstGeom>
          <a:solidFill>
            <a:srgbClr val="6A4BC4"/>
          </a:solidFill>
          <a:ln w="12700">
            <a:solidFill>
              <a:srgbClr val="6A4BC4"/>
            </a:solidFill>
            <a:prstDash val="solid"/>
          </a:ln>
        </p:spPr>
      </p:sp>
      <p:sp>
        <p:nvSpPr>
          <p:cNvPr id="10" name="Text 8"/>
          <p:cNvSpPr txBox="1"/>
          <p:nvPr/>
        </p:nvSpPr>
        <p:spPr>
          <a:xfrm>
            <a:off x="548640" y="3017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1097280" y="2953512"/>
            <a:ext cx="75895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dictionary is now the bottleneck.</a:t>
            </a:r>
            <a:endParaRPr lang="en-US" sz="1500" dirty="0"/>
          </a:p>
          <a:p>
            <a:pPr indent="0" marL="0">
              <a:buNone/>
            </a:pPr>
            <a:r>
              <a:rPr lang="en-US" sz="1200" dirty="0">
                <a:solidFill>
                  <a:srgbClr val="C3CFDB"/>
                </a:solidFill>
                <a:latin typeface="Calibri" pitchFamily="34" charset="0"/>
                <a:ea typeface="Calibri" pitchFamily="34" charset="-122"/>
                <a:cs typeface="Calibri" pitchFamily="34" charset="-120"/>
              </a:rPr>
              <a:t>Kiem's 4-bit floor caps CR at 4. A matched dictionary gives DRHE 4.21 and LPC 4.37 on held-out frames.</a:t>
            </a:r>
            <a:endParaRPr lang="en-US" sz="1500" dirty="0"/>
          </a:p>
        </p:txBody>
      </p:sp>
      <p:sp>
        <p:nvSpPr>
          <p:cNvPr id="12" name="Shape 10"/>
          <p:cNvSpPr/>
          <p:nvPr/>
        </p:nvSpPr>
        <p:spPr>
          <a:xfrm>
            <a:off x="548640" y="3886200"/>
            <a:ext cx="384048" cy="384048"/>
          </a:xfrm>
          <a:prstGeom prst="ellipse">
            <a:avLst/>
          </a:prstGeom>
          <a:solidFill>
            <a:srgbClr val="A8324A"/>
          </a:solidFill>
          <a:ln w="12700">
            <a:solidFill>
              <a:srgbClr val="A8324A"/>
            </a:solidFill>
            <a:prstDash val="solid"/>
          </a:ln>
        </p:spPr>
      </p:sp>
      <p:sp>
        <p:nvSpPr>
          <p:cNvPr id="13" name="Text 11"/>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2"/>
          <p:cNvSpPr txBox="1"/>
          <p:nvPr/>
        </p:nvSpPr>
        <p:spPr>
          <a:xfrm>
            <a:off x="1097280" y="3822192"/>
            <a:ext cx="7589520" cy="8229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Kiem's results are reproduced and explained.</a:t>
            </a:r>
            <a:endParaRPr lang="en-US" sz="1500" dirty="0"/>
          </a:p>
          <a:p>
            <a:pPr indent="0" marL="0">
              <a:buNone/>
            </a:pPr>
            <a:r>
              <a:rPr lang="en-US" sz="1200" dirty="0">
                <a:solidFill>
                  <a:srgbClr val="C3CFDB"/>
                </a:solidFill>
                <a:latin typeface="Calibri" pitchFamily="34" charset="0"/>
                <a:ea typeface="Calibri" pitchFamily="34" charset="-122"/>
                <a:cs typeface="Calibri" pitchFamily="34" charset="-120"/>
              </a:rPr>
              <a:t>His DRHE is ours to the bit; his 3.25 is reproduced at one noise level; our 3.30 ≈ 3.25 is a coincidence of different mechanisms.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Lossless radar compression on a TDM-MIMO cascade</dc:title>
  <dc:subject>PptxGenJS Presentation</dc:subject>
  <dc:creator>Jordan Mohindra</dc:creator>
  <cp:lastModifiedBy>Jordan Mohindra</cp:lastModifiedBy>
  <cp:revision>1</cp:revision>
  <dcterms:created xsi:type="dcterms:W3CDTF">2026-09-24T03:59:30Z</dcterms:created>
  <dcterms:modified xsi:type="dcterms:W3CDTF">2026-09-24T03:59:30Z</dcterms:modified>
</cp:coreProperties>
</file>