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4" r:id="rId2"/>
    <p:sldMasterId id="2147483672" r:id="rId3"/>
    <p:sldMasterId id="2147483660" r:id="rId4"/>
  </p:sldMasterIdLst>
  <p:notesMasterIdLst>
    <p:notesMasterId r:id="rId6"/>
  </p:notesMasterIdLst>
  <p:sldIdLst>
    <p:sldId id="256" r:id="rId5"/>
  </p:sldIdLst>
  <p:sldSz cx="30275213" cy="42811700"/>
  <p:notesSz cx="6858000" cy="9144000"/>
  <p:defaultTextStyle>
    <a:defPPr>
      <a:defRPr lang="en-US"/>
    </a:defPPr>
    <a:lvl1pPr marL="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8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13484">
          <p15:clr>
            <a:srgbClr val="A4A3A4"/>
          </p15:clr>
        </p15:guide>
        <p15:guide id="2" pos="203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CD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=""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 snapToGrid="0" snapToObjects="1">
      <p:cViewPr>
        <p:scale>
          <a:sx n="30" d="100"/>
          <a:sy n="30" d="100"/>
        </p:scale>
        <p:origin x="-2430" y="-72"/>
      </p:cViewPr>
      <p:guideLst>
        <p:guide orient="horz" pos="13484"/>
        <p:guide pos="203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992389-FB02-6C4A-947E-20AE2CA8E218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0E5CE1-65A2-894E-8F87-C16F8776B47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331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1pPr>
    <a:lvl2pPr marL="2088170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2pPr>
    <a:lvl3pPr marL="417633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3pPr>
    <a:lvl4pPr marL="6264509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4pPr>
    <a:lvl5pPr marL="835267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5pPr>
    <a:lvl6pPr marL="10440848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6pPr>
    <a:lvl7pPr marL="1252901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7pPr>
    <a:lvl8pPr marL="14617187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8pPr>
    <a:lvl9pPr marL="16705356" algn="l" defTabSz="2088170" rtl="0" eaLnBrk="1" latinLnBrk="0" hangingPunct="1">
      <a:defRPr sz="5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16150" y="685800"/>
            <a:ext cx="24257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0E5CE1-65A2-894E-8F87-C16F8776B479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76919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30275213" cy="5582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425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9778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1533" y="27510485"/>
            <a:ext cx="25733931" cy="8502879"/>
          </a:xfrm>
          <a:prstGeom prst="rect">
            <a:avLst/>
          </a:prstGeom>
        </p:spPr>
        <p:txBody>
          <a:bodyPr anchor="t"/>
          <a:lstStyle>
            <a:lvl1pPr algn="l">
              <a:defRPr sz="18300" b="1" cap="all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1533" y="18145428"/>
            <a:ext cx="25733931" cy="936505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9100">
                <a:solidFill>
                  <a:schemeClr val="tx1">
                    <a:tint val="75000"/>
                  </a:schemeClr>
                </a:solidFill>
              </a:defRPr>
            </a:lvl1pPr>
            <a:lvl2pPr marL="2088170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4176339" indent="0">
              <a:buNone/>
              <a:defRPr sz="7300">
                <a:solidFill>
                  <a:schemeClr val="tx1">
                    <a:tint val="75000"/>
                  </a:schemeClr>
                </a:solidFill>
              </a:defRPr>
            </a:lvl3pPr>
            <a:lvl4pPr marL="6264509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4pPr>
            <a:lvl5pPr marL="835267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5pPr>
            <a:lvl6pPr marL="10440848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6pPr>
            <a:lvl7pPr marL="1252901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7pPr>
            <a:lvl8pPr marL="14617187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8pPr>
            <a:lvl9pPr marL="16705356" indent="0">
              <a:buNone/>
              <a:defRPr sz="6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3775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14332" y="62364364"/>
            <a:ext cx="44850417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369338" y="62364364"/>
            <a:ext cx="44855671" cy="176370327"/>
          </a:xfrm>
          <a:prstGeom prst="rect">
            <a:avLst/>
          </a:prstGeom>
        </p:spPr>
        <p:txBody>
          <a:bodyPr/>
          <a:lstStyle>
            <a:lvl1pPr>
              <a:defRPr sz="12800"/>
            </a:lvl1pPr>
            <a:lvl2pPr>
              <a:defRPr sz="11000"/>
            </a:lvl2pPr>
            <a:lvl3pPr>
              <a:defRPr sz="91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943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3761" y="9583085"/>
            <a:ext cx="13376810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3761" y="13576859"/>
            <a:ext cx="13376810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389" y="9583085"/>
            <a:ext cx="13382065" cy="399377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1000" b="1"/>
            </a:lvl1pPr>
            <a:lvl2pPr marL="2088170" indent="0">
              <a:buNone/>
              <a:defRPr sz="9100" b="1"/>
            </a:lvl2pPr>
            <a:lvl3pPr marL="4176339" indent="0">
              <a:buNone/>
              <a:defRPr sz="8200" b="1"/>
            </a:lvl3pPr>
            <a:lvl4pPr marL="6264509" indent="0">
              <a:buNone/>
              <a:defRPr sz="7300" b="1"/>
            </a:lvl4pPr>
            <a:lvl5pPr marL="8352678" indent="0">
              <a:buNone/>
              <a:defRPr sz="7300" b="1"/>
            </a:lvl5pPr>
            <a:lvl6pPr marL="10440848" indent="0">
              <a:buNone/>
              <a:defRPr sz="7300" b="1"/>
            </a:lvl6pPr>
            <a:lvl7pPr marL="12529017" indent="0">
              <a:buNone/>
              <a:defRPr sz="7300" b="1"/>
            </a:lvl7pPr>
            <a:lvl8pPr marL="14617187" indent="0">
              <a:buNone/>
              <a:defRPr sz="7300" b="1"/>
            </a:lvl8pPr>
            <a:lvl9pPr marL="16705356" indent="0">
              <a:buNone/>
              <a:defRPr sz="7300" b="1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389" y="13576859"/>
            <a:ext cx="13382065" cy="24666281"/>
          </a:xfrm>
          <a:prstGeom prst="rect">
            <a:avLst/>
          </a:prstGeom>
        </p:spPr>
        <p:txBody>
          <a:bodyPr/>
          <a:lstStyle>
            <a:lvl1pPr>
              <a:defRPr sz="11000"/>
            </a:lvl1pPr>
            <a:lvl2pPr>
              <a:defRPr sz="9100"/>
            </a:lvl2pPr>
            <a:lvl3pPr>
              <a:defRPr sz="8200"/>
            </a:lvl3pPr>
            <a:lvl4pPr>
              <a:defRPr sz="7300"/>
            </a:lvl4pPr>
            <a:lvl5pPr>
              <a:defRPr sz="7300"/>
            </a:lvl5pPr>
            <a:lvl6pPr>
              <a:defRPr sz="7300"/>
            </a:lvl6pPr>
            <a:lvl7pPr>
              <a:defRPr sz="7300"/>
            </a:lvl7pPr>
            <a:lvl8pPr>
              <a:defRPr sz="7300"/>
            </a:lvl8pPr>
            <a:lvl9pPr>
              <a:defRPr sz="73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8415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8725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0889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3" y="1704540"/>
            <a:ext cx="9960336" cy="7254205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767" y="1704543"/>
            <a:ext cx="16924685" cy="36538600"/>
          </a:xfrm>
          <a:prstGeom prst="rect">
            <a:avLst/>
          </a:prstGeom>
        </p:spPr>
        <p:txBody>
          <a:bodyPr/>
          <a:lstStyle>
            <a:lvl1pPr>
              <a:defRPr sz="14600"/>
            </a:lvl1pPr>
            <a:lvl2pPr>
              <a:defRPr sz="12800"/>
            </a:lvl2pPr>
            <a:lvl3pPr>
              <a:defRPr sz="11000"/>
            </a:lvl3pPr>
            <a:lvl4pPr>
              <a:defRPr sz="9100"/>
            </a:lvl4pPr>
            <a:lvl5pPr>
              <a:defRPr sz="9100"/>
            </a:lvl5pPr>
            <a:lvl6pPr>
              <a:defRPr sz="9100"/>
            </a:lvl6pPr>
            <a:lvl7pPr>
              <a:defRPr sz="9100"/>
            </a:lvl7pPr>
            <a:lvl8pPr>
              <a:defRPr sz="9100"/>
            </a:lvl8pPr>
            <a:lvl9pPr>
              <a:defRPr sz="9100"/>
            </a:lvl9pPr>
          </a:lstStyle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3763" y="8958748"/>
            <a:ext cx="9960336" cy="2928439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712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154" y="29968190"/>
            <a:ext cx="18165128" cy="3537914"/>
          </a:xfrm>
          <a:prstGeom prst="rect">
            <a:avLst/>
          </a:prstGeom>
        </p:spPr>
        <p:txBody>
          <a:bodyPr anchor="b"/>
          <a:lstStyle>
            <a:lvl1pPr algn="l">
              <a:defRPr sz="9100" b="1"/>
            </a:lvl1pPr>
          </a:lstStyle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154" y="3825305"/>
            <a:ext cx="18165128" cy="2568702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600"/>
            </a:lvl1pPr>
            <a:lvl2pPr marL="2088170" indent="0">
              <a:buNone/>
              <a:defRPr sz="12800"/>
            </a:lvl2pPr>
            <a:lvl3pPr marL="4176339" indent="0">
              <a:buNone/>
              <a:defRPr sz="11000"/>
            </a:lvl3pPr>
            <a:lvl4pPr marL="6264509" indent="0">
              <a:buNone/>
              <a:defRPr sz="9100"/>
            </a:lvl4pPr>
            <a:lvl5pPr marL="8352678" indent="0">
              <a:buNone/>
              <a:defRPr sz="9100"/>
            </a:lvl5pPr>
            <a:lvl6pPr marL="10440848" indent="0">
              <a:buNone/>
              <a:defRPr sz="9100"/>
            </a:lvl6pPr>
            <a:lvl7pPr marL="12529017" indent="0">
              <a:buNone/>
              <a:defRPr sz="9100"/>
            </a:lvl7pPr>
            <a:lvl8pPr marL="14617187" indent="0">
              <a:buNone/>
              <a:defRPr sz="9100"/>
            </a:lvl8pPr>
            <a:lvl9pPr marL="16705356" indent="0">
              <a:buNone/>
              <a:defRPr sz="91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154" y="33506104"/>
            <a:ext cx="18165128" cy="50244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400"/>
            </a:lvl1pPr>
            <a:lvl2pPr marL="2088170" indent="0">
              <a:buNone/>
              <a:defRPr sz="5500"/>
            </a:lvl2pPr>
            <a:lvl3pPr marL="4176339" indent="0">
              <a:buNone/>
              <a:defRPr sz="4600"/>
            </a:lvl3pPr>
            <a:lvl4pPr marL="6264509" indent="0">
              <a:buNone/>
              <a:defRPr sz="4100"/>
            </a:lvl4pPr>
            <a:lvl5pPr marL="8352678" indent="0">
              <a:buNone/>
              <a:defRPr sz="4100"/>
            </a:lvl5pPr>
            <a:lvl6pPr marL="10440848" indent="0">
              <a:buNone/>
              <a:defRPr sz="4100"/>
            </a:lvl6pPr>
            <a:lvl7pPr marL="12529017" indent="0">
              <a:buNone/>
              <a:defRPr sz="4100"/>
            </a:lvl7pPr>
            <a:lvl8pPr marL="14617187" indent="0">
              <a:buNone/>
              <a:defRPr sz="4100"/>
            </a:lvl8pPr>
            <a:lvl9pPr marL="16705356" indent="0">
              <a:buNone/>
              <a:defRPr sz="4100"/>
            </a:lvl9pPr>
          </a:lstStyle>
          <a:p>
            <a:pPr lvl="0"/>
            <a:r>
              <a:rPr lang="en-AU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3535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3761" y="1714453"/>
            <a:ext cx="27247692" cy="7135283"/>
          </a:xfrm>
          <a:prstGeom prst="rect">
            <a:avLst/>
          </a:prstGeom>
        </p:spPr>
        <p:txBody>
          <a:bodyPr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3761" y="9989400"/>
            <a:ext cx="27247692" cy="2825374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4841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2676283" y="10702928"/>
            <a:ext cx="22548726" cy="228031763"/>
          </a:xfrm>
          <a:prstGeom prst="rect">
            <a:avLst/>
          </a:prstGeom>
        </p:spPr>
        <p:txBody>
          <a:bodyPr vert="eaVert"/>
          <a:lstStyle/>
          <a:p>
            <a:r>
              <a:rPr lang="en-AU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14332" y="10702928"/>
            <a:ext cx="67157362" cy="2280317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AU" smtClean="0"/>
              <a:t>Click to edit Master text styles</a:t>
            </a:r>
          </a:p>
          <a:p>
            <a:pPr lvl="1"/>
            <a:r>
              <a:rPr lang="en-AU" smtClean="0"/>
              <a:t>Second level</a:t>
            </a:r>
          </a:p>
          <a:p>
            <a:pPr lvl="2"/>
            <a:r>
              <a:rPr lang="en-AU" smtClean="0"/>
              <a:t>Third level</a:t>
            </a:r>
          </a:p>
          <a:p>
            <a:pPr lvl="3"/>
            <a:r>
              <a:rPr lang="en-AU" smtClean="0"/>
              <a:t>Fourth level</a:t>
            </a:r>
          </a:p>
          <a:p>
            <a:pPr lvl="4"/>
            <a:r>
              <a:rPr lang="en-AU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513761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1516A2DB-5E56-684A-96DC-9BEBC5CFD730}" type="datetimeFigureOut">
              <a:rPr lang="en-US" smtClean="0"/>
              <a:pPr/>
              <a:t>5/23/2017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0344031" y="39680106"/>
            <a:ext cx="9587151" cy="227932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21697236" y="39680106"/>
            <a:ext cx="7064216" cy="2279327"/>
          </a:xfrm>
          <a:prstGeom prst="rect">
            <a:avLst/>
          </a:prstGeom>
        </p:spPr>
        <p:txBody>
          <a:bodyPr/>
          <a:lstStyle/>
          <a:p>
            <a:fld id="{0CB39F1A-5E86-644C-9604-CE1653FC42E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86506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125" y="13300075"/>
            <a:ext cx="25734963" cy="917575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41838" y="24260175"/>
            <a:ext cx="21191537" cy="109410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90775" y="27509788"/>
            <a:ext cx="25734963" cy="85042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390775" y="18145125"/>
            <a:ext cx="25734963" cy="9364663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14475" y="9990138"/>
            <a:ext cx="13546138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13013" y="9990138"/>
            <a:ext cx="13547725" cy="2825273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583738"/>
            <a:ext cx="13376275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14475" y="13576300"/>
            <a:ext cx="13376275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79700" y="9583738"/>
            <a:ext cx="13381038" cy="39925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79700" y="13576300"/>
            <a:ext cx="13381038" cy="2466657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14475" y="1704975"/>
            <a:ext cx="9959975" cy="725328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836400" y="1704975"/>
            <a:ext cx="16924338" cy="365379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14475" y="8958263"/>
            <a:ext cx="9959975" cy="2928461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34075" y="29968825"/>
            <a:ext cx="18165763" cy="35369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934075" y="3825875"/>
            <a:ext cx="18165763" cy="256857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934075" y="33505775"/>
            <a:ext cx="18165763" cy="502443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50363" y="1714500"/>
            <a:ext cx="6810375" cy="3652837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14475" y="1714500"/>
            <a:ext cx="20283488" cy="3652837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4.xml"/><Relationship Id="rId1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30275213" cy="3799876"/>
          </a:xfrm>
          <a:prstGeom prst="rect">
            <a:avLst/>
          </a:prstGeom>
        </p:spPr>
      </p:pic>
      <p:sp>
        <p:nvSpPr>
          <p:cNvPr id="3" name="TextBox 2"/>
          <p:cNvSpPr txBox="1"/>
          <p:nvPr userDrawn="1"/>
        </p:nvSpPr>
        <p:spPr>
          <a:xfrm>
            <a:off x="10491549" y="862280"/>
            <a:ext cx="9288371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0" indent="0" algn="l"/>
            <a:r>
              <a:rPr lang="en-AU" sz="7200" b="0" dirty="0" smtClean="0">
                <a:latin typeface="Arial" pitchFamily="34" charset="0"/>
                <a:cs typeface="Arial" pitchFamily="34" charset="0"/>
              </a:rPr>
              <a:t>BE Thesis </a:t>
            </a:r>
            <a:r>
              <a:rPr lang="en-AU" sz="7200" b="0" smtClean="0">
                <a:latin typeface="Arial" pitchFamily="34" charset="0"/>
                <a:cs typeface="Arial" pitchFamily="34" charset="0"/>
              </a:rPr>
              <a:t>– S2/2016</a:t>
            </a:r>
            <a:endParaRPr lang="en-AU" sz="7200" b="0" dirty="0" smtClean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6094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2088170" rtl="0" eaLnBrk="1" latinLnBrk="0" hangingPunct="1">
        <a:spcBef>
          <a:spcPct val="0"/>
        </a:spcBef>
        <a:buNone/>
        <a:defRPr sz="20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66127" indent="-1566127" algn="l" defTabSz="2088170" rtl="0" eaLnBrk="1" latinLnBrk="0" hangingPunct="1">
        <a:spcBef>
          <a:spcPct val="20000"/>
        </a:spcBef>
        <a:buFont typeface="Arial"/>
        <a:buChar char="•"/>
        <a:defRPr sz="14600" kern="1200">
          <a:solidFill>
            <a:schemeClr val="tx1"/>
          </a:solidFill>
          <a:latin typeface="+mn-lt"/>
          <a:ea typeface="+mn-ea"/>
          <a:cs typeface="+mn-cs"/>
        </a:defRPr>
      </a:lvl1pPr>
      <a:lvl2pPr marL="3393276" indent="-1305106" algn="l" defTabSz="2088170" rtl="0" eaLnBrk="1" latinLnBrk="0" hangingPunct="1">
        <a:spcBef>
          <a:spcPct val="20000"/>
        </a:spcBef>
        <a:buFont typeface="Arial"/>
        <a:buChar char="–"/>
        <a:defRPr sz="12800" kern="1200">
          <a:solidFill>
            <a:schemeClr val="tx1"/>
          </a:solidFill>
          <a:latin typeface="+mn-lt"/>
          <a:ea typeface="+mn-ea"/>
          <a:cs typeface="+mn-cs"/>
        </a:defRPr>
      </a:lvl2pPr>
      <a:lvl3pPr marL="5220424" indent="-1044085" algn="l" defTabSz="2088170" rtl="0" eaLnBrk="1" latinLnBrk="0" hangingPunct="1">
        <a:spcBef>
          <a:spcPct val="20000"/>
        </a:spcBef>
        <a:buFont typeface="Arial"/>
        <a:buChar char="•"/>
        <a:defRPr sz="11000" kern="1200">
          <a:solidFill>
            <a:schemeClr val="tx1"/>
          </a:solidFill>
          <a:latin typeface="+mn-lt"/>
          <a:ea typeface="+mn-ea"/>
          <a:cs typeface="+mn-cs"/>
        </a:defRPr>
      </a:lvl3pPr>
      <a:lvl4pPr marL="7308593" indent="-1044085" algn="l" defTabSz="2088170" rtl="0" eaLnBrk="1" latinLnBrk="0" hangingPunct="1">
        <a:spcBef>
          <a:spcPct val="20000"/>
        </a:spcBef>
        <a:buFont typeface="Arial"/>
        <a:buChar char="–"/>
        <a:defRPr sz="9100" kern="1200">
          <a:solidFill>
            <a:schemeClr val="tx1"/>
          </a:solidFill>
          <a:latin typeface="+mn-lt"/>
          <a:ea typeface="+mn-ea"/>
          <a:cs typeface="+mn-cs"/>
        </a:defRPr>
      </a:lvl4pPr>
      <a:lvl5pPr marL="9396763" indent="-1044085" algn="l" defTabSz="2088170" rtl="0" eaLnBrk="1" latinLnBrk="0" hangingPunct="1">
        <a:spcBef>
          <a:spcPct val="20000"/>
        </a:spcBef>
        <a:buFont typeface="Arial"/>
        <a:buChar char="»"/>
        <a:defRPr sz="9100" kern="1200">
          <a:solidFill>
            <a:schemeClr val="tx1"/>
          </a:solidFill>
          <a:latin typeface="+mn-lt"/>
          <a:ea typeface="+mn-ea"/>
          <a:cs typeface="+mn-cs"/>
        </a:defRPr>
      </a:lvl5pPr>
      <a:lvl6pPr marL="11484933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6pPr>
      <a:lvl7pPr marL="1357310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7pPr>
      <a:lvl8pPr marL="15661272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8pPr>
      <a:lvl9pPr marL="17749441" indent="-1044085" algn="l" defTabSz="2088170" rtl="0" eaLnBrk="1" latinLnBrk="0" hangingPunct="1">
        <a:spcBef>
          <a:spcPct val="20000"/>
        </a:spcBef>
        <a:buFont typeface="Arial"/>
        <a:buChar char="•"/>
        <a:defRPr sz="9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1pPr>
      <a:lvl2pPr marL="2088170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2pPr>
      <a:lvl3pPr marL="417633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264509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4pPr>
      <a:lvl5pPr marL="835267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5pPr>
      <a:lvl6pPr marL="10440848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6pPr>
      <a:lvl7pPr marL="1252901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7pPr>
      <a:lvl8pPr marL="14617187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8pPr>
      <a:lvl9pPr marL="16705356" algn="l" defTabSz="2088170" rtl="0" eaLnBrk="1" latinLnBrk="0" hangingPunct="1">
        <a:defRPr sz="8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4A8215-E8B9-405B-91CC-893BF70F5D1D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9483D4-2F32-41B7-8A90-D0E8F81D7F79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CD5F50D-CA1B-4AE8-85A0-B23159DAF3E3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1A9CB-ED5C-4579-B3C2-C84641D92BA3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14475" y="1714500"/>
            <a:ext cx="27246263" cy="71358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A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14475" y="9990138"/>
            <a:ext cx="27246263" cy="282527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A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14475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0559A7-9A97-44F2-90C7-49938F5CA556}" type="datetimeFigureOut">
              <a:rPr lang="en-AU" smtClean="0"/>
              <a:pPr/>
              <a:t>23/05/2017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344150" y="39679563"/>
            <a:ext cx="9586913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97950" y="39679563"/>
            <a:ext cx="7062788" cy="22796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22BE7-51AC-4551-A028-822C533957BD}" type="slidenum">
              <a:rPr lang="en-AU" smtClean="0"/>
              <a:pPr/>
              <a:t>‹#›</a:t>
            </a:fld>
            <a:endParaRPr lang="en-A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eg"/><Relationship Id="rId4" Type="http://schemas.openxmlformats.org/officeDocument/2006/relationships/image" Target="../media/image4.jpeg"/><Relationship Id="rId5" Type="http://schemas.openxmlformats.org/officeDocument/2006/relationships/image" Target="../media/image5.jpeg"/><Relationship Id="rId6" Type="http://schemas.openxmlformats.org/officeDocument/2006/relationships/image" Target="../media/image6.jpeg"/><Relationship Id="rId7" Type="http://schemas.openxmlformats.org/officeDocument/2006/relationships/image" Target="../media/image7.jpeg"/><Relationship Id="rId8" Type="http://schemas.openxmlformats.org/officeDocument/2006/relationships/image" Target="../media/image8.jpeg"/><Relationship Id="rId9" Type="http://schemas.openxmlformats.org/officeDocument/2006/relationships/image" Target="../media/image9.jpe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16000" y="5734309"/>
            <a:ext cx="29843999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b="1" dirty="0" smtClean="0">
                <a:latin typeface="Arial" pitchFamily="34" charset="0"/>
                <a:cs typeface="Arial" pitchFamily="34" charset="0"/>
              </a:rPr>
              <a:t>Comparison and Implementation of Data Compression Methods for SoC-based Radar Systems</a:t>
            </a:r>
          </a:p>
          <a:p>
            <a:pPr algn="ctr"/>
            <a:r>
              <a:rPr lang="en-AU" sz="7200" i="1" dirty="0" smtClean="0">
                <a:latin typeface="Arial" pitchFamily="34" charset="0"/>
                <a:cs typeface="Arial" pitchFamily="34" charset="0"/>
              </a:rPr>
              <a:t>Author: Jordan Mohindra</a:t>
            </a:r>
          </a:p>
          <a:p>
            <a:pPr algn="ctr"/>
            <a:r>
              <a:rPr lang="en-AU" sz="4800" i="1" dirty="0" smtClean="0">
                <a:latin typeface="Arial" pitchFamily="34" charset="0"/>
                <a:cs typeface="Arial" pitchFamily="34" charset="0"/>
              </a:rPr>
              <a:t>Supervisor: A/Prof Beena Ahmed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54019" y="1816752"/>
            <a:ext cx="10132802" cy="116955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AU" sz="7000" b="1" dirty="0" smtClean="0">
                <a:latin typeface="Arial" pitchFamily="34" charset="0"/>
                <a:cs typeface="Arial" pitchFamily="34" charset="0"/>
              </a:rPr>
              <a:t>Thesis 2026</a:t>
            </a:r>
            <a:r>
              <a:rPr lang="en-AU" sz="7000" b="1" dirty="0" smtClean="0">
                <a:latin typeface="Arial" pitchFamily="34" charset="0"/>
                <a:cs typeface="Arial" pitchFamily="34" charset="0"/>
              </a:rPr>
              <a:t/>
            </a:r>
            <a:endParaRPr lang="en-AU" sz="70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77240" y="10378440"/>
            <a:ext cx="11521440" cy="594360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097280" y="10607040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compress radar data?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11338560"/>
            <a:ext cx="10881360" cy="23774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Cascaded MIMO radars (here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12 transmitters × 16 receivers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) produce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very high data rates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: 3.2 Gbit/s in Kiem's system [1].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link to the car's central computer (SoC) becomes the bottleneck: bandwidth, power and delay.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So: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 at the sensor, losslessly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Less data on the link,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identical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data after decoding, so target detection is unchanged.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97280" y="13990320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Radar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393 KB / frame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80560" y="13990320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E066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FPGA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compress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63840" y="13990320"/>
            <a:ext cx="2331720" cy="1691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381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SoC</a:t>
            </a:r>
          </a:p>
          <a:p>
            <a:pPr algn="ctr"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decompress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520440" y="14424660"/>
            <a:ext cx="868680" cy="82296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ight Arrow 37"/>
          <p:cNvSpPr/>
          <p:nvPr/>
        </p:nvSpPr>
        <p:spPr>
          <a:xfrm>
            <a:off x="6903720" y="14717268"/>
            <a:ext cx="868680" cy="237744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60820" y="15019020"/>
            <a:ext cx="155448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15727680"/>
            <a:ext cx="2697479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 i="1">
                <a:solidFill>
                  <a:srgbClr val="000000"/>
                </a:solidFill>
                <a:latin typeface="Arial"/>
              </a:rPr>
              <a:t>same data, bit for bit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710159" y="10378440"/>
            <a:ext cx="10067543" cy="5943600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13030199" y="10607040"/>
            <a:ext cx="9427463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What are DRHE and LPC?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3030199" y="11338560"/>
            <a:ext cx="9427463" cy="48463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Both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predict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each sample from earlier chirps of the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same transmitter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then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Huffman-code the small prediction error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The decoder makes the same prediction and adds the error back, so nothing is lost.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(Kiem [1]): fixed filters predict the magnitude and phase from the previous ramps. Works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as the data streams in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LPC</a:t>
            </a:r>
            <a:r>
              <a:rPr sz="2400" b="0" i="0">
                <a:solidFill>
                  <a:srgbClr val="000000"/>
                </a:solidFill>
                <a:latin typeface="Arial"/>
              </a:rPr>
              <a:t>: fits 2 coefficients per range bin to the whole frame: x[m] ≈ a₁·x[m−12] + a₂·x[m−24].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Why these two?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In the MATLAB screen (step 2) they were the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only lossless methods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with a compression ratio above 3.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3189183" y="10378440"/>
            <a:ext cx="6309360" cy="594360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50800">
            <a:solidFill>
              <a:srgbClr val="1F3A5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2400" b="0" i="1">
                <a:solidFill>
                  <a:srgbClr val="000000"/>
                </a:solidFill>
                <a:latin typeface="Arial"/>
              </a:rPr>
              <a:t>[Photo: KCU116 FPGA board and laptop running the test]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16779240"/>
            <a:ext cx="28721303" cy="20802600"/>
          </a:xfrm>
          <a:prstGeom prst="roundRect">
            <a:avLst>
              <a:gd name="adj" fmla="val 2500"/>
            </a:avLst>
          </a:prstGeom>
          <a:noFill/>
          <a:ln w="127000">
            <a:solidFill>
              <a:srgbClr val="B9CD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77240" y="16962120"/>
            <a:ext cx="28721303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>
              <a:spcAft>
                <a:spcPts val="1000"/>
              </a:spcAft>
            </a:pPr>
            <a:r>
              <a:rPr sz="4400" b="1" i="0">
                <a:solidFill>
                  <a:srgbClr val="000000"/>
                </a:solidFill>
                <a:latin typeface="Arial"/>
              </a:rPr>
              <a:t>Method → Results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234440" y="17876520"/>
            <a:ext cx="7223760" cy="361188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Oval 47"/>
          <p:cNvSpPr/>
          <p:nvPr/>
        </p:nvSpPr>
        <p:spPr>
          <a:xfrm>
            <a:off x="1508760" y="1815084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60320" y="18223992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Real radar data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08760" y="19110960"/>
            <a:ext cx="6766560" cy="2331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ColoRadar recordings [2] from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TI AWR2243 cascade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(12 TX). Range FFT in MATLAB, then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16-bit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8686800" y="19316700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1234440" y="21808440"/>
            <a:ext cx="7223760" cy="361188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1508760" y="2208276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60320" y="22155912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Screen 8 algorithms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08760" y="23042880"/>
            <a:ext cx="6766560" cy="2331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MATLAB: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compression ratio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and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target detection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every method 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50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sp>
        <p:nvSpPr>
          <p:cNvPr id="56" name="Right Arrow 55"/>
          <p:cNvSpPr/>
          <p:nvPr/>
        </p:nvSpPr>
        <p:spPr>
          <a:xfrm>
            <a:off x="8686800" y="23248620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1234440" y="25740360"/>
            <a:ext cx="7223760" cy="361188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1508760" y="2601468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560320" y="26087831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DRHE vs LPC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08760" y="26974800"/>
            <a:ext cx="6766560" cy="2331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Where does the compression come from?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coding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prediction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a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dictionary re-derived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data.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The dictionary helps more than the predictor.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8686800" y="27180540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1234440" y="29672280"/>
            <a:ext cx="7223760" cy="361188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1508760" y="2994660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30019752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Build it in hardware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08760" y="30906720"/>
            <a:ext cx="6766560" cy="2331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C++ in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Vitis HLS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Vivado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→ AMD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KCU116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FPGA. Encoder and decoder on the chip.</a:t>
            </a:r>
          </a:p>
        </p:txBody>
      </p:sp>
      <p:sp>
        <p:nvSpPr>
          <p:cNvPr id="66" name="Right Arrow 65"/>
          <p:cNvSpPr/>
          <p:nvPr/>
        </p:nvSpPr>
        <p:spPr>
          <a:xfrm>
            <a:off x="8686800" y="31112460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234440" y="33604200"/>
            <a:ext cx="7223760" cy="3611880"/>
          </a:xfrm>
          <a:prstGeom prst="roundRect">
            <a:avLst>
              <a:gd name="adj" fmla="val 8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1508760" y="33878520"/>
            <a:ext cx="868680" cy="868680"/>
          </a:xfrm>
          <a:prstGeom prst="ellipse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60320" y="33951672"/>
            <a:ext cx="5760720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1" i="0">
                <a:solidFill>
                  <a:srgbClr val="000000"/>
                </a:solidFill>
                <a:latin typeface="Arial"/>
              </a:rPr>
              <a:t>Measure on the board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08760" y="34838640"/>
            <a:ext cx="6766560" cy="23317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Stream 50 frames through the FPGA,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check every frame is bit-exact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and time it.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8686800" y="35044380"/>
            <a:ext cx="914400" cy="731520"/>
          </a:xfrm>
          <a:prstGeom prst="rightArrow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fig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75520" y="17876520"/>
            <a:ext cx="4735742" cy="3611880"/>
          </a:xfrm>
          <a:prstGeom prst="rect">
            <a:avLst/>
          </a:prstGeom>
        </p:spPr>
      </p:pic>
      <p:sp>
        <p:nvSpPr>
          <p:cNvPr id="73" name="Rounded Rectangle 72"/>
          <p:cNvSpPr/>
          <p:nvPr/>
        </p:nvSpPr>
        <p:spPr>
          <a:xfrm>
            <a:off x="14977022" y="17876520"/>
            <a:ext cx="14064321" cy="36118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4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Input: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one frame = 128 range bins × 192 ramps × 4 RX, 16-bit I/Q =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393 KB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Output: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 compressed bitstream of about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93 KB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(DRHE). Decompressing it gives back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exactly the same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</p:txBody>
      </p:sp>
      <p:pic>
        <p:nvPicPr>
          <p:cNvPr id="74" name="Picture 73" descr="fig_stage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75520" y="21808440"/>
            <a:ext cx="4476026" cy="3611880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14717306" y="21808440"/>
            <a:ext cx="14324037" cy="3611880"/>
          </a:xfrm>
          <a:prstGeom prst="roundRect">
            <a:avLst>
              <a:gd name="adj" fmla="val 6000"/>
            </a:avLst>
          </a:prstGeom>
          <a:solidFill>
            <a:srgbClr val="D8EB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The green area is the goal: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high compression (right)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and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no extra missed targets (bottom).</a:t>
            </a:r>
          </a:p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Lossy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methods (BAQ, RDVLE) shrink the data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lose targets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Only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and LPC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land in the green.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The 3.77 % baseline comes from 16-bit rounding, not compression.</a:t>
            </a:r>
          </a:p>
        </p:txBody>
      </p:sp>
      <p:pic>
        <p:nvPicPr>
          <p:cNvPr id="76" name="Picture 75" descr="fig_residual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875520" y="25740360"/>
            <a:ext cx="4831159" cy="3611880"/>
          </a:xfrm>
          <a:prstGeom prst="rect">
            <a:avLst/>
          </a:prstGeom>
        </p:spPr>
      </p:pic>
      <p:pic>
        <p:nvPicPr>
          <p:cNvPr id="77" name="Picture 76" descr="fig_cr_bar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026719" y="25740360"/>
            <a:ext cx="4845407" cy="3611880"/>
          </a:xfrm>
          <a:prstGeom prst="rect">
            <a:avLst/>
          </a:prstGeom>
        </p:spPr>
      </p:pic>
      <p:pic>
        <p:nvPicPr>
          <p:cNvPr id="78" name="Picture 77" descr="fig_cr_fram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0192167" y="25740360"/>
            <a:ext cx="5965805" cy="3611880"/>
          </a:xfrm>
          <a:prstGeom prst="rect">
            <a:avLst/>
          </a:prstGeom>
        </p:spPr>
      </p:pic>
      <p:pic>
        <p:nvPicPr>
          <p:cNvPr id="79" name="Picture 78" descr="fig_resourc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875520" y="29672280"/>
            <a:ext cx="5208275" cy="3611880"/>
          </a:xfrm>
          <a:prstGeom prst="rect">
            <a:avLst/>
          </a:prstGeom>
        </p:spPr>
      </p:pic>
      <p:sp>
        <p:nvSpPr>
          <p:cNvPr id="80" name="Rounded Rectangle 79"/>
          <p:cNvSpPr/>
          <p:nvPr/>
        </p:nvSpPr>
        <p:spPr>
          <a:xfrm>
            <a:off x="15449555" y="29672280"/>
            <a:ext cx="13591788" cy="36118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Encoder + decoder use under a quarter of the chip: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DRHE 23 %, LPC 25 % of the logic (LUTs).</a:t>
            </a:r>
          </a:p>
          <a:p>
            <a:pPr algn="l">
              <a:spcAft>
                <a:spcPts val="1000"/>
              </a:spcAft>
            </a:pPr>
            <a:r>
              <a:rPr sz="2400" b="0" i="0">
                <a:solidFill>
                  <a:srgbClr val="000000"/>
                </a:solidFill>
                <a:latin typeface="Arial"/>
              </a:rPr>
              <a:t>The same C++ that was simulated runs on the FPGA, so the hardware can be checked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against the simulation.</a:t>
            </a:r>
          </a:p>
        </p:txBody>
      </p:sp>
      <p:pic>
        <p:nvPicPr>
          <p:cNvPr id="81" name="Picture 80" descr="fig_timing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875520" y="33604200"/>
            <a:ext cx="4986933" cy="3611880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15228213" y="33604200"/>
            <a:ext cx="13813130" cy="36118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73152" bIns="73152"/>
          <a:lstStyle/>
          <a:p>
            <a:pPr algn="l">
              <a:spcAft>
                <a:spcPts val="1200"/>
              </a:spcAft>
            </a:pPr>
            <a:r>
              <a:rPr sz="3000" b="1" i="0">
                <a:solidFill>
                  <a:srgbClr val="000000"/>
                </a:solidFill>
                <a:latin typeface="Arial"/>
              </a:rPr>
              <a:t>50 / 50 frames bit-exact</a:t>
            </a:r>
            <a:r>
              <a:rPr sz="3000" b="0" i="0">
                <a:solidFill>
                  <a:srgbClr val="000000"/>
                </a:solidFill>
                <a:latin typeface="Arial"/>
              </a:rPr>
              <a:t> on the FPGA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DRHE: 0.61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Output streams out as the data comes in.</a:t>
            </a:r>
          </a:p>
          <a:p>
            <a:pPr algn="l">
              <a:spcAft>
                <a:spcPts val="10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LPC: 3.25 ms per frame.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It must store the whole frame before it can output anything.</a:t>
            </a:r>
          </a:p>
          <a:p>
            <a:pPr algn="l">
              <a:spcAft>
                <a:spcPts val="1000"/>
              </a:spcAft>
            </a:pPr>
            <a:r>
              <a:rPr sz="2000" b="0" i="1">
                <a:solidFill>
                  <a:srgbClr val="000000"/>
                </a:solidFill>
                <a:latin typeface="Arial"/>
              </a:rPr>
              <a:t>Decode timing: board run pending.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7240" y="38039040"/>
            <a:ext cx="11521440" cy="4160519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1097280" y="38267640"/>
            <a:ext cx="108813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Why an FPGA, not just simulation?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7280" y="38999160"/>
            <a:ext cx="10881360" cy="3063239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Compression has to run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at the sensor, in real time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, on small low-power hardware.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Simulation cannot show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speed, latency or chip size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10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Hardware proves the design reproduces the simulation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bit for bit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 Kiem's did not (3.25 in simulation, 3.17 on hardware [1]).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2710159" y="38039040"/>
            <a:ext cx="16788384" cy="4160519"/>
          </a:xfrm>
          <a:prstGeom prst="roundRect">
            <a:avLst>
              <a:gd name="adj" fmla="val 4000"/>
            </a:avLst>
          </a:prstGeom>
          <a:solidFill>
            <a:srgbClr val="B9C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13030199" y="38267640"/>
            <a:ext cx="16148304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000000"/>
                </a:solidFill>
                <a:latin typeface="Arial"/>
              </a:rPr>
              <a:t>Conclusion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3030199" y="38999160"/>
            <a:ext cx="16148304" cy="2606039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Both DRHE and LPC are lossless on real radar data, on real hardware.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LPC compresses most: 4.40×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(DRHE 4.22×). Re-deriving the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Huffman dictionary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for this data helped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more than the predictor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did.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1" i="0">
                <a:solidFill>
                  <a:srgbClr val="000000"/>
                </a:solidFill>
                <a:latin typeface="Arial"/>
              </a:rPr>
              <a:t>DRHE streams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with no frame buffer;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LPC must buffer a whole frame</a:t>
            </a:r>
            <a:r>
              <a:rPr sz="2400" b="0" i="0">
                <a:solidFill>
                  <a:srgbClr val="000000"/>
                </a:solidFill>
                <a:latin typeface="Arial"/>
              </a:rPr>
              <a:t> (3.25 ms). Both meet the 15 ms limit here, but </a:t>
            </a:r>
            <a:r>
              <a:rPr sz="2400" b="1" i="0">
                <a:solidFill>
                  <a:srgbClr val="000000"/>
                </a:solidFill>
                <a:latin typeface="Arial"/>
              </a:rPr>
              <a:t>DRHE scales better to bigger frames</a:t>
            </a:r>
            <a:r>
              <a:rPr sz="2400" b="0" i="0">
                <a:solidFill>
                  <a:srgbClr val="000000"/>
                </a:solidFill>
                <a:latin typeface="Arial"/>
              </a:rPr>
              <a:t>.</a:t>
            </a:r>
          </a:p>
          <a:p>
            <a:pPr algn="l" marL="320040" indent="-320040">
              <a:spcAft>
                <a:spcPts val="600"/>
              </a:spcAft>
              <a:buChar char="•"/>
            </a:pPr>
            <a:r>
              <a:rPr sz="2400" b="0" i="0">
                <a:solidFill>
                  <a:srgbClr val="000000"/>
                </a:solidFill>
                <a:latin typeface="Arial"/>
              </a:rPr>
              <a:t>Next: a streaming LPC, all 16 receivers, fixed-point DRHE.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030199" y="41742360"/>
            <a:ext cx="16148304" cy="3657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000000"/>
                </a:solidFill>
                <a:latin typeface="Arial"/>
              </a:rPr>
              <a:t>[1] L. Kiem, Design and Implementation of Data Compression Methods for SoC-based Radar Systems.  [2] A. Kramer et al., ColoRadar: the direct 3D millimeter wave radar dataset, IJRR, 2022.</a:t>
            </a:r>
          </a:p>
        </p:txBody>
      </p:sp>
    </p:spTree>
    <p:extLst>
      <p:ext uri="{BB962C8B-B14F-4D97-AF65-F5344CB8AC3E}">
        <p14:creationId xmlns:p14="http://schemas.microsoft.com/office/powerpoint/2010/main" val="31520004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numCol="2" rtlCol="0">
        <a:spAutoFit/>
      </a:bodyPr>
      <a:lstStyle>
        <a:defPPr>
          <a:defRPr sz="3600" b="1" dirty="0" smtClean="0">
            <a:latin typeface="Arial" pitchFamily="34" charset="0"/>
            <a:cs typeface="Arial" pitchFamily="34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2542</TotalTime>
  <Words>175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Office Theme</vt:lpstr>
      <vt:lpstr>2_Custom Design</vt:lpstr>
      <vt:lpstr>1_Custom Design</vt:lpstr>
      <vt:lpstr>Custom Design</vt:lpstr>
      <vt:lpstr>PowerPoint Presentation</vt:lpstr>
    </vt:vector>
  </TitlesOfParts>
  <Company>University of New South Wales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Yvonne Lee</dc:creator>
  <cp:lastModifiedBy>aron</cp:lastModifiedBy>
  <cp:revision>77</cp:revision>
  <dcterms:created xsi:type="dcterms:W3CDTF">2014-01-23T05:36:43Z</dcterms:created>
  <dcterms:modified xsi:type="dcterms:W3CDTF">2017-05-23T12:41:47Z</dcterms:modified>
</cp:coreProperties>
</file>